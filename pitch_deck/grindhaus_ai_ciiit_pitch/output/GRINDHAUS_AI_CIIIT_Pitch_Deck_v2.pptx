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1530798c664ae4" /><Relationship Type="http://schemas.openxmlformats.org/officeDocument/2006/relationships/extended-properties" Target="/docProps/app.xml" Id="Rad1c64cc8a274921" /><Relationship Type="http://schemas.openxmlformats.org/officeDocument/2006/relationships/officeDocument" Target="/ppt/presentation.xml" Id="R621f9df0b27b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ae0e7388724b69"/>
  </p:sldMasterIdLst>
  <p:notesMasterIdLst>
    <p:notesMasterId xmlns:r="http://schemas.openxmlformats.org/officeDocument/2006/relationships" r:id="Rd95f5438b2f74e01"/>
  </p:notesMasterIdLst>
  <p:sldIdLst>
    <p:sldId xmlns:r="http://schemas.openxmlformats.org/officeDocument/2006/relationships" id="256" r:id="Rd5e9e05b32494b43"/>
    <p:sldId xmlns:r="http://schemas.openxmlformats.org/officeDocument/2006/relationships" id="257" r:id="R7462230220b048d8"/>
    <p:sldId xmlns:r="http://schemas.openxmlformats.org/officeDocument/2006/relationships" id="258" r:id="Raf0573a7cadf4dfb"/>
    <p:sldId xmlns:r="http://schemas.openxmlformats.org/officeDocument/2006/relationships" id="259" r:id="Rf9d7a8c545094efc"/>
    <p:sldId xmlns:r="http://schemas.openxmlformats.org/officeDocument/2006/relationships" id="260" r:id="Rd9b096413fa64d60"/>
    <p:sldId xmlns:r="http://schemas.openxmlformats.org/officeDocument/2006/relationships" id="261" r:id="R4d9a91e1192b4eac"/>
    <p:sldId xmlns:r="http://schemas.openxmlformats.org/officeDocument/2006/relationships" id="262" r:id="Rcad7ceb4f3da4fe6"/>
    <p:sldId xmlns:r="http://schemas.openxmlformats.org/officeDocument/2006/relationships" id="263" r:id="Rfa38842d714f4186"/>
    <p:sldId xmlns:r="http://schemas.openxmlformats.org/officeDocument/2006/relationships" id="264" r:id="R150d1d9ba4f949b2"/>
    <p:sldId xmlns:r="http://schemas.openxmlformats.org/officeDocument/2006/relationships" id="265" r:id="Rc7650c4439cf4095"/>
    <p:sldId xmlns:r="http://schemas.openxmlformats.org/officeDocument/2006/relationships" id="266" r:id="Rf6821f0f69f2434c"/>
    <p:sldId xmlns:r="http://schemas.openxmlformats.org/officeDocument/2006/relationships" id="267" r:id="R2ae927937b584d62"/>
    <p:sldId xmlns:r="http://schemas.openxmlformats.org/officeDocument/2006/relationships" id="268" r:id="Re67697b37ab447a6"/>
    <p:sldId xmlns:r="http://schemas.openxmlformats.org/officeDocument/2006/relationships" id="269" r:id="R8c68beb42d69486b"/>
    <p:sldId xmlns:r="http://schemas.openxmlformats.org/officeDocument/2006/relationships" id="270" r:id="Ree96dade21e3464c"/>
    <p:sldId xmlns:r="http://schemas.openxmlformats.org/officeDocument/2006/relationships" id="271" r:id="Rf4b866db518b4bfa"/>
    <p:sldId xmlns:r="http://schemas.openxmlformats.org/officeDocument/2006/relationships" id="272" r:id="Rc6feb7cbc1c14d14"/>
    <p:sldId xmlns:r="http://schemas.openxmlformats.org/officeDocument/2006/relationships" id="273" r:id="R70566a71e56544fe"/>
    <p:sldId xmlns:r="http://schemas.openxmlformats.org/officeDocument/2006/relationships" id="274" r:id="R0dd9eb3556464fe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e0e7388724b69" /><Relationship Type="http://schemas.openxmlformats.org/officeDocument/2006/relationships/theme" Target="/ppt/theme/theme1.xml" Id="R11d63f0a73844d3e" /><Relationship Type="http://schemas.openxmlformats.org/officeDocument/2006/relationships/notesMaster" Target="/ppt/notesMasters/notesMaster1.xml" Id="Rd95f5438b2f74e01" /><Relationship Type="http://schemas.openxmlformats.org/officeDocument/2006/relationships/presProps" Target="/ppt/presProps.xml" Id="Rc5156f2464f54df1" /><Relationship Type="http://schemas.openxmlformats.org/officeDocument/2006/relationships/viewProps" Target="/ppt/viewProps.xml" Id="Re075ecb3b0e24ccf" /><Relationship Type="http://schemas.openxmlformats.org/officeDocument/2006/relationships/tableStyles" Target="/ppt/tableStyles.xml" Id="Ra05b92f8f46e475d" /><Relationship Type="http://schemas.openxmlformats.org/officeDocument/2006/relationships/slide" Target="/ppt/slides/slide1.xml" Id="Rd5e9e05b32494b43" /><Relationship Type="http://schemas.openxmlformats.org/officeDocument/2006/relationships/slide" Target="/ppt/slides/slide2.xml" Id="R7462230220b048d8" /><Relationship Type="http://schemas.openxmlformats.org/officeDocument/2006/relationships/slide" Target="/ppt/slides/slide3.xml" Id="Raf0573a7cadf4dfb" /><Relationship Type="http://schemas.openxmlformats.org/officeDocument/2006/relationships/slide" Target="/ppt/slides/slide4.xml" Id="Rf9d7a8c545094efc" /><Relationship Type="http://schemas.openxmlformats.org/officeDocument/2006/relationships/slide" Target="/ppt/slides/slide5.xml" Id="Rd9b096413fa64d60" /><Relationship Type="http://schemas.openxmlformats.org/officeDocument/2006/relationships/slide" Target="/ppt/slides/slide6.xml" Id="R4d9a91e1192b4eac" /><Relationship Type="http://schemas.openxmlformats.org/officeDocument/2006/relationships/slide" Target="/ppt/slides/slide7.xml" Id="Rcad7ceb4f3da4fe6" /><Relationship Type="http://schemas.openxmlformats.org/officeDocument/2006/relationships/slide" Target="/ppt/slides/slide8.xml" Id="Rfa38842d714f4186" /><Relationship Type="http://schemas.openxmlformats.org/officeDocument/2006/relationships/slide" Target="/ppt/slides/slide9.xml" Id="R150d1d9ba4f949b2" /><Relationship Type="http://schemas.openxmlformats.org/officeDocument/2006/relationships/slide" Target="/ppt/slides/slide10.xml" Id="Rc7650c4439cf4095" /><Relationship Type="http://schemas.openxmlformats.org/officeDocument/2006/relationships/slide" Target="/ppt/slides/slide11.xml" Id="Rf6821f0f69f2434c" /><Relationship Type="http://schemas.openxmlformats.org/officeDocument/2006/relationships/slide" Target="/ppt/slides/slide12.xml" Id="R2ae927937b584d62" /><Relationship Type="http://schemas.openxmlformats.org/officeDocument/2006/relationships/slide" Target="/ppt/slides/slide13.xml" Id="Re67697b37ab447a6" /><Relationship Type="http://schemas.openxmlformats.org/officeDocument/2006/relationships/slide" Target="/ppt/slides/slide14.xml" Id="R8c68beb42d69486b" /><Relationship Type="http://schemas.openxmlformats.org/officeDocument/2006/relationships/slide" Target="/ppt/slides/slide15.xml" Id="Ree96dade21e3464c" /><Relationship Type="http://schemas.openxmlformats.org/officeDocument/2006/relationships/slide" Target="/ppt/slides/slide16.xml" Id="Rf4b866db518b4bfa" /><Relationship Type="http://schemas.openxmlformats.org/officeDocument/2006/relationships/slide" Target="/ppt/slides/slide17.xml" Id="Rc6feb7cbc1c14d14" /><Relationship Type="http://schemas.openxmlformats.org/officeDocument/2006/relationships/slide" Target="/ppt/slides/slide18.xml" Id="R70566a71e56544fe" /><Relationship Type="http://schemas.openxmlformats.org/officeDocument/2006/relationships/slide" Target="/ppt/slides/slide19.xml" Id="R0dd9eb3556464f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db2526874a43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a6ece3f3964694" /><Relationship Type="http://schemas.openxmlformats.org/officeDocument/2006/relationships/notesMaster" Target="/ppt/notesMasters/notesMaster1.xml" Id="R7361c9594e0d4e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5403a429e04435" /><Relationship Type="http://schemas.openxmlformats.org/officeDocument/2006/relationships/notesMaster" Target="/ppt/notesMasters/notesMaster1.xml" Id="Rd42439d86af64f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129e27c90419c" /><Relationship Type="http://schemas.openxmlformats.org/officeDocument/2006/relationships/notesMaster" Target="/ppt/notesMasters/notesMaster1.xml" Id="R33bd2c0e1ecc42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7ae0b785524b89" /><Relationship Type="http://schemas.openxmlformats.org/officeDocument/2006/relationships/notesMaster" Target="/ppt/notesMasters/notesMaster1.xml" Id="R49e3793549c7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c44e64a0e44f0c" /><Relationship Type="http://schemas.openxmlformats.org/officeDocument/2006/relationships/notesMaster" Target="/ppt/notesMasters/notesMaster1.xml" Id="R041b60f38325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4c53bed3b3444c" /><Relationship Type="http://schemas.openxmlformats.org/officeDocument/2006/relationships/notesMaster" Target="/ppt/notesMasters/notesMaster1.xml" Id="Ra79a3d2494894c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279219133141c0" /><Relationship Type="http://schemas.openxmlformats.org/officeDocument/2006/relationships/notesMaster" Target="/ppt/notesMasters/notesMaster1.xml" Id="Rda52413189514a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59dca4a32049a0" /><Relationship Type="http://schemas.openxmlformats.org/officeDocument/2006/relationships/notesMaster" Target="/ppt/notesMasters/notesMaster1.xml" Id="Re7957ea9d0f24e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33248c34824c8a" /><Relationship Type="http://schemas.openxmlformats.org/officeDocument/2006/relationships/notesMaster" Target="/ppt/notesMasters/notesMaster1.xml" Id="R8487e0bfb6f44d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e71c09fc894b44" /><Relationship Type="http://schemas.openxmlformats.org/officeDocument/2006/relationships/notesMaster" Target="/ppt/notesMasters/notesMaster1.xml" Id="Rc5698720781048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58a64df30342ac" /><Relationship Type="http://schemas.openxmlformats.org/officeDocument/2006/relationships/notesMaster" Target="/ppt/notesMasters/notesMaster1.xml" Id="R5098daeed0fb41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2b1bebe99e47ed" /><Relationship Type="http://schemas.openxmlformats.org/officeDocument/2006/relationships/notesMaster" Target="/ppt/notesMasters/notesMaster1.xml" Id="R44a4300627a74b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225c2e26854781" /><Relationship Type="http://schemas.openxmlformats.org/officeDocument/2006/relationships/notesMaster" Target="/ppt/notesMasters/notesMaster1.xml" Id="Ra69559b0e3bd42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57cdef13004e3c" /><Relationship Type="http://schemas.openxmlformats.org/officeDocument/2006/relationships/notesMaster" Target="/ppt/notesMasters/notesMaster1.xml" Id="R09bc053dd6c741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34db21f2184d79" /><Relationship Type="http://schemas.openxmlformats.org/officeDocument/2006/relationships/notesMaster" Target="/ppt/notesMasters/notesMaster1.xml" Id="Rdf89cf24ccf347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14dfbe1ca245ca" /><Relationship Type="http://schemas.openxmlformats.org/officeDocument/2006/relationships/notesMaster" Target="/ppt/notesMasters/notesMaster1.xml" Id="Rdbcc603e53bd4f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ea06b5af644d46" /><Relationship Type="http://schemas.openxmlformats.org/officeDocument/2006/relationships/notesMaster" Target="/ppt/notesMasters/notesMaster1.xml" Id="Rda799be47d204d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b22dad312c4c51" /><Relationship Type="http://schemas.openxmlformats.org/officeDocument/2006/relationships/notesMaster" Target="/ppt/notesMasters/notesMaster1.xml" Id="R700308f4a29049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df21db584a47f0" /><Relationship Type="http://schemas.openxmlformats.org/officeDocument/2006/relationships/notesMaster" Target="/ppt/notesMasters/notesMaster1.xml" Id="Rd16cdb61799d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confidence: this is not just a fitness app. Position GrindHaus AI as a human-performance AI ecosystem built from Chandrapur for global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the pain: people know what to do, but they fail because systems are not adaptive enough. Mention WHO numbers as market/context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audience feel the ambition: GrindHaus is a performance operating system. The key phrase to repeat is: an intelligent companion that evolves with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as an ecosystem. Each module has standalone value, but the AI companion connects them into a personalized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technical heart of the pitch. Stress the separation between expert mode and companion mode. That avoids unsafe tone mixing and creates a better user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workout intelligence is not only a list of exercises. The real value is adaptive planning and progressive overload based on user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nutrition sound practical, not medical. We are building behavior support, not replacing doctors or dieticians.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community to retention. Investors and incubators care about usage loops. Community creates accountability and organic growth.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proves execution maturity. The app is not a static landing page. It has frontend, backend, auth, API structure, AI memory, and a future research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grounded. We are not claiming to capture the whole market. The point is that the timing is strong: AI infrastructure, digital health, wellness behavior, and fitness apps are all growing.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connect GrindHaus to India's AI future. Say: if India can build AI for commerce and productivity, it can also build AI for human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attack competitors. Say each solves part of the problem, but GrindHaus combines the missing pieces into one adaptive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point: accessible does not mean non-commercial. The business scales through layers and partnerships, not by locking basic health guidance away from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important for CIIIT and government alignment. It shows values: inclusive technology, responsible AI, and ecosystem-led scaling.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clear on execution: Phase 1 and 2 are product/MVP. Later phases need support, compute, mentorship, and research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government-funding alignment slide. Make it about institutional impact, not only your startup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specific. You are not just asking for money; you are asking for an environment where technical innovation can mature.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institutional argument here: GrindHaus can become both a business and a local AI capability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conviction. Pause before the final line. This is the line they should remember: Built in Chandrapur. Designed for the world.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28598c2e645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fb4839fe86c417e" /><Relationship Type="http://schemas.openxmlformats.org/officeDocument/2006/relationships/slideLayout" Target="/ppt/slideLayouts/slideLayout2.xml" Id="R8c210247db1a42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210247db1a42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1742ed26245df" /><Relationship Type="http://schemas.openxmlformats.org/officeDocument/2006/relationships/notesSlide" Target="/ppt/notesSlides/notesSlide1.xml" Id="R1c8ebe170db644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1a9d1dbdac40da" /><Relationship Type="http://schemas.openxmlformats.org/officeDocument/2006/relationships/notesSlide" Target="/ppt/notesSlides/notesSlide2.xml" Id="Rbcc969bf1c71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8af4094b1c4eaa" /><Relationship Type="http://schemas.openxmlformats.org/officeDocument/2006/relationships/notesSlide" Target="/ppt/notesSlides/notesSlide3.xml" Id="Rb16130bc35e041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156a08b6a5456a" /><Relationship Type="http://schemas.openxmlformats.org/officeDocument/2006/relationships/notesSlide" Target="/ppt/notesSlides/notesSlide4.xml" Id="R1a81bad5c52c45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521f1fc2640a7" /><Relationship Type="http://schemas.openxmlformats.org/officeDocument/2006/relationships/notesSlide" Target="/ppt/notesSlides/notesSlide5.xml" Id="R8ca19228815f42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e60e45cbe4baa" /><Relationship Type="http://schemas.openxmlformats.org/officeDocument/2006/relationships/notesSlide" Target="/ppt/notesSlides/notesSlide6.xml" Id="R2b3f00c0e32042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199e846c143be" /><Relationship Type="http://schemas.openxmlformats.org/officeDocument/2006/relationships/notesSlide" Target="/ppt/notesSlides/notesSlide7.xml" Id="Re88c72ffd49e4c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913794f7447b5" /><Relationship Type="http://schemas.openxmlformats.org/officeDocument/2006/relationships/notesSlide" Target="/ppt/notesSlides/notesSlide8.xml" Id="R5cec0d3109b444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eb7bfecf2b40d0" /><Relationship Type="http://schemas.openxmlformats.org/officeDocument/2006/relationships/notesSlide" Target="/ppt/notesSlides/notesSlide9.xml" Id="R41b4d699994c46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d11b6bc9f44d2f" /><Relationship Type="http://schemas.openxmlformats.org/officeDocument/2006/relationships/chart" Target="/ppt/slides/charts/chart1.xml" Id="R6ec133eaa1884ca8" /><Relationship Type="http://schemas.openxmlformats.org/officeDocument/2006/relationships/notesSlide" Target="/ppt/notesSlides/notesSlide10.xml" Id="R0eaff9d6221440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ad405c1b674c7d" /><Relationship Type="http://schemas.openxmlformats.org/officeDocument/2006/relationships/notesSlide" Target="/ppt/notesSlides/notesSlide11.xml" Id="R497a055483a143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fee4b0a8394380" /><Relationship Type="http://schemas.openxmlformats.org/officeDocument/2006/relationships/notesSlide" Target="/ppt/notesSlides/notesSlide12.xml" Id="Re4f762c5825f4c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8ea43bfce4213" /><Relationship Type="http://schemas.openxmlformats.org/officeDocument/2006/relationships/notesSlide" Target="/ppt/notesSlides/notesSlide13.xml" Id="Re8d50651ba2e48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4d949f2bfb41dd" /><Relationship Type="http://schemas.openxmlformats.org/officeDocument/2006/relationships/notesSlide" Target="/ppt/notesSlides/notesSlide14.xml" Id="R4491a9c0f74e4d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a75d92ad374660" /><Relationship Type="http://schemas.openxmlformats.org/officeDocument/2006/relationships/notesSlide" Target="/ppt/notesSlides/notesSlide15.xml" Id="R2e49d274555f45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ddbf3262114ee1" /><Relationship Type="http://schemas.openxmlformats.org/officeDocument/2006/relationships/notesSlide" Target="/ppt/notesSlides/notesSlide16.xml" Id="R3beae42d8cd240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b1320743414c3e" /><Relationship Type="http://schemas.openxmlformats.org/officeDocument/2006/relationships/notesSlide" Target="/ppt/notesSlides/notesSlide17.xml" Id="R8e4ad04f672e41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366739cc28446b" /><Relationship Type="http://schemas.openxmlformats.org/officeDocument/2006/relationships/notesSlide" Target="/ppt/notesSlides/notesSlide18.xml" Id="R0f5af929d58f4e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a24238c3c846c3" /><Relationship Type="http://schemas.openxmlformats.org/officeDocument/2006/relationships/notesSlide" Target="/ppt/notesSlides/notesSlide19.xml" Id="R39e835fd41b84e1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USD Bn</c:v>
          </c:tx>
          <c:cat>
            <c:strLit>
              <c:ptCount val="4"/>
              <c:pt idx="0">
                <c:v>Global fitness apps 2024</c:v>
              </c:pt>
              <c:pt idx="1">
                <c:v>Global wellness apps 2030</c:v>
              </c:pt>
              <c:pt idx="2">
                <c:v>India digital health 2024</c:v>
              </c:pt>
              <c:pt idx="3">
                <c:v>India digital health 2033</c:v>
              </c:pt>
            </c:strLit>
          </c:cat>
          <c:val>
            <c:numLit>
              <c:formatCode/>
              <c:ptCount val="4"/>
              <c:pt idx="0">
                <c:v>10.6</c:v>
              </c:pt>
              <c:pt idx="1">
                <c:v>26.2</c:v>
              </c:pt>
              <c:pt idx="2">
                <c:v>14.5</c:v>
              </c:pt>
              <c:pt idx="3">
                <c:v>107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7BB38F2-2CA7-4970-9C76-39720111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3057C60F-8F1C-4449-BF60-3D6B53AD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61A994E-CBFC-42A4-93EA-52EB294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prepared-for-ciiit-gcoe-chandrapur">
            <a:extLst xmlns:a="http://schemas.openxmlformats.org/drawingml/2006/main">
              <a:ext uri="{FF2B5EF4-FFF2-40B4-BE49-F238E27FC236}">
                <a16:creationId xmlns:a16="http://schemas.microsoft.com/office/drawing/2014/main" id="{19CF63D0-0A7D-4C69-89C7-5EEDDC2C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8870"/>
            <a:ext cx="53340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83E45-08A5-45D3-B4A2-9C99ACAB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Prepared for CIIIT | GCOE Chandrapur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344D846-3A71-4EEC-8C91-61913888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66103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 i="0">
                <a:solidFill>
                  <a:srgbClr val="F8F5EF"/>
                </a:solidFill>
              </a:defRPr>
            </a:pPr>
            <a:r>
              <a:rPr sz="840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B5952BF-D562-459C-A2D9-FCB6A8EA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8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EBDCA9F4-734E-4F7E-986D-EEB37A8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90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An intelligent fitness ecosystem combining AI coaching, behavioral memory, nutrition intelligence, community accountability, and future custom LLM research.</a:t>
            </a:r>
          </a:p>
        </p:txBody>
      </p:sp>
      <p:sp>
        <p:nvSpPr>
          <p:cNvPr id="9" name="cover-founder">
            <a:extLst xmlns:a="http://schemas.openxmlformats.org/drawingml/2006/main">
              <a:ext uri="{FF2B5EF4-FFF2-40B4-BE49-F238E27FC236}">
                <a16:creationId xmlns:a16="http://schemas.microsoft.com/office/drawing/2014/main" id="{FD5C7C0E-AE70-4D7F-876B-E6C1033E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10450"/>
            <a:ext cx="6438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8D8990"/>
                </a:solidFill>
              </a:defRPr>
            </a:pPr>
            <a:r>
              <a:rPr sz="1575" b="0" i="0">
                <a:solidFill>
                  <a:srgbClr val="8D8990"/>
                </a:solidFill>
              </a:rPr>
              <a:t>Founder: GrindHaus AI Team | Government College of Engineering, Chandrapur</a:t>
            </a:r>
          </a:p>
        </p:txBody>
      </p:sp>
      <p:sp>
        <p:nvSpPr>
          <p:cNvPr id="10" name="ai-core">
            <a:extLst xmlns:a="http://schemas.openxmlformats.org/drawingml/2006/main">
              <a:ext uri="{FF2B5EF4-FFF2-40B4-BE49-F238E27FC236}">
                <a16:creationId xmlns:a16="http://schemas.microsoft.com/office/drawing/2014/main" id="{C45D00B4-2D71-4E7E-B625-14769EED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21280"/>
            <a:ext cx="4476750" cy="447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1" name="ai">
            <a:extLst xmlns:a="http://schemas.openxmlformats.org/drawingml/2006/main">
              <a:ext uri="{FF2B5EF4-FFF2-40B4-BE49-F238E27FC236}">
                <a16:creationId xmlns:a16="http://schemas.microsoft.com/office/drawing/2014/main" id="{B1C2AF2E-7E1B-4A16-9C1C-8F59961E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33800"/>
            <a:ext cx="37338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 i="0">
                <a:solidFill>
                  <a:srgbClr val="FF2E3A"/>
                </a:solidFill>
              </a:defRPr>
            </a:pPr>
            <a:r>
              <a:rPr sz="8850" b="1" i="0">
                <a:solidFill>
                  <a:srgbClr val="FF2E3A"/>
                </a:solidFill>
              </a:rPr>
              <a:t>AI</a:t>
            </a:r>
          </a:p>
        </p:txBody>
      </p:sp>
      <p:sp>
        <p:nvSpPr>
          <p:cNvPr id="12" name="performance-brain">
            <a:extLst xmlns:a="http://schemas.openxmlformats.org/drawingml/2006/main">
              <a:ext uri="{FF2B5EF4-FFF2-40B4-BE49-F238E27FC236}">
                <a16:creationId xmlns:a16="http://schemas.microsoft.com/office/drawing/2014/main" id="{29C54D39-8D13-4BE9-92B4-E34DF3A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25780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F5EF"/>
                </a:solidFill>
              </a:defRPr>
            </a:pPr>
            <a:r>
              <a:rPr sz="2100" b="1" i="0">
                <a:solidFill>
                  <a:srgbClr val="F8F5EF"/>
                </a:solidFill>
              </a:rPr>
              <a:t>Performance Brain</a:t>
            </a:r>
          </a:p>
        </p:txBody>
      </p:sp>
      <p:sp>
        <p:nvSpPr>
          <p:cNvPr id="13" name="memory-coaching-behavior">
            <a:extLst xmlns:a="http://schemas.openxmlformats.org/drawingml/2006/main">
              <a:ext uri="{FF2B5EF4-FFF2-40B4-BE49-F238E27FC236}">
                <a16:creationId xmlns:a16="http://schemas.microsoft.com/office/drawing/2014/main" id="{8A8AE669-9F87-4223-98EF-D7B49657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7531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8C2B8"/>
                </a:solidFill>
              </a:defRPr>
            </a:pPr>
            <a:r>
              <a:rPr sz="1500" b="0" i="0">
                <a:solidFill>
                  <a:srgbClr val="C8C2B8"/>
                </a:solidFill>
              </a:rPr>
              <a:t>Memory + Coaching + Behavior</a:t>
            </a:r>
          </a:p>
        </p:txBody>
      </p:sp>
      <p:sp>
        <p:nvSpPr>
          <p:cNvPr id="14" name="chip-fitness">
            <a:extLst xmlns:a="http://schemas.openxmlformats.org/drawingml/2006/main">
              <a:ext uri="{FF2B5EF4-FFF2-40B4-BE49-F238E27FC236}">
                <a16:creationId xmlns:a16="http://schemas.microsoft.com/office/drawing/2014/main" id="{2756333E-1D58-413A-8819-E3355C9E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26948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84701-5D95-4509-9B34-78BAC73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3723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Fitness</a:t>
            </a:r>
          </a:p>
        </p:txBody>
      </p:sp>
      <p:sp>
        <p:nvSpPr>
          <p:cNvPr id="16" name="chip-nutrition">
            <a:extLst xmlns:a="http://schemas.openxmlformats.org/drawingml/2006/main">
              <a:ext uri="{FF2B5EF4-FFF2-40B4-BE49-F238E27FC236}">
                <a16:creationId xmlns:a16="http://schemas.microsoft.com/office/drawing/2014/main" id="{933BB826-2205-45CF-9709-0217A8EB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269480"/>
            <a:ext cx="17526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20F0E-A243-4639-A5EC-35082D8C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3723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Nutrition</a:t>
            </a:r>
          </a:p>
        </p:txBody>
      </p:sp>
      <p:sp>
        <p:nvSpPr>
          <p:cNvPr id="18" name="chip-companion-ai">
            <a:extLst xmlns:a="http://schemas.openxmlformats.org/drawingml/2006/main">
              <a:ext uri="{FF2B5EF4-FFF2-40B4-BE49-F238E27FC236}">
                <a16:creationId xmlns:a16="http://schemas.microsoft.com/office/drawing/2014/main" id="{BF604B6E-F9CE-4836-BFE3-13703625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269480"/>
            <a:ext cx="21526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2557B-F1D6-429F-A5CF-9FCF812C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7372350"/>
            <a:ext cx="173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Companion AI</a:t>
            </a:r>
          </a:p>
        </p:txBody>
      </p:sp>
    </p:spTree>
    <p:extLst>
      <p:ext uri="{BB962C8B-B14F-4D97-AF65-F5344CB8AC3E}">
        <p14:creationId xmlns:p14="http://schemas.microsoft.com/office/powerpoint/2010/main" val="8488293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663E6E1-B197-41FF-BC2E-D54B9EC8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06032D00-97D4-464F-9FA1-0FA41C7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2D99EF9-F646-4371-AEF7-F9437FE7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F8B1CD22-8929-4E1F-8140-8A32AB14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AC6CCF4B-F362-4042-9539-A27702C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THE PROBLEM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7189A2-8061-488B-8F1D-30E2DC62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12077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Fitness failure is usually not an information problem.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9079BD-4F6D-4B56-BB06-43F82ABC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6076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It is a consistency, personalization, and accountability problem.</a:t>
            </a:r>
          </a:p>
        </p:txBody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0C8039DD-1E4B-49D6-B378-0BE95AC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798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31-">
            <a:extLst xmlns:a="http://schemas.openxmlformats.org/drawingml/2006/main">
              <a:ext uri="{FF2B5EF4-FFF2-40B4-BE49-F238E27FC236}">
                <a16:creationId xmlns:a16="http://schemas.microsoft.com/office/drawing/2014/main" id="{C02373D0-DB9F-4B10-8A8D-548152BA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028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>
                <a:solidFill>
                  <a:srgbClr val="FF2E3A"/>
                </a:solidFill>
              </a:rPr>
              <a:t>31%</a:t>
            </a:r>
          </a:p>
        </p:txBody>
      </p:sp>
      <p:sp>
        <p:nvSpPr>
          <p:cNvPr id="10" name="global-adults-physically-inactive">
            <a:extLst xmlns:a="http://schemas.openxmlformats.org/drawingml/2006/main">
              <a:ext uri="{FF2B5EF4-FFF2-40B4-BE49-F238E27FC236}">
                <a16:creationId xmlns:a16="http://schemas.microsoft.com/office/drawing/2014/main" id="{83ED02DC-8CF8-41D2-9D97-B0162DC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43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global adults physically inactive</a:t>
            </a:r>
          </a:p>
        </p:txBody>
      </p:sp>
      <p:sp>
        <p:nvSpPr>
          <p:cNvPr id="11" name="who-estimates-1-8b-adults-are-not-active-enou">
            <a:extLst xmlns:a="http://schemas.openxmlformats.org/drawingml/2006/main">
              <a:ext uri="{FF2B5EF4-FFF2-40B4-BE49-F238E27FC236}">
                <a16:creationId xmlns:a16="http://schemas.microsoft.com/office/drawing/2014/main" id="{5201CE2B-2EF7-4D61-8B30-25B344A2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329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WHO estimates 1.8B adults are not active enough.</a:t>
            </a:r>
          </a:p>
        </p:txBody>
      </p:sp>
      <p:sp>
        <p:nvSpPr>
          <p:cNvPr id="12" name="stat-2">
            <a:extLst xmlns:a="http://schemas.openxmlformats.org/drawingml/2006/main">
              <a:ext uri="{FF2B5EF4-FFF2-40B4-BE49-F238E27FC236}">
                <a16:creationId xmlns:a16="http://schemas.microsoft.com/office/drawing/2014/main" id="{D340C8E8-2D3D-4B43-B54A-D1CC9A9A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683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80-">
            <a:extLst xmlns:a="http://schemas.openxmlformats.org/drawingml/2006/main">
              <a:ext uri="{FF2B5EF4-FFF2-40B4-BE49-F238E27FC236}">
                <a16:creationId xmlns:a16="http://schemas.microsoft.com/office/drawing/2014/main" id="{DE12C171-513B-4F71-BCC0-1207FE96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1028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80%</a:t>
            </a:r>
          </a:p>
        </p:txBody>
      </p:sp>
      <p:sp>
        <p:nvSpPr>
          <p:cNvPr id="14" name="adolescents-below-activity-guidelines">
            <a:extLst xmlns:a="http://schemas.openxmlformats.org/drawingml/2006/main">
              <a:ext uri="{FF2B5EF4-FFF2-40B4-BE49-F238E27FC236}">
                <a16:creationId xmlns:a16="http://schemas.microsoft.com/office/drawing/2014/main" id="{88902589-AB2F-44AF-92FE-66DB8933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0"/>
            <a:ext cx="323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adolescents below activity guidelines</a:t>
            </a:r>
          </a:p>
        </p:txBody>
      </p:sp>
      <p:sp>
        <p:nvSpPr>
          <p:cNvPr id="15" name="the-next-generation-is-already-forming-low-ac">
            <a:extLst xmlns:a="http://schemas.openxmlformats.org/drawingml/2006/main">
              <a:ext uri="{FF2B5EF4-FFF2-40B4-BE49-F238E27FC236}">
                <a16:creationId xmlns:a16="http://schemas.microsoft.com/office/drawing/2014/main" id="{FFCC8D66-1AB5-4E44-AAE7-79FD0CA3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2950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The next generation is already forming low-activity habits.</a:t>
            </a:r>
          </a:p>
        </p:txBody>
      </p:sp>
      <p:sp>
        <p:nvSpPr>
          <p:cNvPr id="16" name="stat-3">
            <a:extLst xmlns:a="http://schemas.openxmlformats.org/drawingml/2006/main">
              <a:ext uri="{FF2B5EF4-FFF2-40B4-BE49-F238E27FC236}">
                <a16:creationId xmlns:a16="http://schemas.microsoft.com/office/drawing/2014/main" id="{4163B441-6800-4983-9178-A80AFBC8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4568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7" name="behavior">
            <a:extLst xmlns:a="http://schemas.openxmlformats.org/drawingml/2006/main">
              <a:ext uri="{FF2B5EF4-FFF2-40B4-BE49-F238E27FC236}">
                <a16:creationId xmlns:a16="http://schemas.microsoft.com/office/drawing/2014/main" id="{701DFC7E-BC79-42A0-9F31-2DD80AC1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00950"/>
            <a:ext cx="2171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Behavior</a:t>
            </a:r>
          </a:p>
        </p:txBody>
      </p:sp>
      <p:sp>
        <p:nvSpPr>
          <p:cNvPr id="18" name="core-drop-off-driver">
            <a:extLst xmlns:a="http://schemas.openxmlformats.org/drawingml/2006/main">
              <a:ext uri="{FF2B5EF4-FFF2-40B4-BE49-F238E27FC236}">
                <a16:creationId xmlns:a16="http://schemas.microsoft.com/office/drawing/2014/main" id="{55EF15A6-9741-484F-9217-48734ED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1695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core drop-off driver</a:t>
            </a:r>
          </a:p>
        </p:txBody>
      </p:sp>
      <p:sp>
        <p:nvSpPr>
          <p:cNvPr id="19" name="generic-plans-fail-when-life-stress-fatigue-a">
            <a:extLst xmlns:a="http://schemas.openxmlformats.org/drawingml/2006/main">
              <a:ext uri="{FF2B5EF4-FFF2-40B4-BE49-F238E27FC236}">
                <a16:creationId xmlns:a16="http://schemas.microsoft.com/office/drawing/2014/main" id="{102AE52F-AD39-4009-A584-A8BBEA94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0"/>
            <a:ext cx="3600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Generic plans fail when life, stress, fatigue, and routine change.</a:t>
            </a:r>
          </a:p>
        </p:txBody>
      </p:sp>
      <p:sp>
        <p:nvSpPr>
          <p:cNvPr id="20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798FE429-8B51-4C56-B424-03878199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887980"/>
            <a:ext cx="7842250" cy="6732270"/>
          </a:xfrm>
          <a:prstGeom xmlns:a="http://schemas.openxmlformats.org/drawingml/2006/main" prst="roundRect">
            <a:avLst>
              <a:gd name="adj" fmla="val 16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current-fitness-products-are-built-like-libra">
            <a:extLst xmlns:a="http://schemas.openxmlformats.org/drawingml/2006/main">
              <a:ext uri="{FF2B5EF4-FFF2-40B4-BE49-F238E27FC236}">
                <a16:creationId xmlns:a16="http://schemas.microsoft.com/office/drawing/2014/main" id="{9957AA6B-78A5-45CC-9C3F-95E86FEF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29150"/>
            <a:ext cx="62674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8F5EF"/>
                </a:solidFill>
              </a:defRPr>
            </a:pPr>
            <a:r>
              <a:rPr sz="3600" b="1" i="0">
                <a:solidFill>
                  <a:srgbClr val="F8F5EF"/>
                </a:solidFill>
              </a:rPr>
              <a:t>Current fitness products are built like libraries.</a:t>
            </a:r>
          </a:p>
        </p:txBody>
      </p:sp>
      <p:sp>
        <p:nvSpPr>
          <p:cNvPr id="2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D183E1BA-A216-4EC8-AFD7-7A7A87D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1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64A51851-5458-4DBE-9C79-BA8580F6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245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show workouts but do not understand behavior.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F57656C-1F8C-48AC-81C1-8E49FB60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7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CABD7BDF-A457-4C64-903E-9DD62A93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track data but rarely create emotional accountability.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67DC7F5-8A54-4563-A9BA-2511BEBE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934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5CFE67A0-3DFB-4E59-982D-35842082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389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monetize guidance aggressively instead of improving access.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F99FE76F-7B93-47A8-A518-7A436622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543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3">
            <a:extLst xmlns:a="http://schemas.openxmlformats.org/drawingml/2006/main">
              <a:ext uri="{FF2B5EF4-FFF2-40B4-BE49-F238E27FC236}">
                <a16:creationId xmlns:a16="http://schemas.microsoft.com/office/drawing/2014/main" id="{C1C40A9B-AEC1-4462-BB18-0B25F884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315200"/>
            <a:ext cx="678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do not adapt deeply to missed days, goals, fatigue, or motivation.</a:t>
            </a:r>
          </a:p>
        </p:txBody>
      </p:sp>
    </p:spTree>
    <p:extLst>
      <p:ext uri="{BB962C8B-B14F-4D97-AF65-F5344CB8AC3E}">
        <p14:creationId xmlns:p14="http://schemas.microsoft.com/office/powerpoint/2010/main" val="20956209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9728E7F-FBA6-479F-B300-BF12840B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FD00D4CD-815F-4954-8A5C-1225A81E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F4AAA63D-3A0F-44E0-8AF0-F6DAD16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vision">
            <a:extLst xmlns:a="http://schemas.openxmlformats.org/drawingml/2006/main">
              <a:ext uri="{FF2B5EF4-FFF2-40B4-BE49-F238E27FC236}">
                <a16:creationId xmlns:a16="http://schemas.microsoft.com/office/drawing/2014/main" id="{FB953EA8-61D1-4BDB-A2C1-C7B2EDE2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273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E87E-792D-4409-A119-C0756F64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Vision</a:t>
            </a:r>
          </a:p>
        </p:txBody>
      </p:sp>
      <p:sp>
        <p:nvSpPr>
          <p:cNvPr id="6" name="not-another-fitness-app-">
            <a:extLst xmlns:a="http://schemas.openxmlformats.org/drawingml/2006/main">
              <a:ext uri="{FF2B5EF4-FFF2-40B4-BE49-F238E27FC236}">
                <a16:creationId xmlns:a16="http://schemas.microsoft.com/office/drawing/2014/main" id="{2E9023E5-AA53-4B68-99B8-6FCC2A98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75057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8F5EF"/>
                </a:solidFill>
              </a:defRPr>
            </a:pPr>
            <a:r>
              <a:rPr sz="5850" b="1" i="0">
                <a:solidFill>
                  <a:srgbClr val="F8F5EF"/>
                </a:solidFill>
              </a:rPr>
              <a:t>Not another fitness app.</a:t>
            </a:r>
          </a:p>
        </p:txBody>
      </p:sp>
      <p:sp>
        <p:nvSpPr>
          <p:cNvPr id="7" name="an-intelligent-companion-that-evolves-with-th">
            <a:extLst xmlns:a="http://schemas.openxmlformats.org/drawingml/2006/main">
              <a:ext uri="{FF2B5EF4-FFF2-40B4-BE49-F238E27FC236}">
                <a16:creationId xmlns:a16="http://schemas.microsoft.com/office/drawing/2014/main" id="{49863BAB-B6EC-4ED7-9D78-828101EA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3060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2E3A"/>
                </a:solidFill>
              </a:defRPr>
            </a:pPr>
            <a:r>
              <a:rPr sz="3750" b="1" i="0">
                <a:solidFill>
                  <a:srgbClr val="FF2E3A"/>
                </a:solidFill>
              </a:rPr>
              <a:t>An intelligent companion that evolves with the user.</a:t>
            </a:r>
          </a:p>
        </p:txBody>
      </p:sp>
      <p:sp>
        <p:nvSpPr>
          <p:cNvPr id="8" name="the-long-term-platform-becomes-a-performance-">
            <a:extLst xmlns:a="http://schemas.openxmlformats.org/drawingml/2006/main">
              <a:ext uri="{FF2B5EF4-FFF2-40B4-BE49-F238E27FC236}">
                <a16:creationId xmlns:a16="http://schemas.microsoft.com/office/drawing/2014/main" id="{73075D79-2DF4-4AEC-A450-4DF2379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12439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8C2B8"/>
                </a:solidFill>
              </a:defRPr>
            </a:pPr>
            <a:r>
              <a:rPr sz="2250" b="0" i="0">
                <a:solidFill>
                  <a:srgbClr val="C8C2B8"/>
                </a:solidFill>
              </a:rPr>
              <a:t>The long-term platform becomes a performance layer around daily life: training, food, recovery, motivation, community, wearables, and AI-generated coaching experiences.</a:t>
            </a:r>
          </a:p>
        </p:txBody>
      </p:sp>
      <p:sp>
        <p:nvSpPr>
          <p:cNvPr id="9" name="chip-personal-memory">
            <a:extLst xmlns:a="http://schemas.openxmlformats.org/drawingml/2006/main">
              <a:ext uri="{FF2B5EF4-FFF2-40B4-BE49-F238E27FC236}">
                <a16:creationId xmlns:a16="http://schemas.microsoft.com/office/drawing/2014/main" id="{B7CB4583-4EC2-4F64-B5DE-3EE09FC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58025"/>
            <a:ext cx="25527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9FAB7-8B5B-4A75-9A0D-C5A10A0F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6280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Personal memory</a:t>
            </a:r>
          </a:p>
        </p:txBody>
      </p:sp>
      <p:sp>
        <p:nvSpPr>
          <p:cNvPr id="11" name="chip-adaptive-recommendations">
            <a:extLst xmlns:a="http://schemas.openxmlformats.org/drawingml/2006/main">
              <a:ext uri="{FF2B5EF4-FFF2-40B4-BE49-F238E27FC236}">
                <a16:creationId xmlns:a16="http://schemas.microsoft.com/office/drawing/2014/main" id="{2773B22F-D46C-43F1-893F-B43BBD83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058025"/>
            <a:ext cx="37528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F9001-1018-49DF-B028-FE4A4554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628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Adaptive recommendations</a:t>
            </a:r>
          </a:p>
        </p:txBody>
      </p:sp>
      <p:sp>
        <p:nvSpPr>
          <p:cNvPr id="13" name="chip-accessible-guidance">
            <a:extLst xmlns:a="http://schemas.openxmlformats.org/drawingml/2006/main">
              <a:ext uri="{FF2B5EF4-FFF2-40B4-BE49-F238E27FC236}">
                <a16:creationId xmlns:a16="http://schemas.microsoft.com/office/drawing/2014/main" id="{136998D6-B59C-4969-8E62-ECA74FF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058025"/>
            <a:ext cx="30861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35C74-3996-436E-989F-89DA0ECA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628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Accessible guidance</a:t>
            </a:r>
          </a:p>
        </p:txBody>
      </p:sp>
      <p:sp>
        <p:nvSpPr>
          <p:cNvPr id="15" name="chip-indian-ai-product">
            <a:extLst xmlns:a="http://schemas.openxmlformats.org/drawingml/2006/main">
              <a:ext uri="{FF2B5EF4-FFF2-40B4-BE49-F238E27FC236}">
                <a16:creationId xmlns:a16="http://schemas.microsoft.com/office/drawing/2014/main" id="{52E2BE93-D9C0-43B5-8EB9-23D3C013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58025"/>
            <a:ext cx="28194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3A2A1-5388-4762-97BA-14DCD354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1628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Indian AI product</a:t>
            </a:r>
          </a:p>
        </p:txBody>
      </p:sp>
    </p:spTree>
    <p:extLst>
      <p:ext uri="{BB962C8B-B14F-4D97-AF65-F5344CB8AC3E}">
        <p14:creationId xmlns:p14="http://schemas.microsoft.com/office/powerpoint/2010/main" val="13479542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7FFED5F-C7EA-40D1-AC38-4D3920C4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99CDD432-C418-49C1-BD5C-1EDD2CD3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C077077-709F-43A6-A01B-80919CDD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B106E007-69FF-49F9-900F-928C61BE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0A5F9708-C007-4B5D-9E88-7BF21F3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PRODUCT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975C33-D27A-4933-A22E-53AA9D21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02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Five modules. One adaptive ecosystem.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42349B-105B-4FAB-81B3-D219EF75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944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unified user journey from discovery to coaching, tracking, community, and long-term personalization.</a:t>
            </a:r>
          </a:p>
        </p:txBody>
      </p:sp>
      <p:sp>
        <p:nvSpPr>
          <p:cNvPr id="8" name="module-workouts">
            <a:extLst xmlns:a="http://schemas.openxmlformats.org/drawingml/2006/main">
              <a:ext uri="{FF2B5EF4-FFF2-40B4-BE49-F238E27FC236}">
                <a16:creationId xmlns:a16="http://schemas.microsoft.com/office/drawing/2014/main" id="{ECCA778D-7A4A-414F-8296-ACBA045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workout-library">
            <a:extLst xmlns:a="http://schemas.openxmlformats.org/drawingml/2006/main">
              <a:ext uri="{FF2B5EF4-FFF2-40B4-BE49-F238E27FC236}">
                <a16:creationId xmlns:a16="http://schemas.microsoft.com/office/drawing/2014/main" id="{60D9C0FB-9AB4-49EA-BA84-52074004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Workout Library</a:t>
            </a:r>
          </a:p>
        </p:txBody>
      </p:sp>
      <p:sp>
        <p:nvSpPr>
          <p:cNvPr id="10" name="structured-exercise-discovery-plans-muscle-gr">
            <a:extLst xmlns:a="http://schemas.openxmlformats.org/drawingml/2006/main">
              <a:ext uri="{FF2B5EF4-FFF2-40B4-BE49-F238E27FC236}">
                <a16:creationId xmlns:a16="http://schemas.microsoft.com/office/drawing/2014/main" id="{0C7D7102-A675-47CB-B6AA-990E3E06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609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Structured exercise discovery, plans, muscle groups, and progression logic.</a:t>
            </a:r>
          </a:p>
        </p:txBody>
      </p:sp>
      <p:sp>
        <p:nvSpPr>
          <p:cNvPr id="11" name="module-technique">
            <a:extLst xmlns:a="http://schemas.openxmlformats.org/drawingml/2006/main">
              <a:ext uri="{FF2B5EF4-FFF2-40B4-BE49-F238E27FC236}">
                <a16:creationId xmlns:a16="http://schemas.microsoft.com/office/drawing/2014/main" id="{37DFFAF2-E2AA-4367-A56F-042246E0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14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technique-intelligence">
            <a:extLst xmlns:a="http://schemas.openxmlformats.org/drawingml/2006/main">
              <a:ext uri="{FF2B5EF4-FFF2-40B4-BE49-F238E27FC236}">
                <a16:creationId xmlns:a16="http://schemas.microsoft.com/office/drawing/2014/main" id="{6EA75A18-C2F9-4BA4-80E6-E2D48E17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2609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Technique Intelligence</a:t>
            </a:r>
          </a:p>
        </p:txBody>
      </p:sp>
      <p:sp>
        <p:nvSpPr>
          <p:cNvPr id="13" name="exercise-form-education-targeted-muscles-and-">
            <a:extLst xmlns:a="http://schemas.openxmlformats.org/drawingml/2006/main">
              <a:ext uri="{FF2B5EF4-FFF2-40B4-BE49-F238E27FC236}">
                <a16:creationId xmlns:a16="http://schemas.microsoft.com/office/drawing/2014/main" id="{1D08263F-C68B-4B3F-BC76-E87EF5E2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Exercise form education, targeted muscles, and future video guidance.</a:t>
            </a:r>
          </a:p>
        </p:txBody>
      </p:sp>
      <p:sp>
        <p:nvSpPr>
          <p:cNvPr id="14" name="module-nutrition">
            <a:extLst xmlns:a="http://schemas.openxmlformats.org/drawingml/2006/main">
              <a:ext uri="{FF2B5EF4-FFF2-40B4-BE49-F238E27FC236}">
                <a16:creationId xmlns:a16="http://schemas.microsoft.com/office/drawing/2014/main" id="{1624BB8C-20CF-45D9-A2F6-957303F4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nutrition-system">
            <a:extLst xmlns:a="http://schemas.openxmlformats.org/drawingml/2006/main">
              <a:ext uri="{FF2B5EF4-FFF2-40B4-BE49-F238E27FC236}">
                <a16:creationId xmlns:a16="http://schemas.microsoft.com/office/drawing/2014/main" id="{0C7F155B-42A9-4FBF-8E31-F10BF7FC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Nutrition System</a:t>
            </a:r>
          </a:p>
        </p:txBody>
      </p:sp>
      <p:sp>
        <p:nvSpPr>
          <p:cNvPr id="16" name="macros-hydration-diet-suggestions-and-behavio">
            <a:extLst xmlns:a="http://schemas.openxmlformats.org/drawingml/2006/main">
              <a:ext uri="{FF2B5EF4-FFF2-40B4-BE49-F238E27FC236}">
                <a16:creationId xmlns:a16="http://schemas.microsoft.com/office/drawing/2014/main" id="{25B27883-7AFC-43AF-9171-814E961D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Macros, hydration, diet suggestions, and behavior-aware reminders.</a:t>
            </a:r>
          </a:p>
        </p:txBody>
      </p:sp>
      <p:sp>
        <p:nvSpPr>
          <p:cNvPr id="17" name="module-community">
            <a:extLst xmlns:a="http://schemas.openxmlformats.org/drawingml/2006/main">
              <a:ext uri="{FF2B5EF4-FFF2-40B4-BE49-F238E27FC236}">
                <a16:creationId xmlns:a16="http://schemas.microsoft.com/office/drawing/2014/main" id="{CD488137-D7F0-4B32-9A66-4E451AC7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community-system">
            <a:extLst xmlns:a="http://schemas.openxmlformats.org/drawingml/2006/main">
              <a:ext uri="{FF2B5EF4-FFF2-40B4-BE49-F238E27FC236}">
                <a16:creationId xmlns:a16="http://schemas.microsoft.com/office/drawing/2014/main" id="{41EF1143-D7E5-4596-A6DD-2C5FD6D7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Community System</a:t>
            </a:r>
          </a:p>
        </p:txBody>
      </p:sp>
      <p:sp>
        <p:nvSpPr>
          <p:cNvPr id="19" name="accountability-progress-sharing-social-motiva">
            <a:extLst xmlns:a="http://schemas.openxmlformats.org/drawingml/2006/main">
              <a:ext uri="{FF2B5EF4-FFF2-40B4-BE49-F238E27FC236}">
                <a16:creationId xmlns:a16="http://schemas.microsoft.com/office/drawing/2014/main" id="{ECE8D8C7-F5DB-4966-8622-1BC49F01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Accountability, progress sharing, social motivation, and creator pathways.</a:t>
            </a:r>
          </a:p>
        </p:txBody>
      </p:sp>
      <p:sp>
        <p:nvSpPr>
          <p:cNvPr id="20" name="module-ai">
            <a:extLst xmlns:a="http://schemas.openxmlformats.org/drawingml/2006/main">
              <a:ext uri="{FF2B5EF4-FFF2-40B4-BE49-F238E27FC236}">
                <a16:creationId xmlns:a16="http://schemas.microsoft.com/office/drawing/2014/main" id="{01A8330B-DFBE-44D9-B6E8-C9F2A9D8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41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80B0D"/>
          </a:solidFill>
        </p:spPr>
      </p:sp>
      <p:sp>
        <p:nvSpPr>
          <p:cNvPr id="21" name="ai-companion">
            <a:extLst xmlns:a="http://schemas.openxmlformats.org/drawingml/2006/main">
              <a:ext uri="{FF2B5EF4-FFF2-40B4-BE49-F238E27FC236}">
                <a16:creationId xmlns:a16="http://schemas.microsoft.com/office/drawing/2014/main" id="{6B3A2988-EFF2-49A6-A9EB-9EB89068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2E3A"/>
                </a:solidFill>
              </a:defRPr>
            </a:pPr>
            <a:r>
              <a:rPr sz="240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22" name="memory-driven-coaching-that-adapts-across-exp">
            <a:extLst xmlns:a="http://schemas.openxmlformats.org/drawingml/2006/main">
              <a:ext uri="{FF2B5EF4-FFF2-40B4-BE49-F238E27FC236}">
                <a16:creationId xmlns:a16="http://schemas.microsoft.com/office/drawing/2014/main" id="{1C747EF1-B7DD-4FC2-A900-4408CF51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Memory-driven coaching that adapts across expert and companion modes.</a:t>
            </a:r>
          </a:p>
        </p:txBody>
      </p:sp>
    </p:spTree>
    <p:extLst>
      <p:ext uri="{BB962C8B-B14F-4D97-AF65-F5344CB8AC3E}">
        <p14:creationId xmlns:p14="http://schemas.microsoft.com/office/powerpoint/2010/main" val="15727958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77FE16B-4DF8-411C-B5F1-4FCA0CFB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C4D11FFD-5C20-4A11-9B9B-E1533EC0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07F9B7A5-E534-45C3-90A3-D62434E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309E0C41-CFE8-4473-8E02-ECA393D4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8630390D-6B16-4EF0-A1E3-4B1FF57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F8A3F9-CD83-4375-BDF7-354AAA1D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190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coach that remembers context, not just a chatbot.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513D8A-F64D-470D-A693-0E9B2E18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868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Dual-mode intelligence separates factual fitness guidance from warm companion support.</a:t>
            </a:r>
          </a:p>
        </p:txBody>
      </p:sp>
      <p:sp>
        <p:nvSpPr>
          <p:cNvPr id="8" name="node-0-user-signal">
            <a:extLst xmlns:a="http://schemas.openxmlformats.org/drawingml/2006/main">
              <a:ext uri="{FF2B5EF4-FFF2-40B4-BE49-F238E27FC236}">
                <a16:creationId xmlns:a16="http://schemas.microsoft.com/office/drawing/2014/main" id="{B3418269-0690-41B6-89E7-C335149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CAADA-994C-4A32-9D28-059B8AEB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User Signal</a:t>
            </a:r>
          </a:p>
        </p:txBody>
      </p:sp>
      <p:sp>
        <p:nvSpPr>
          <p:cNvPr id="10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A1C2D198-A056-4738-973D-21C13F37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node-1-memory-layer">
            <a:extLst xmlns:a="http://schemas.openxmlformats.org/drawingml/2006/main">
              <a:ext uri="{FF2B5EF4-FFF2-40B4-BE49-F238E27FC236}">
                <a16:creationId xmlns:a16="http://schemas.microsoft.com/office/drawing/2014/main" id="{79D13FB7-4828-4879-BF59-B91FF232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2423B-5B6A-4F9E-A89C-16A3172D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Memory Layer</a:t>
            </a:r>
          </a:p>
        </p:txBody>
      </p:sp>
      <p:sp>
        <p:nvSpPr>
          <p:cNvPr id="13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870EE60D-7D53-4B73-BB1D-76D099D8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4" name="node-2-ai-router">
            <a:extLst xmlns:a="http://schemas.openxmlformats.org/drawingml/2006/main">
              <a:ext uri="{FF2B5EF4-FFF2-40B4-BE49-F238E27FC236}">
                <a16:creationId xmlns:a16="http://schemas.microsoft.com/office/drawing/2014/main" id="{DA5109F1-6F5F-4730-964C-0D908194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21E33-E4CB-4BDD-93CD-FFF2E6B2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AI Router</a:t>
            </a:r>
          </a:p>
        </p:txBody>
      </p:sp>
      <p:sp>
        <p:nvSpPr>
          <p:cNvPr id="16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E6DDB981-5C7F-4BEF-81A5-83B4E462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node-3-response-engine">
            <a:extLst xmlns:a="http://schemas.openxmlformats.org/drawingml/2006/main">
              <a:ext uri="{FF2B5EF4-FFF2-40B4-BE49-F238E27FC236}">
                <a16:creationId xmlns:a16="http://schemas.microsoft.com/office/drawing/2014/main" id="{EA42CD2E-14D2-4539-9216-31EA847A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B3A4F-58B0-41C0-B518-5CDE388F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Response Engine</a:t>
            </a:r>
          </a:p>
        </p:txBody>
      </p:sp>
      <p:sp>
        <p:nvSpPr>
          <p:cNvPr id="19" name="arrow-line-3">
            <a:extLst xmlns:a="http://schemas.openxmlformats.org/drawingml/2006/main">
              <a:ext uri="{FF2B5EF4-FFF2-40B4-BE49-F238E27FC236}">
                <a16:creationId xmlns:a16="http://schemas.microsoft.com/office/drawing/2014/main" id="{DE7856CB-F96B-42F3-95EA-6A75C454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0" name="node-4-adaptive-action">
            <a:extLst xmlns:a="http://schemas.openxmlformats.org/drawingml/2006/main">
              <a:ext uri="{FF2B5EF4-FFF2-40B4-BE49-F238E27FC236}">
                <a16:creationId xmlns:a16="http://schemas.microsoft.com/office/drawing/2014/main" id="{32041901-606E-41B6-8B3B-7E94E563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D4D97-4101-41D9-B913-F44FBB78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Adaptive Action</a:t>
            </a:r>
          </a:p>
        </p:txBody>
      </p:sp>
    </p:spTree>
    <p:extLst>
      <p:ext uri="{BB962C8B-B14F-4D97-AF65-F5344CB8AC3E}">
        <p14:creationId xmlns:p14="http://schemas.microsoft.com/office/powerpoint/2010/main" val="4192732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E418732-158E-4860-BCB9-3000FDA1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58474C1A-F674-4120-8004-CC77B5CC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775495E-E1C2-4BEA-8BD6-AD169CAC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77896FD0-9071-4E90-8A09-AC7ECD03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B88C3E01-44B8-484C-BDB7-2B7772A3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WORKOUT INTELLIGENCE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5312-8AC8-4973-B2B9-8D0B3164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401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From static exercises to adaptive progression.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3C3D0D-CC6A-435A-A8B9-A45DD416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172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can evolve from workout discovery into a behavior-aware training engine.</a:t>
            </a:r>
          </a:p>
        </p:txBody>
      </p:sp>
      <p:sp>
        <p:nvSpPr>
          <p:cNvPr id="8" name="muscle-map">
            <a:extLst xmlns:a="http://schemas.openxmlformats.org/drawingml/2006/main">
              <a:ext uri="{FF2B5EF4-FFF2-40B4-BE49-F238E27FC236}">
                <a16:creationId xmlns:a16="http://schemas.microsoft.com/office/drawing/2014/main" id="{C20B9A47-E29C-4050-BF75-82C8E91A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7700486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targeted-muscle-graph">
            <a:extLst xmlns:a="http://schemas.openxmlformats.org/drawingml/2006/main">
              <a:ext uri="{FF2B5EF4-FFF2-40B4-BE49-F238E27FC236}">
                <a16:creationId xmlns:a16="http://schemas.microsoft.com/office/drawing/2014/main" id="{C4FD12C7-B331-411B-B719-E002C2B6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6934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2E3A"/>
                </a:solidFill>
              </a:defRPr>
            </a:pPr>
            <a:r>
              <a:rPr sz="2250" b="1" i="0">
                <a:solidFill>
                  <a:srgbClr val="FF2E3A"/>
                </a:solidFill>
              </a:rPr>
              <a:t>TARGETED MUSCLE GRAPH</a:t>
            </a:r>
          </a:p>
        </p:txBody>
      </p:sp>
      <p:sp>
        <p:nvSpPr>
          <p:cNvPr id="10" name="muscle-0">
            <a:extLst xmlns:a="http://schemas.openxmlformats.org/drawingml/2006/main">
              <a:ext uri="{FF2B5EF4-FFF2-40B4-BE49-F238E27FC236}">
                <a16:creationId xmlns:a16="http://schemas.microsoft.com/office/drawing/2014/main" id="{17AC04D2-76C0-496A-84C5-3444E905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7306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1" name="chest">
            <a:extLst xmlns:a="http://schemas.openxmlformats.org/drawingml/2006/main">
              <a:ext uri="{FF2B5EF4-FFF2-40B4-BE49-F238E27FC236}">
                <a16:creationId xmlns:a16="http://schemas.microsoft.com/office/drawing/2014/main" id="{B22613DF-B0DF-4C4A-9374-98C09D9B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975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Chest</a:t>
            </a:r>
          </a:p>
        </p:txBody>
      </p:sp>
      <p:sp>
        <p:nvSpPr>
          <p:cNvPr id="12" name="muscle-1">
            <a:extLst xmlns:a="http://schemas.openxmlformats.org/drawingml/2006/main">
              <a:ext uri="{FF2B5EF4-FFF2-40B4-BE49-F238E27FC236}">
                <a16:creationId xmlns:a16="http://schemas.microsoft.com/office/drawing/2014/main" id="{5EE373A3-2057-464C-B7C6-30B93217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7306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3" name="back">
            <a:extLst xmlns:a="http://schemas.openxmlformats.org/drawingml/2006/main">
              <a:ext uri="{FF2B5EF4-FFF2-40B4-BE49-F238E27FC236}">
                <a16:creationId xmlns:a16="http://schemas.microsoft.com/office/drawing/2014/main" id="{3CB6D9DE-D502-40C6-B234-D4C8EF8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Back</a:t>
            </a:r>
          </a:p>
        </p:txBody>
      </p:sp>
      <p:sp>
        <p:nvSpPr>
          <p:cNvPr id="14" name="muscle-2">
            <a:extLst xmlns:a="http://schemas.openxmlformats.org/drawingml/2006/main">
              <a:ext uri="{FF2B5EF4-FFF2-40B4-BE49-F238E27FC236}">
                <a16:creationId xmlns:a16="http://schemas.microsoft.com/office/drawing/2014/main" id="{08E915E7-B6F5-422E-8DD4-D7B4D87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4649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5" name="shoulders">
            <a:extLst xmlns:a="http://schemas.openxmlformats.org/drawingml/2006/main">
              <a:ext uri="{FF2B5EF4-FFF2-40B4-BE49-F238E27FC236}">
                <a16:creationId xmlns:a16="http://schemas.microsoft.com/office/drawing/2014/main" id="{63B654A7-7EB6-443C-B44F-6B6B3C54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00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Shoulders</a:t>
            </a:r>
          </a:p>
        </p:txBody>
      </p:sp>
      <p:sp>
        <p:nvSpPr>
          <p:cNvPr id="16" name="muscle-3">
            <a:extLst xmlns:a="http://schemas.openxmlformats.org/drawingml/2006/main">
              <a:ext uri="{FF2B5EF4-FFF2-40B4-BE49-F238E27FC236}">
                <a16:creationId xmlns:a16="http://schemas.microsoft.com/office/drawing/2014/main" id="{BEA64880-97E7-45EE-8B54-C7D4F436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24649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7" name="legs">
            <a:extLst xmlns:a="http://schemas.openxmlformats.org/drawingml/2006/main">
              <a:ext uri="{FF2B5EF4-FFF2-40B4-BE49-F238E27FC236}">
                <a16:creationId xmlns:a16="http://schemas.microsoft.com/office/drawing/2014/main" id="{C42628AB-3C4D-492C-A654-AEEEF17E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00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Legs</a:t>
            </a:r>
          </a:p>
        </p:txBody>
      </p:sp>
      <p:sp>
        <p:nvSpPr>
          <p:cNvPr id="18" name="muscle-4">
            <a:extLst xmlns:a="http://schemas.openxmlformats.org/drawingml/2006/main">
              <a:ext uri="{FF2B5EF4-FFF2-40B4-BE49-F238E27FC236}">
                <a16:creationId xmlns:a16="http://schemas.microsoft.com/office/drawing/2014/main" id="{923E5EF7-BF3B-4123-8EDE-F22A8C84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1992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9" name="arms">
            <a:extLst xmlns:a="http://schemas.openxmlformats.org/drawingml/2006/main">
              <a:ext uri="{FF2B5EF4-FFF2-40B4-BE49-F238E27FC236}">
                <a16:creationId xmlns:a16="http://schemas.microsoft.com/office/drawing/2014/main" id="{1A5E813E-A766-47DE-A3EE-2E19033B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62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Arms</a:t>
            </a:r>
          </a:p>
        </p:txBody>
      </p:sp>
      <p:sp>
        <p:nvSpPr>
          <p:cNvPr id="20" name="muscle-5">
            <a:extLst xmlns:a="http://schemas.openxmlformats.org/drawingml/2006/main">
              <a:ext uri="{FF2B5EF4-FFF2-40B4-BE49-F238E27FC236}">
                <a16:creationId xmlns:a16="http://schemas.microsoft.com/office/drawing/2014/main" id="{33FE25C8-7F63-4FC4-AABA-4416F6FA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701992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1" name="core">
            <a:extLst xmlns:a="http://schemas.openxmlformats.org/drawingml/2006/main">
              <a:ext uri="{FF2B5EF4-FFF2-40B4-BE49-F238E27FC236}">
                <a16:creationId xmlns:a16="http://schemas.microsoft.com/office/drawing/2014/main" id="{D2B157AF-6D57-4128-9429-C218F2D1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62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Core</a:t>
            </a:r>
          </a:p>
        </p:txBody>
      </p:sp>
      <p:sp>
        <p:nvSpPr>
          <p:cNvPr id="22" name="exercise-selection-muscle-targeting-volume-tr">
            <a:extLst xmlns:a="http://schemas.openxmlformats.org/drawingml/2006/main">
              <a:ext uri="{FF2B5EF4-FFF2-40B4-BE49-F238E27FC236}">
                <a16:creationId xmlns:a16="http://schemas.microsoft.com/office/drawing/2014/main" id="{F1C2AE5F-83EB-48F4-90D6-DC6A5C3A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829550"/>
            <a:ext cx="6629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Exercise selection → muscle targeting → volume tracking → progressive overload</a:t>
            </a:r>
          </a:p>
        </p:txBody>
      </p:sp>
      <p:sp>
        <p:nvSpPr>
          <p:cNvPr id="23" name="workout-feature-1">
            <a:extLst xmlns:a="http://schemas.openxmlformats.org/drawingml/2006/main">
              <a:ext uri="{FF2B5EF4-FFF2-40B4-BE49-F238E27FC236}">
                <a16:creationId xmlns:a16="http://schemas.microsoft.com/office/drawing/2014/main" id="{FE579D49-B27D-4A56-9D81-DC8AF01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3680460"/>
            <a:ext cx="8511064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4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7676AF07-0633-4BD1-B36B-65409E6C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081CC098-7CFB-4DFA-8374-E2304DFF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243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Targeted muscle selection</a:t>
            </a:r>
          </a:p>
        </p:txBody>
      </p:sp>
      <p:sp>
        <p:nvSpPr>
          <p:cNvPr id="2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1B581DD-ADC7-4883-AF12-C6E94EA3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EEDFB32A-6745-4197-80AC-D2F2C1CB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Exercise recommendations by goal</a:t>
            </a:r>
          </a:p>
        </p:txBody>
      </p:sp>
      <p:sp>
        <p:nvSpPr>
          <p:cNvPr id="2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C5741B9-2580-4D9F-8ACA-5D6A3D58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33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BCE82E83-4757-46C4-AC2E-893A2534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Beginner-to-advanced plan logic</a:t>
            </a:r>
          </a:p>
        </p:txBody>
      </p:sp>
      <p:sp>
        <p:nvSpPr>
          <p:cNvPr id="30" name="workout-feature-2">
            <a:extLst xmlns:a="http://schemas.openxmlformats.org/drawingml/2006/main">
              <a:ext uri="{FF2B5EF4-FFF2-40B4-BE49-F238E27FC236}">
                <a16:creationId xmlns:a16="http://schemas.microsoft.com/office/drawing/2014/main" id="{F5FDFC4F-80A7-4C36-927F-49FD060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5642610"/>
            <a:ext cx="8511064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1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2875F51-4988-46B7-8C3D-3F63898A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8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CF9BFD79-583F-4BB3-BEAF-BC311978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864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Progressive overload recommendations</a:t>
            </a:r>
          </a:p>
        </p:txBody>
      </p:sp>
      <p:sp>
        <p:nvSpPr>
          <p:cNvPr id="33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AA719966-E160-44FB-9511-84C433C3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43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3720BC5D-6D7F-4C63-977D-B883444D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436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Missed-session recovery planning</a:t>
            </a:r>
          </a:p>
        </p:txBody>
      </p:sp>
      <p:sp>
        <p:nvSpPr>
          <p:cNvPr id="35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6C2E9C5-5C43-47C1-984C-640E60E0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89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D06E92F4-7131-4DC7-8FD5-3ACEB592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8008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Future form correction with video AI</a:t>
            </a:r>
          </a:p>
        </p:txBody>
      </p:sp>
      <p:sp>
        <p:nvSpPr>
          <p:cNvPr id="37" name="workout-feature-3">
            <a:extLst xmlns:a="http://schemas.openxmlformats.org/drawingml/2006/main">
              <a:ext uri="{FF2B5EF4-FFF2-40B4-BE49-F238E27FC236}">
                <a16:creationId xmlns:a16="http://schemas.microsoft.com/office/drawing/2014/main" id="{A37EE8C0-686C-4053-BA1D-B805C7F4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7604760"/>
            <a:ext cx="8511064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38" name="future-direction-ai-generated-weekly-programs">
            <a:extLst xmlns:a="http://schemas.openxmlformats.org/drawingml/2006/main">
              <a:ext uri="{FF2B5EF4-FFF2-40B4-BE49-F238E27FC236}">
                <a16:creationId xmlns:a16="http://schemas.microsoft.com/office/drawing/2014/main" id="{D8E23197-F51B-4B8A-87A9-E751F9A6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848600"/>
            <a:ext cx="7943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8F5EF"/>
                </a:solidFill>
              </a:defRPr>
            </a:pPr>
            <a:r>
              <a:rPr sz="1875" b="1" i="0">
                <a:solidFill>
                  <a:srgbClr val="F8F5EF"/>
                </a:solidFill>
              </a:rPr>
              <a:t>Future direction: AI-generated weekly programs adapt to adherence, sleep, soreness, equipment, and body-composition goals.</a:t>
            </a:r>
          </a:p>
        </p:txBody>
      </p:sp>
    </p:spTree>
    <p:extLst>
      <p:ext uri="{BB962C8B-B14F-4D97-AF65-F5344CB8AC3E}">
        <p14:creationId xmlns:p14="http://schemas.microsoft.com/office/powerpoint/2010/main" val="20947139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4AC64EF-1403-41A3-8BC5-C8D77202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B236EB0E-909B-443D-83C8-2572CFFA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7CF7E6A3-C640-4551-8C16-38970A02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D1EBC6F9-57E5-4629-B8B8-F7F29A48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68F57960-9E33-4617-807E-6C01FB07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847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NUTRITION INTELLIGENCE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F0DF20-E529-455F-9732-9ADC61F1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668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Food guidance that adapts to goals and habits.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7C3C683-1D09-403D-A574-F3CBA096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7829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system turns daily nutrition signals into small, actionable coaching moments.</a:t>
            </a:r>
          </a:p>
        </p:txBody>
      </p:sp>
      <p:sp>
        <p:nvSpPr>
          <p:cNvPr id="8" name="nutrition-macros">
            <a:extLst xmlns:a="http://schemas.openxmlformats.org/drawingml/2006/main">
              <a:ext uri="{FF2B5EF4-FFF2-40B4-BE49-F238E27FC236}">
                <a16:creationId xmlns:a16="http://schemas.microsoft.com/office/drawing/2014/main" id="{0F1C0853-07BB-4679-AD67-D2703639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85010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120g">
            <a:extLst xmlns:a="http://schemas.openxmlformats.org/drawingml/2006/main">
              <a:ext uri="{FF2B5EF4-FFF2-40B4-BE49-F238E27FC236}">
                <a16:creationId xmlns:a16="http://schemas.microsoft.com/office/drawing/2014/main" id="{D414BE68-3E8F-4C6D-8EEB-0CA35DA0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1181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120g</a:t>
            </a:r>
          </a:p>
        </p:txBody>
      </p:sp>
      <p:sp>
        <p:nvSpPr>
          <p:cNvPr id="10" name="protein-target">
            <a:extLst xmlns:a="http://schemas.openxmlformats.org/drawingml/2006/main">
              <a:ext uri="{FF2B5EF4-FFF2-40B4-BE49-F238E27FC236}">
                <a16:creationId xmlns:a16="http://schemas.microsoft.com/office/drawing/2014/main" id="{2483EC56-B853-4904-99C7-F76CE6CF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200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protein target</a:t>
            </a:r>
          </a:p>
        </p:txBody>
      </p:sp>
      <p:sp>
        <p:nvSpPr>
          <p:cNvPr id="11" name="example-muscle-gain-target">
            <a:extLst xmlns:a="http://schemas.openxmlformats.org/drawingml/2006/main">
              <a:ext uri="{FF2B5EF4-FFF2-40B4-BE49-F238E27FC236}">
                <a16:creationId xmlns:a16="http://schemas.microsoft.com/office/drawing/2014/main" id="{63F740A9-895C-41E2-983C-358F027F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Example muscle-gain target</a:t>
            </a:r>
          </a:p>
        </p:txBody>
      </p:sp>
      <p:sp>
        <p:nvSpPr>
          <p:cNvPr id="12" name="3l">
            <a:extLst xmlns:a="http://schemas.openxmlformats.org/drawingml/2006/main">
              <a:ext uri="{FF2B5EF4-FFF2-40B4-BE49-F238E27FC236}">
                <a16:creationId xmlns:a16="http://schemas.microsoft.com/office/drawing/2014/main" id="{056E1FF1-B222-4EBD-9780-22CB5211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24300"/>
            <a:ext cx="552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3L</a:t>
            </a:r>
          </a:p>
        </p:txBody>
      </p:sp>
      <p:sp>
        <p:nvSpPr>
          <p:cNvPr id="13" name="water-target">
            <a:extLst xmlns:a="http://schemas.openxmlformats.org/drawingml/2006/main">
              <a:ext uri="{FF2B5EF4-FFF2-40B4-BE49-F238E27FC236}">
                <a16:creationId xmlns:a16="http://schemas.microsoft.com/office/drawing/2014/main" id="{866ED362-E3CC-403D-A6A6-DF6657A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05350"/>
            <a:ext cx="1066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water target</a:t>
            </a:r>
          </a:p>
        </p:txBody>
      </p:sp>
      <p:sp>
        <p:nvSpPr>
          <p:cNvPr id="14" name="hydration-habit-loop">
            <a:extLst xmlns:a="http://schemas.openxmlformats.org/drawingml/2006/main">
              <a:ext uri="{FF2B5EF4-FFF2-40B4-BE49-F238E27FC236}">
                <a16:creationId xmlns:a16="http://schemas.microsoft.com/office/drawing/2014/main" id="{AD5C4DFA-65D1-4D5B-9CA4-1ECFA900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9590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Hydration habit loop</a:t>
            </a:r>
          </a:p>
        </p:txBody>
      </p:sp>
      <p:sp>
        <p:nvSpPr>
          <p:cNvPr id="15" name="4x">
            <a:extLst xmlns:a="http://schemas.openxmlformats.org/drawingml/2006/main">
              <a:ext uri="{FF2B5EF4-FFF2-40B4-BE49-F238E27FC236}">
                <a16:creationId xmlns:a16="http://schemas.microsoft.com/office/drawing/2014/main" id="{7E8F9335-2D55-4C36-8023-2BD9FE8E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571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4x</a:t>
            </a:r>
          </a:p>
        </p:txBody>
      </p:sp>
      <p:sp>
        <p:nvSpPr>
          <p:cNvPr id="16" name="meal-timing">
            <a:extLst xmlns:a="http://schemas.openxmlformats.org/drawingml/2006/main">
              <a:ext uri="{FF2B5EF4-FFF2-40B4-BE49-F238E27FC236}">
                <a16:creationId xmlns:a16="http://schemas.microsoft.com/office/drawing/2014/main" id="{45C5AE85-931B-4B8E-9FD0-1EFF2C76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meal timing</a:t>
            </a:r>
          </a:p>
        </p:txBody>
      </p:sp>
      <p:sp>
        <p:nvSpPr>
          <p:cNvPr id="17" name="practical-daily-structure">
            <a:extLst xmlns:a="http://schemas.openxmlformats.org/drawingml/2006/main">
              <a:ext uri="{FF2B5EF4-FFF2-40B4-BE49-F238E27FC236}">
                <a16:creationId xmlns:a16="http://schemas.microsoft.com/office/drawing/2014/main" id="{4A8A51EA-5415-4613-BE94-96EFB3C4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154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Practical daily structure</a:t>
            </a:r>
          </a:p>
        </p:txBody>
      </p:sp>
      <p:sp>
        <p:nvSpPr>
          <p:cNvPr id="18" name="nutrition-bullets">
            <a:extLst xmlns:a="http://schemas.openxmlformats.org/drawingml/2006/main">
              <a:ext uri="{FF2B5EF4-FFF2-40B4-BE49-F238E27FC236}">
                <a16:creationId xmlns:a16="http://schemas.microsoft.com/office/drawing/2014/main" id="{33600065-D028-41FA-88CC-DA6797C3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2160"/>
            <a:ext cx="8501063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3EC3DEE-3CF7-40CA-8CDE-CA1AD5DC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0" name="bullet-0">
            <a:extLst xmlns:a="http://schemas.openxmlformats.org/drawingml/2006/main">
              <a:ext uri="{FF2B5EF4-FFF2-40B4-BE49-F238E27FC236}">
                <a16:creationId xmlns:a16="http://schemas.microsoft.com/office/drawing/2014/main" id="{991BDC66-7908-41C2-B5E9-7168E2DE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960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Goal-specific diet generation</a:t>
            </a:r>
          </a:p>
        </p:txBody>
      </p:sp>
      <p:sp>
        <p:nvSpPr>
          <p:cNvPr id="2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8625DD8-663F-4FCC-A2E9-CE1E48F0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4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2" name="bullet-1">
            <a:extLst xmlns:a="http://schemas.openxmlformats.org/drawingml/2006/main">
              <a:ext uri="{FF2B5EF4-FFF2-40B4-BE49-F238E27FC236}">
                <a16:creationId xmlns:a16="http://schemas.microsoft.com/office/drawing/2014/main" id="{2E88CDDD-3F2C-4A08-8B79-1F7FCCA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532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Macro and hydration tracking</a:t>
            </a:r>
          </a:p>
        </p:txBody>
      </p:sp>
      <p:sp>
        <p:nvSpPr>
          <p:cNvPr id="2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49623851-7A56-4257-B640-32D582EF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05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4" name="bullet-2">
            <a:extLst xmlns:a="http://schemas.openxmlformats.org/drawingml/2006/main">
              <a:ext uri="{FF2B5EF4-FFF2-40B4-BE49-F238E27FC236}">
                <a16:creationId xmlns:a16="http://schemas.microsoft.com/office/drawing/2014/main" id="{4485023E-CA07-40BE-BB6E-FD618E13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104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gap reminders</a:t>
            </a:r>
          </a:p>
        </p:txBody>
      </p:sp>
      <p:sp>
        <p:nvSpPr>
          <p:cNvPr id="2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28580343-E6FA-440E-B530-DF2B7F89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6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6" name="bullet-3">
            <a:extLst xmlns:a="http://schemas.openxmlformats.org/drawingml/2006/main">
              <a:ext uri="{FF2B5EF4-FFF2-40B4-BE49-F238E27FC236}">
                <a16:creationId xmlns:a16="http://schemas.microsoft.com/office/drawing/2014/main" id="{0B067011-3BC1-40CC-8D67-770D073B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676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Context-aware meal suggestions</a:t>
            </a:r>
          </a:p>
        </p:txBody>
      </p:sp>
      <p:sp>
        <p:nvSpPr>
          <p:cNvPr id="27" name="nutrition-note">
            <a:extLst xmlns:a="http://schemas.openxmlformats.org/drawingml/2006/main">
              <a:ext uri="{FF2B5EF4-FFF2-40B4-BE49-F238E27FC236}">
                <a16:creationId xmlns:a16="http://schemas.microsoft.com/office/drawing/2014/main" id="{6ABFE028-B067-4959-8037-CED29F7B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57235"/>
            <a:ext cx="8501063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018"/>
          </a:solidFill>
        </p:spPr>
      </p:sp>
      <p:sp>
        <p:nvSpPr>
          <p:cNvPr id="28" name="the-ai-converts-health-data-into-one-next-bes">
            <a:extLst xmlns:a="http://schemas.openxmlformats.org/drawingml/2006/main">
              <a:ext uri="{FF2B5EF4-FFF2-40B4-BE49-F238E27FC236}">
                <a16:creationId xmlns:a16="http://schemas.microsoft.com/office/drawing/2014/main" id="{1FFCF9FC-A102-4D39-B89D-DD35AFC0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10600"/>
            <a:ext cx="7924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The AI converts health data into one next best action.</a:t>
            </a:r>
          </a:p>
        </p:txBody>
      </p:sp>
      <p:sp>
        <p:nvSpPr>
          <p:cNvPr id="29" name="nutrition-flow">
            <a:extLst xmlns:a="http://schemas.openxmlformats.org/drawingml/2006/main">
              <a:ext uri="{FF2B5EF4-FFF2-40B4-BE49-F238E27FC236}">
                <a16:creationId xmlns:a16="http://schemas.microsoft.com/office/drawing/2014/main" id="{35FB514F-EB45-454E-9766-0DB41975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3680460"/>
            <a:ext cx="7691438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0" name="input-signals">
            <a:extLst xmlns:a="http://schemas.openxmlformats.org/drawingml/2006/main">
              <a:ext uri="{FF2B5EF4-FFF2-40B4-BE49-F238E27FC236}">
                <a16:creationId xmlns:a16="http://schemas.microsoft.com/office/drawing/2014/main" id="{D48EB4C1-7FEF-4C72-A0E4-D0D9B79B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1010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Input signals</a:t>
            </a:r>
          </a:p>
        </p:txBody>
      </p:sp>
      <p:sp>
        <p:nvSpPr>
          <p:cNvPr id="31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675B76C4-489C-4D24-98D0-01EEDC2D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8180720D-A34D-4079-BBE3-3161521C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006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Goal: muscle gain</a:t>
            </a:r>
          </a:p>
        </p:txBody>
      </p:sp>
      <p:sp>
        <p:nvSpPr>
          <p:cNvPr id="33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74A7FE6-DBBC-4751-B698-3E183FFA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CB2E3CEA-5116-42C7-AB16-0840482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578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Weight: 82kg</a:t>
            </a:r>
          </a:p>
        </p:txBody>
      </p:sp>
      <p:sp>
        <p:nvSpPr>
          <p:cNvPr id="35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D73D269-3CB6-455A-A04B-64EE8915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1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92F9B9CF-4BE7-4D73-BB95-0FDEA7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today: 60g</a:t>
            </a:r>
          </a:p>
        </p:txBody>
      </p:sp>
      <p:sp>
        <p:nvSpPr>
          <p:cNvPr id="37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80BC4835-7927-48A4-A790-8142D599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66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8" name="bullet-3">
            <a:extLst xmlns:a="http://schemas.openxmlformats.org/drawingml/2006/main">
              <a:ext uri="{FF2B5EF4-FFF2-40B4-BE49-F238E27FC236}">
                <a16:creationId xmlns:a16="http://schemas.microsoft.com/office/drawing/2014/main" id="{6B17C4D5-0EC4-4451-AED2-1CFBB522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722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Water today: 1.2L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F79086-E9D0-4B26-AB0A-0642B38A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124700"/>
            <a:ext cx="689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31"/>
          </a:solidFill>
          <a:ln xmlns:a="http://schemas.openxmlformats.org/drawingml/2006/main" w="0">
            <a:solidFill>
              <a:srgbClr val="2B2B31"/>
            </a:solidFill>
            <a:prstDash val="solid"/>
          </a:ln>
        </p:spPr>
      </p:sp>
      <p:sp>
        <p:nvSpPr>
          <p:cNvPr id="40" name="ai-output">
            <a:extLst xmlns:a="http://schemas.openxmlformats.org/drawingml/2006/main">
              <a:ext uri="{FF2B5EF4-FFF2-40B4-BE49-F238E27FC236}">
                <a16:creationId xmlns:a16="http://schemas.microsoft.com/office/drawing/2014/main" id="{D1DE2130-CBFF-4030-8916-F72762DE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41045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AI output</a:t>
            </a:r>
          </a:p>
        </p:txBody>
      </p:sp>
      <p:sp>
        <p:nvSpPr>
          <p:cNvPr id="41" name="you-are-behind-on-protein-and-hydration-today">
            <a:extLst xmlns:a="http://schemas.openxmlformats.org/drawingml/2006/main">
              <a:ext uri="{FF2B5EF4-FFF2-40B4-BE49-F238E27FC236}">
                <a16:creationId xmlns:a16="http://schemas.microsoft.com/office/drawing/2014/main" id="{AE10492C-6782-4DB1-A1B1-2FF41B2B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8001000"/>
            <a:ext cx="6896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You are behind on protein and hydration today. Add one high-protein meal and 800ml water before dinner.</a:t>
            </a:r>
          </a:p>
        </p:txBody>
      </p:sp>
    </p:spTree>
    <p:extLst>
      <p:ext uri="{BB962C8B-B14F-4D97-AF65-F5344CB8AC3E}">
        <p14:creationId xmlns:p14="http://schemas.microsoft.com/office/powerpoint/2010/main" val="10660840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8E6E3DE-F542-45CD-BE3E-283DAC3A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D6DA6DB6-055F-4281-BA91-4A46CA0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6972A98-BE97-40F8-A509-CA2BC99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1940107A-6BFA-44BD-A76B-65E72640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C96EBFD4-AB1E-4A8C-BACE-CA505009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COMMUNITY + SOCIAL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EDF489-B4BE-4C28-BD11-1312BF1F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803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Accountability is a product feature.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AB2C86-C53C-471F-9F45-473E7495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6305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People continue when they feel seen, challenged, and supported.</a:t>
            </a:r>
          </a:p>
        </p:txBody>
      </p:sp>
      <p:sp>
        <p:nvSpPr>
          <p:cNvPr id="8" name="community-left">
            <a:extLst xmlns:a="http://schemas.openxmlformats.org/drawingml/2006/main">
              <a:ext uri="{FF2B5EF4-FFF2-40B4-BE49-F238E27FC236}">
                <a16:creationId xmlns:a16="http://schemas.microsoft.com/office/drawing/2014/main" id="{66BDD79D-E89F-414B-8D65-236F8712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1770"/>
            <a:ext cx="8096250" cy="6888480"/>
          </a:xfrm>
          <a:prstGeom xmlns:a="http://schemas.openxmlformats.org/drawingml/2006/main" prst="roundRect">
            <a:avLst>
              <a:gd name="adj" fmla="val 1659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ommunity-loop">
            <a:extLst xmlns:a="http://schemas.openxmlformats.org/drawingml/2006/main">
              <a:ext uri="{FF2B5EF4-FFF2-40B4-BE49-F238E27FC236}">
                <a16:creationId xmlns:a16="http://schemas.microsoft.com/office/drawing/2014/main" id="{0F5A5EB8-096B-4D5A-BEA4-AB55AF5F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752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8F5EF"/>
                </a:solidFill>
              </a:defRPr>
            </a:pPr>
            <a:r>
              <a:rPr sz="39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10" name="node-0-post">
            <a:extLst xmlns:a="http://schemas.openxmlformats.org/drawingml/2006/main">
              <a:ext uri="{FF2B5EF4-FFF2-40B4-BE49-F238E27FC236}">
                <a16:creationId xmlns:a16="http://schemas.microsoft.com/office/drawing/2014/main" id="{63F21DB4-D08A-4517-9A18-F8444DC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E02A6-A500-419B-ACF2-FA5B4EB8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Post</a:t>
            </a:r>
          </a:p>
        </p:txBody>
      </p:sp>
      <p:sp>
        <p:nvSpPr>
          <p:cNvPr id="12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CFDF43F4-2A8C-4299-846D-AA13259F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node-1-reaction">
            <a:extLst xmlns:a="http://schemas.openxmlformats.org/drawingml/2006/main">
              <a:ext uri="{FF2B5EF4-FFF2-40B4-BE49-F238E27FC236}">
                <a16:creationId xmlns:a16="http://schemas.microsoft.com/office/drawing/2014/main" id="{C4F8EDE0-840C-4BED-9D1B-ACF7206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773D1-7203-48A7-9859-F1DC65E3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Reaction</a:t>
            </a:r>
          </a:p>
        </p:txBody>
      </p:sp>
      <p:sp>
        <p:nvSpPr>
          <p:cNvPr id="15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D195E85C-FA94-4763-8DD5-0EEE6CE0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6" name="node-2-challenge">
            <a:extLst xmlns:a="http://schemas.openxmlformats.org/drawingml/2006/main">
              <a:ext uri="{FF2B5EF4-FFF2-40B4-BE49-F238E27FC236}">
                <a16:creationId xmlns:a16="http://schemas.microsoft.com/office/drawing/2014/main" id="{28D3B726-1B2D-4F62-BB05-00920745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4A993-F681-4466-941F-BED51393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Challenge</a:t>
            </a:r>
          </a:p>
        </p:txBody>
      </p:sp>
      <p:sp>
        <p:nvSpPr>
          <p:cNvPr id="18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09E35919-1275-4772-8AD6-A2AD42F0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9" name="node-3-progress">
            <a:extLst xmlns:a="http://schemas.openxmlformats.org/drawingml/2006/main">
              <a:ext uri="{FF2B5EF4-FFF2-40B4-BE49-F238E27FC236}">
                <a16:creationId xmlns:a16="http://schemas.microsoft.com/office/drawing/2014/main" id="{7D5A227E-8BEA-4B15-9CE9-65982C4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2968D-FF54-4770-9CC2-15BC5C62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Progress</a:t>
            </a:r>
          </a:p>
        </p:txBody>
      </p:sp>
      <p:sp>
        <p:nvSpPr>
          <p:cNvPr id="21" name="arrow-line-3">
            <a:extLst xmlns:a="http://schemas.openxmlformats.org/drawingml/2006/main">
              <a:ext uri="{FF2B5EF4-FFF2-40B4-BE49-F238E27FC236}">
                <a16:creationId xmlns:a16="http://schemas.microsoft.com/office/drawing/2014/main" id="{E77F9915-044F-4DA6-9406-9BF9567F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2" name="node-4-retention">
            <a:extLst xmlns:a="http://schemas.openxmlformats.org/drawingml/2006/main">
              <a:ext uri="{FF2B5EF4-FFF2-40B4-BE49-F238E27FC236}">
                <a16:creationId xmlns:a16="http://schemas.microsoft.com/office/drawing/2014/main" id="{B7999A4B-D639-4099-B5B4-3671143B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9D2A8-C8C3-4A0B-AD43-5E0C57BA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Retention</a:t>
            </a:r>
          </a:p>
        </p:txBody>
      </p:sp>
      <p:sp>
        <p:nvSpPr>
          <p:cNvPr id="24" name="future-creator-layer-trainers-students-athlet">
            <a:extLst xmlns:a="http://schemas.openxmlformats.org/drawingml/2006/main">
              <a:ext uri="{FF2B5EF4-FFF2-40B4-BE49-F238E27FC236}">
                <a16:creationId xmlns:a16="http://schemas.microsoft.com/office/drawing/2014/main" id="{85435AC4-4385-47A3-B32E-6AF75B3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34200"/>
            <a:ext cx="7524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8C2B8"/>
                </a:solidFill>
              </a:defRPr>
            </a:pPr>
            <a:r>
              <a:rPr sz="2025" b="0" i="0">
                <a:solidFill>
                  <a:srgbClr val="C8C2B8"/>
                </a:solidFill>
              </a:rPr>
              <a:t>Future creator layer: trainers, students, athletes, and local gyms can publish challenges, plans, and transformation journeys.</a:t>
            </a:r>
          </a:p>
        </p:txBody>
      </p:sp>
      <p:sp>
        <p:nvSpPr>
          <p:cNvPr id="25" name="community-1">
            <a:extLst xmlns:a="http://schemas.openxmlformats.org/drawingml/2006/main">
              <a:ext uri="{FF2B5EF4-FFF2-40B4-BE49-F238E27FC236}">
                <a16:creationId xmlns:a16="http://schemas.microsoft.com/office/drawing/2014/main" id="{208F6F49-8BCF-4149-BB69-ED55D384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31770"/>
            <a:ext cx="8096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912676C-4A36-4D26-BA4C-AD8A5846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0">
            <a:extLst xmlns:a="http://schemas.openxmlformats.org/drawingml/2006/main">
              <a:ext uri="{FF2B5EF4-FFF2-40B4-BE49-F238E27FC236}">
                <a16:creationId xmlns:a16="http://schemas.microsoft.com/office/drawing/2014/main" id="{0827AFF8-ACA9-4D6F-A986-F027BDFD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71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 sharing</a:t>
            </a:r>
          </a:p>
        </p:txBody>
      </p:sp>
      <p:sp>
        <p:nvSpPr>
          <p:cNvPr id="2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C80EBCB0-CDC7-4D39-94EB-6EBAF94C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1">
            <a:extLst xmlns:a="http://schemas.openxmlformats.org/drawingml/2006/main">
              <a:ext uri="{FF2B5EF4-FFF2-40B4-BE49-F238E27FC236}">
                <a16:creationId xmlns:a16="http://schemas.microsoft.com/office/drawing/2014/main" id="{737CC65C-EC51-4CFD-97B9-0B703CD8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Live accountability posts</a:t>
            </a:r>
          </a:p>
        </p:txBody>
      </p:sp>
      <p:sp>
        <p:nvSpPr>
          <p:cNvPr id="3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12970C4-A5A3-44BA-ADD5-E87DA4D6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2">
            <a:extLst xmlns:a="http://schemas.openxmlformats.org/drawingml/2006/main">
              <a:ext uri="{FF2B5EF4-FFF2-40B4-BE49-F238E27FC236}">
                <a16:creationId xmlns:a16="http://schemas.microsoft.com/office/drawing/2014/main" id="{27BA8297-71FD-4DDC-9693-E243E14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862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AI-assisted encouragement</a:t>
            </a:r>
          </a:p>
        </p:txBody>
      </p:sp>
      <p:sp>
        <p:nvSpPr>
          <p:cNvPr id="3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6A8E8A0-1302-4296-B88A-A83D06F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3" name="bullet-3">
            <a:extLst xmlns:a="http://schemas.openxmlformats.org/drawingml/2006/main">
              <a:ext uri="{FF2B5EF4-FFF2-40B4-BE49-F238E27FC236}">
                <a16:creationId xmlns:a16="http://schemas.microsoft.com/office/drawing/2014/main" id="{31E8582F-1D19-4751-88CB-77E627F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43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Group challenges</a:t>
            </a:r>
          </a:p>
        </p:txBody>
      </p:sp>
      <p:sp>
        <p:nvSpPr>
          <p:cNvPr id="34" name="community-2">
            <a:extLst xmlns:a="http://schemas.openxmlformats.org/drawingml/2006/main">
              <a:ext uri="{FF2B5EF4-FFF2-40B4-BE49-F238E27FC236}">
                <a16:creationId xmlns:a16="http://schemas.microsoft.com/office/drawing/2014/main" id="{52A15872-B27C-4CCC-ACC6-8D7BDDC0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46370"/>
            <a:ext cx="8096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C54CCB9-5D2D-4690-B951-A6B1246D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6" name="bullet-0">
            <a:extLst xmlns:a="http://schemas.openxmlformats.org/drawingml/2006/main">
              <a:ext uri="{FF2B5EF4-FFF2-40B4-BE49-F238E27FC236}">
                <a16:creationId xmlns:a16="http://schemas.microsoft.com/office/drawing/2014/main" id="{F3A748CA-F53A-493F-98C8-7066FB71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486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College fitness clubs</a:t>
            </a:r>
          </a:p>
        </p:txBody>
      </p:sp>
      <p:sp>
        <p:nvSpPr>
          <p:cNvPr id="37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F8A1CDF-EED0-48A6-9FD1-2B11611B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8" name="bullet-1">
            <a:extLst xmlns:a="http://schemas.openxmlformats.org/drawingml/2006/main">
              <a:ext uri="{FF2B5EF4-FFF2-40B4-BE49-F238E27FC236}">
                <a16:creationId xmlns:a16="http://schemas.microsoft.com/office/drawing/2014/main" id="{F22BD282-9FBB-4CB5-9719-B958D7F1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9436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 partnerships</a:t>
            </a:r>
          </a:p>
        </p:txBody>
      </p:sp>
      <p:sp>
        <p:nvSpPr>
          <p:cNvPr id="39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7CD05D66-49D1-427E-AD47-6D972BB4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9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0" name="bullet-2">
            <a:extLst xmlns:a="http://schemas.openxmlformats.org/drawingml/2006/main">
              <a:ext uri="{FF2B5EF4-FFF2-40B4-BE49-F238E27FC236}">
                <a16:creationId xmlns:a16="http://schemas.microsoft.com/office/drawing/2014/main" id="{D7192657-F111-4F6C-8018-82B93F1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00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Creator-led programs</a:t>
            </a:r>
          </a:p>
        </p:txBody>
      </p:sp>
      <p:sp>
        <p:nvSpPr>
          <p:cNvPr id="41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AC3A451C-E997-4C8B-A16F-1C0E0A65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95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2" name="bullet-3">
            <a:extLst xmlns:a="http://schemas.openxmlformats.org/drawingml/2006/main">
              <a:ext uri="{FF2B5EF4-FFF2-40B4-BE49-F238E27FC236}">
                <a16:creationId xmlns:a16="http://schemas.microsoft.com/office/drawing/2014/main" id="{CE1FD05D-3B4E-46D3-9168-4331778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858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Regional health communities</a:t>
            </a:r>
          </a:p>
        </p:txBody>
      </p:sp>
      <p:sp>
        <p:nvSpPr>
          <p:cNvPr id="43" name="community-3">
            <a:extLst xmlns:a="http://schemas.openxmlformats.org/drawingml/2006/main">
              <a:ext uri="{FF2B5EF4-FFF2-40B4-BE49-F238E27FC236}">
                <a16:creationId xmlns:a16="http://schemas.microsoft.com/office/drawing/2014/main" id="{28675308-008E-45C2-A7F5-3E46D49A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760970"/>
            <a:ext cx="8096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44" name="social-proof-can-become-the-growth-engine-use">
            <a:extLst xmlns:a="http://schemas.openxmlformats.org/drawingml/2006/main">
              <a:ext uri="{FF2B5EF4-FFF2-40B4-BE49-F238E27FC236}">
                <a16:creationId xmlns:a16="http://schemas.microsoft.com/office/drawing/2014/main" id="{32F42596-1B05-4508-A8F2-F680AF8D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001000"/>
            <a:ext cx="7524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8F5EF"/>
                </a:solidFill>
              </a:defRPr>
            </a:pPr>
            <a:r>
              <a:rPr sz="2325" b="1" i="0">
                <a:solidFill>
                  <a:srgbClr val="F8F5EF"/>
                </a:solidFill>
              </a:rPr>
              <a:t>Social proof can become the growth engine: users invite friends because consistency is easier together.</a:t>
            </a:r>
          </a:p>
        </p:txBody>
      </p:sp>
    </p:spTree>
    <p:extLst>
      <p:ext uri="{BB962C8B-B14F-4D97-AF65-F5344CB8AC3E}">
        <p14:creationId xmlns:p14="http://schemas.microsoft.com/office/powerpoint/2010/main" val="1867337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B36923A-491D-4861-8548-5AC8B0D5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5381E999-5A25-4B99-85E4-DF1FFB30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1ACCE1D-A54C-42D4-8421-179ECF27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B0BD26FC-B7FF-45A0-93BE-0723419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A7A9C8A0-03AE-45E0-9A57-EC6B6275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838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TECH STACK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BB5115-9D52-4E08-A406-452C5A4F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21539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Built like a scalable SaaS, evolving into an AI research platform.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BA3119-54BD-4425-BAEE-45E1DA42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24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current architecture separates product, backend services, AI memory, and future model development.</a:t>
            </a:r>
          </a:p>
        </p:txBody>
      </p:sp>
      <p:sp>
        <p:nvSpPr>
          <p:cNvPr id="8" name="tech-front">
            <a:extLst xmlns:a="http://schemas.openxmlformats.org/drawingml/2006/main">
              <a:ext uri="{FF2B5EF4-FFF2-40B4-BE49-F238E27FC236}">
                <a16:creationId xmlns:a16="http://schemas.microsoft.com/office/drawing/2014/main" id="{C5E7B5B7-A091-46FE-9C76-38D957C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frontend">
            <a:extLst xmlns:a="http://schemas.openxmlformats.org/drawingml/2006/main">
              <a:ext uri="{FF2B5EF4-FFF2-40B4-BE49-F238E27FC236}">
                <a16:creationId xmlns:a16="http://schemas.microsoft.com/office/drawing/2014/main" id="{B6609EAA-A60C-4E21-B8A8-9DF813A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Frontend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FE1B73D-1D2D-4438-ACF8-4CB23DA6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8302F68F-769C-4E35-AB23-C5255A6C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React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36B502A-19B4-4C1A-AD64-F661E3D8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3229159A-614F-434D-84D9-ED9423F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Framer Motion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45551209-F901-425F-9BB3-7DF8B6A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5F46759C-AC85-40E7-B3A7-A0628DA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Styled Components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B464533-9930-438D-BAFC-73650406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bullet-3">
            <a:extLst xmlns:a="http://schemas.openxmlformats.org/drawingml/2006/main">
              <a:ext uri="{FF2B5EF4-FFF2-40B4-BE49-F238E27FC236}">
                <a16:creationId xmlns:a16="http://schemas.microsoft.com/office/drawing/2014/main" id="{9AAB3240-2BA2-47CE-A777-F5796A91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Lenis smooth scroll</a:t>
            </a:r>
          </a:p>
        </p:txBody>
      </p:sp>
      <p:sp>
        <p:nvSpPr>
          <p:cNvPr id="18" name="tech-back">
            <a:extLst xmlns:a="http://schemas.openxmlformats.org/drawingml/2006/main">
              <a:ext uri="{FF2B5EF4-FFF2-40B4-BE49-F238E27FC236}">
                <a16:creationId xmlns:a16="http://schemas.microsoft.com/office/drawing/2014/main" id="{4129D946-5FF0-405A-9928-8E1271C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9" name="backend">
            <a:extLst xmlns:a="http://schemas.openxmlformats.org/drawingml/2006/main">
              <a:ext uri="{FF2B5EF4-FFF2-40B4-BE49-F238E27FC236}">
                <a16:creationId xmlns:a16="http://schemas.microsoft.com/office/drawing/2014/main" id="{61409BA7-50E7-4DAF-9C19-A94FAC8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Backend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FF2BA62-EEA1-4518-A552-5D151D94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A7693255-052D-491E-8031-E0B99B3A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Node.js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BF00363D-086A-4E53-9F55-83CD08BB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187CEAC4-3B56-4039-AE12-D0BABE2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Express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CD54E19-0AF3-4C89-8A42-FAB290EA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A3F5EC35-F6E3-417F-A634-26F65891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JWT auth</a:t>
            </a:r>
          </a:p>
        </p:txBody>
      </p:sp>
      <p:sp>
        <p:nvSpPr>
          <p:cNvPr id="2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27517BA-4EE4-4129-AFA2-936D927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3">
            <a:extLst xmlns:a="http://schemas.openxmlformats.org/drawingml/2006/main">
              <a:ext uri="{FF2B5EF4-FFF2-40B4-BE49-F238E27FC236}">
                <a16:creationId xmlns:a16="http://schemas.microsoft.com/office/drawing/2014/main" id="{6A8FC913-7F3B-4DA7-991E-3E5BCA07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API v1 routes</a:t>
            </a:r>
          </a:p>
        </p:txBody>
      </p:sp>
      <p:sp>
        <p:nvSpPr>
          <p:cNvPr id="28" name="tech-ai">
            <a:extLst xmlns:a="http://schemas.openxmlformats.org/drawingml/2006/main">
              <a:ext uri="{FF2B5EF4-FFF2-40B4-BE49-F238E27FC236}">
                <a16:creationId xmlns:a16="http://schemas.microsoft.com/office/drawing/2014/main" id="{F66FE0A9-A3CD-404D-96AB-0B86F402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9" name="ai-layer">
            <a:extLst xmlns:a="http://schemas.openxmlformats.org/drawingml/2006/main">
              <a:ext uri="{FF2B5EF4-FFF2-40B4-BE49-F238E27FC236}">
                <a16:creationId xmlns:a16="http://schemas.microsoft.com/office/drawing/2014/main" id="{277A7B3A-931E-4535-BEA6-0CFEFB4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AI Layer</a:t>
            </a:r>
          </a:p>
        </p:txBody>
      </p:sp>
      <p:sp>
        <p:nvSpPr>
          <p:cNvPr id="3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300C5F2-4BD3-4DB7-A9C6-B1A5763B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0">
            <a:extLst xmlns:a="http://schemas.openxmlformats.org/drawingml/2006/main">
              <a:ext uri="{FF2B5EF4-FFF2-40B4-BE49-F238E27FC236}">
                <a16:creationId xmlns:a16="http://schemas.microsoft.com/office/drawing/2014/main" id="{37F18613-B6FB-4CFF-8A59-24589B27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Memory service</a:t>
            </a:r>
          </a:p>
        </p:txBody>
      </p:sp>
      <p:sp>
        <p:nvSpPr>
          <p:cNvPr id="3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5C23A2B-DDBE-4021-9E1F-7A443B5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3" name="bullet-1">
            <a:extLst xmlns:a="http://schemas.openxmlformats.org/drawingml/2006/main">
              <a:ext uri="{FF2B5EF4-FFF2-40B4-BE49-F238E27FC236}">
                <a16:creationId xmlns:a16="http://schemas.microsoft.com/office/drawing/2014/main" id="{DDB1CEF9-4213-4631-9F12-5CEFBF4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Routing engine</a:t>
            </a:r>
          </a:p>
        </p:txBody>
      </p:sp>
      <p:sp>
        <p:nvSpPr>
          <p:cNvPr id="3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2E6BCF2-3707-4994-9AA6-BC4788B1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5" name="bullet-2">
            <a:extLst xmlns:a="http://schemas.openxmlformats.org/drawingml/2006/main">
              <a:ext uri="{FF2B5EF4-FFF2-40B4-BE49-F238E27FC236}">
                <a16:creationId xmlns:a16="http://schemas.microsoft.com/office/drawing/2014/main" id="{9732042F-AE51-49BD-9C9C-594EC49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Notification triggers</a:t>
            </a:r>
          </a:p>
        </p:txBody>
      </p:sp>
      <p:sp>
        <p:nvSpPr>
          <p:cNvPr id="3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93E2A01A-6649-4458-8191-456ECBC0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7" name="bullet-3">
            <a:extLst xmlns:a="http://schemas.openxmlformats.org/drawingml/2006/main">
              <a:ext uri="{FF2B5EF4-FFF2-40B4-BE49-F238E27FC236}">
                <a16:creationId xmlns:a16="http://schemas.microsoft.com/office/drawing/2014/main" id="{6DF598B0-B233-4C00-AD5B-905A529F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Custom transformer research</a:t>
            </a:r>
          </a:p>
        </p:txBody>
      </p:sp>
      <p:sp>
        <p:nvSpPr>
          <p:cNvPr id="38" name="tech-future">
            <a:extLst xmlns:a="http://schemas.openxmlformats.org/drawingml/2006/main">
              <a:ext uri="{FF2B5EF4-FFF2-40B4-BE49-F238E27FC236}">
                <a16:creationId xmlns:a16="http://schemas.microsoft.com/office/drawing/2014/main" id="{2826EBBE-A7B9-4A28-9977-2A8F4CB9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9" name="future">
            <a:extLst xmlns:a="http://schemas.openxmlformats.org/drawingml/2006/main">
              <a:ext uri="{FF2B5EF4-FFF2-40B4-BE49-F238E27FC236}">
                <a16:creationId xmlns:a16="http://schemas.microsoft.com/office/drawing/2014/main" id="{F01F670B-9FD7-4C85-87BB-E41A888A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Future</a:t>
            </a:r>
          </a:p>
        </p:txBody>
      </p:sp>
      <p:sp>
        <p:nvSpPr>
          <p:cNvPr id="4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026184A1-DDBD-4B2E-8A5A-7A5A4B84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1" name="bullet-0">
            <a:extLst xmlns:a="http://schemas.openxmlformats.org/drawingml/2006/main">
              <a:ext uri="{FF2B5EF4-FFF2-40B4-BE49-F238E27FC236}">
                <a16:creationId xmlns:a16="http://schemas.microsoft.com/office/drawing/2014/main" id="{D88043E6-49F0-4A37-ADDD-2E8525DF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C++ inference</a:t>
            </a:r>
          </a:p>
        </p:txBody>
      </p:sp>
      <p:sp>
        <p:nvSpPr>
          <p:cNvPr id="4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D1648FC-E1C3-4F3B-85AA-DB195D4B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3" name="bullet-1">
            <a:extLst xmlns:a="http://schemas.openxmlformats.org/drawingml/2006/main">
              <a:ext uri="{FF2B5EF4-FFF2-40B4-BE49-F238E27FC236}">
                <a16:creationId xmlns:a16="http://schemas.microsoft.com/office/drawing/2014/main" id="{0EC2CCA5-4113-45FB-9531-E2E50278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Wearables</a:t>
            </a:r>
          </a:p>
        </p:txBody>
      </p:sp>
      <p:sp>
        <p:nvSpPr>
          <p:cNvPr id="4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2BEEE58-6B64-4E5F-80F2-09759F9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5" name="bullet-2">
            <a:extLst xmlns:a="http://schemas.openxmlformats.org/drawingml/2006/main">
              <a:ext uri="{FF2B5EF4-FFF2-40B4-BE49-F238E27FC236}">
                <a16:creationId xmlns:a16="http://schemas.microsoft.com/office/drawing/2014/main" id="{3D7455E4-AA66-454D-A90E-D24F6F2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video generation</a:t>
            </a:r>
          </a:p>
        </p:txBody>
      </p:sp>
      <p:sp>
        <p:nvSpPr>
          <p:cNvPr id="4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C0583940-5363-47E6-BBBD-D1EA95D4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7" name="bullet-3">
            <a:extLst xmlns:a="http://schemas.openxmlformats.org/drawingml/2006/main">
              <a:ext uri="{FF2B5EF4-FFF2-40B4-BE49-F238E27FC236}">
                <a16:creationId xmlns:a16="http://schemas.microsoft.com/office/drawing/2014/main" id="{3500C89F-DA6F-4500-A101-A5E216E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Institutional GPU training</a:t>
            </a:r>
          </a:p>
        </p:txBody>
      </p:sp>
    </p:spTree>
    <p:extLst>
      <p:ext uri="{BB962C8B-B14F-4D97-AF65-F5344CB8AC3E}">
        <p14:creationId xmlns:p14="http://schemas.microsoft.com/office/powerpoint/2010/main" val="11674756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6B1CEA8-6415-41FA-9A87-5B9E3722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54447E15-0DB1-45D1-810F-A7090E9B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842EECF-F88D-49B7-8271-5DB54B9B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049CA1B2-8076-440E-9A9D-C8EAC835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89B1C2D9-FA62-4B21-AEF1-220748F0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695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MARKET OPPORTUNITY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C7BFE2-9724-4A4B-83EB-4CAA468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401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AI + digital health + fitness is converging now.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2D24FAB-526C-46AB-826B-EACC3DA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53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sits at the intersection of personalized AI, wellness apps, digital health, and youth fitness behavior.</a:t>
            </a:r>
          </a:p>
        </p:txBody>
      </p:sp>
      <p:sp>
        <p:nvSpPr>
          <p:cNvPr id="8" name="market-m1">
            <a:extLst xmlns:a="http://schemas.openxmlformats.org/drawingml/2006/main">
              <a:ext uri="{FF2B5EF4-FFF2-40B4-BE49-F238E27FC236}">
                <a16:creationId xmlns:a16="http://schemas.microsoft.com/office/drawing/2014/main" id="{80CB3CDC-9705-4D13-BE4A-5D3A8FC8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42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-106-97b">
            <a:extLst xmlns:a="http://schemas.openxmlformats.org/drawingml/2006/main">
              <a:ext uri="{FF2B5EF4-FFF2-40B4-BE49-F238E27FC236}">
                <a16:creationId xmlns:a16="http://schemas.microsoft.com/office/drawing/2014/main" id="{29CE552D-E36C-4283-9953-82D475C3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286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$106.97B</a:t>
            </a:r>
          </a:p>
        </p:txBody>
      </p:sp>
      <p:sp>
        <p:nvSpPr>
          <p:cNvPr id="10" name="india-digital-health-market-by-2033">
            <a:extLst xmlns:a="http://schemas.openxmlformats.org/drawingml/2006/main">
              <a:ext uri="{FF2B5EF4-FFF2-40B4-BE49-F238E27FC236}">
                <a16:creationId xmlns:a16="http://schemas.microsoft.com/office/drawing/2014/main" id="{E8C51997-1316-438C-A20F-2E087864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028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 digital health market by 2033</a:t>
            </a:r>
          </a:p>
        </p:txBody>
      </p:sp>
      <p:sp>
        <p:nvSpPr>
          <p:cNvPr id="11" name="grand-view-research-projection">
            <a:extLst xmlns:a="http://schemas.openxmlformats.org/drawingml/2006/main">
              <a:ext uri="{FF2B5EF4-FFF2-40B4-BE49-F238E27FC236}">
                <a16:creationId xmlns:a16="http://schemas.microsoft.com/office/drawing/2014/main" id="{2D1B92F3-BF37-423D-ABF5-2F2FB3EA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Grand View Research projection</a:t>
            </a:r>
          </a:p>
        </p:txBody>
      </p:sp>
      <p:sp>
        <p:nvSpPr>
          <p:cNvPr id="12" name="market-m2">
            <a:extLst xmlns:a="http://schemas.openxmlformats.org/drawingml/2006/main">
              <a:ext uri="{FF2B5EF4-FFF2-40B4-BE49-F238E27FC236}">
                <a16:creationId xmlns:a16="http://schemas.microsoft.com/office/drawing/2014/main" id="{62707D12-1805-4BC3-AFA7-73CC9DF5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54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14-1-">
            <a:extLst xmlns:a="http://schemas.openxmlformats.org/drawingml/2006/main">
              <a:ext uri="{FF2B5EF4-FFF2-40B4-BE49-F238E27FC236}">
                <a16:creationId xmlns:a16="http://schemas.microsoft.com/office/drawing/2014/main" id="{71C5FA63-1874-43D2-9ECE-2A96345F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1485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14.1%</a:t>
            </a:r>
          </a:p>
        </p:txBody>
      </p:sp>
      <p:sp>
        <p:nvSpPr>
          <p:cNvPr id="14" name="fitness-mhealth-apps-cagr">
            <a:extLst xmlns:a="http://schemas.openxmlformats.org/drawingml/2006/main">
              <a:ext uri="{FF2B5EF4-FFF2-40B4-BE49-F238E27FC236}">
                <a16:creationId xmlns:a16="http://schemas.microsoft.com/office/drawing/2014/main" id="{233D22D9-52CD-4F10-ACF7-99E74DD4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10350"/>
            <a:ext cx="2362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fitness mHealth apps CAGR</a:t>
            </a:r>
          </a:p>
        </p:txBody>
      </p:sp>
      <p:sp>
        <p:nvSpPr>
          <p:cNvPr id="15" name="global-2024-2030-estimate">
            <a:extLst xmlns:a="http://schemas.openxmlformats.org/drawingml/2006/main">
              <a:ext uri="{FF2B5EF4-FFF2-40B4-BE49-F238E27FC236}">
                <a16:creationId xmlns:a16="http://schemas.microsoft.com/office/drawing/2014/main" id="{53248503-5663-4474-941F-8F3092D2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009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Global 2024-2030 estimate</a:t>
            </a:r>
          </a:p>
        </p:txBody>
      </p:sp>
      <p:sp>
        <p:nvSpPr>
          <p:cNvPr id="16" name="market-m3">
            <a:extLst xmlns:a="http://schemas.openxmlformats.org/drawingml/2006/main">
              <a:ext uri="{FF2B5EF4-FFF2-40B4-BE49-F238E27FC236}">
                <a16:creationId xmlns:a16="http://schemas.microsoft.com/office/drawing/2014/main" id="{CD22DA5B-213C-4E17-8856-FC451AF1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666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7" name="-10-300cr-">
            <a:extLst xmlns:a="http://schemas.openxmlformats.org/drawingml/2006/main">
              <a:ext uri="{FF2B5EF4-FFF2-40B4-BE49-F238E27FC236}">
                <a16:creationId xmlns:a16="http://schemas.microsoft.com/office/drawing/2014/main" id="{729795D1-0B3C-4124-B6BA-A8837C65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0"/>
            <a:ext cx="2762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>
                <a:solidFill>
                  <a:srgbClr val="FF2E3A"/>
                </a:solidFill>
              </a:rPr>
              <a:t>₹10,300Cr+</a:t>
            </a:r>
          </a:p>
        </p:txBody>
      </p:sp>
      <p:sp>
        <p:nvSpPr>
          <p:cNvPr id="18" name="indiaai-mission-outlay">
            <a:extLst xmlns:a="http://schemas.openxmlformats.org/drawingml/2006/main">
              <a:ext uri="{FF2B5EF4-FFF2-40B4-BE49-F238E27FC236}">
                <a16:creationId xmlns:a16="http://schemas.microsoft.com/office/drawing/2014/main" id="{63A2618C-48E7-43E7-9DF6-81193668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91550"/>
            <a:ext cx="1943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IndiaAI Mission outlay</a:t>
            </a:r>
          </a:p>
        </p:txBody>
      </p:sp>
      <p:sp>
        <p:nvSpPr>
          <p:cNvPr id="19" name="national-push-for-ai-compute-and-startups">
            <a:extLst xmlns:a="http://schemas.openxmlformats.org/drawingml/2006/main">
              <a:ext uri="{FF2B5EF4-FFF2-40B4-BE49-F238E27FC236}">
                <a16:creationId xmlns:a16="http://schemas.microsoft.com/office/drawing/2014/main" id="{DE1A3E11-07F1-4BCA-A8A2-51AF9898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821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National push for AI compute and startups</a:t>
            </a:r>
          </a:p>
        </p:txBody>
      </p:sp>
      <p:sp>
        <p:nvSpPr>
          <p:cNvPr id="20" name="market-chart-panel">
            <a:extLst xmlns:a="http://schemas.openxmlformats.org/drawingml/2006/main">
              <a:ext uri="{FF2B5EF4-FFF2-40B4-BE49-F238E27FC236}">
                <a16:creationId xmlns:a16="http://schemas.microsoft.com/office/drawing/2014/main" id="{DA9E9149-3950-4C57-9589-519EEE6A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3604260"/>
            <a:ext cx="8511064" cy="6015990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market-expansion-signals">
            <a:extLst xmlns:a="http://schemas.openxmlformats.org/drawingml/2006/main">
              <a:ext uri="{FF2B5EF4-FFF2-40B4-BE49-F238E27FC236}">
                <a16:creationId xmlns:a16="http://schemas.microsoft.com/office/drawing/2014/main" id="{FF8EE2BF-5C88-44FD-A8AB-BDA1D68E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7867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Market expansion signals</a:t>
            </a:r>
          </a:p>
        </p:txBody>
      </p:sp>
      <p:graphicFrame>
        <p:nvGraphicFramePr>
          <p:cNvPr id="22" name="market-chart-main"/>
          <p:cNvGraphicFramePr/>
          <p:nvPr/>
        </p:nvGraphicFramePr>
        <p:xfrm>
          <a:off xmlns:a="http://schemas.openxmlformats.org/drawingml/2006/main" x="9319736" y="4431030"/>
          <a:ext xmlns:a="http://schemas.openxmlformats.org/drawingml/2006/main" cx="7863364" cy="45796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133eaa1884ca8"/>
          </a:graphicData>
        </a:graphic>
      </p:graphicFrame>
      <p:sp>
        <p:nvSpPr>
          <p:cNvPr id="23" name="sources-who-grand-view-research-pib-indiaai-m">
            <a:extLst xmlns:a="http://schemas.openxmlformats.org/drawingml/2006/main">
              <a:ext uri="{FF2B5EF4-FFF2-40B4-BE49-F238E27FC236}">
                <a16:creationId xmlns:a16="http://schemas.microsoft.com/office/drawing/2014/main" id="{A796F70B-53C1-4F7D-81D7-0625DDE7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163050"/>
            <a:ext cx="7867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D8990"/>
                </a:solidFill>
              </a:defRPr>
            </a:pPr>
            <a:r>
              <a:rPr sz="1125" b="0" i="0">
                <a:solidFill>
                  <a:srgbClr val="8D8990"/>
                </a:solidFill>
              </a:rPr>
              <a:t>Sources: WHO, Grand View Research, PIB IndiaAI Mission.</a:t>
            </a:r>
          </a:p>
        </p:txBody>
      </p:sp>
    </p:spTree>
    <p:extLst>
      <p:ext uri="{BB962C8B-B14F-4D97-AF65-F5344CB8AC3E}">
        <p14:creationId xmlns:p14="http://schemas.microsoft.com/office/powerpoint/2010/main" val="13572757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8B4CB68-37E0-4C62-8690-9C594641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5B41F044-2F6B-4713-8C18-BFD37729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839BC7F8-D528-491A-9682-7DE77182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2E315A1D-88E6-49A2-A3F9-F27A20EB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FCD3512-66DB-46CA-A396-171FD156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NOW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75F29D-DF61-4055-9E9C-527A76D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80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infrastructure finally exists for personal AI wellness.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E5CE2B-5022-4A78-80A0-2E9432AE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60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next generation of health products will not be passive trackers. They will be active companions.</a:t>
            </a:r>
          </a:p>
        </p:txBody>
      </p:sp>
      <p:sp>
        <p:nvSpPr>
          <p:cNvPr id="8" name="why-ai">
            <a:extLst xmlns:a="http://schemas.openxmlformats.org/drawingml/2006/main">
              <a:ext uri="{FF2B5EF4-FFF2-40B4-BE49-F238E27FC236}">
                <a16:creationId xmlns:a16="http://schemas.microsoft.com/office/drawing/2014/main" id="{9B9B9AB9-3953-49A5-9D3B-45FD7B3D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ai-adoption">
            <a:extLst xmlns:a="http://schemas.openxmlformats.org/drawingml/2006/main">
              <a:ext uri="{FF2B5EF4-FFF2-40B4-BE49-F238E27FC236}">
                <a16:creationId xmlns:a16="http://schemas.microsoft.com/office/drawing/2014/main" id="{3E21219E-0E2E-4311-9A21-E20C690A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AI adoption</a:t>
            </a:r>
          </a:p>
        </p:txBody>
      </p:sp>
      <p:sp>
        <p:nvSpPr>
          <p:cNvPr id="10" name="users-now-understand-ai-assistants-and-expect">
            <a:extLst xmlns:a="http://schemas.openxmlformats.org/drawingml/2006/main">
              <a:ext uri="{FF2B5EF4-FFF2-40B4-BE49-F238E27FC236}">
                <a16:creationId xmlns:a16="http://schemas.microsoft.com/office/drawing/2014/main" id="{D6F16390-0DD8-4C62-B17D-E2E3A469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Users now understand AI assistants and expect personalization.</a:t>
            </a:r>
          </a:p>
        </p:txBody>
      </p:sp>
      <p:sp>
        <p:nvSpPr>
          <p:cNvPr id="11" name="why-health">
            <a:extLst xmlns:a="http://schemas.openxmlformats.org/drawingml/2006/main">
              <a:ext uri="{FF2B5EF4-FFF2-40B4-BE49-F238E27FC236}">
                <a16:creationId xmlns:a16="http://schemas.microsoft.com/office/drawing/2014/main" id="{DFDAE826-385B-4140-B171-7CC670CF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health-urgency">
            <a:extLst xmlns:a="http://schemas.openxmlformats.org/drawingml/2006/main">
              <a:ext uri="{FF2B5EF4-FFF2-40B4-BE49-F238E27FC236}">
                <a16:creationId xmlns:a16="http://schemas.microsoft.com/office/drawing/2014/main" id="{25714166-CBF9-451C-8C1A-0F5920D2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Health urgency</a:t>
            </a:r>
          </a:p>
        </p:txBody>
      </p:sp>
      <p:sp>
        <p:nvSpPr>
          <p:cNvPr id="13" name="physical-inactivity-and-lifestyle-diseases-cr">
            <a:extLst xmlns:a="http://schemas.openxmlformats.org/drawingml/2006/main">
              <a:ext uri="{FF2B5EF4-FFF2-40B4-BE49-F238E27FC236}">
                <a16:creationId xmlns:a16="http://schemas.microsoft.com/office/drawing/2014/main" id="{2D99FD9F-6511-4C80-B62D-B1023F34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Physical inactivity and lifestyle diseases create public health pressure.</a:t>
            </a:r>
          </a:p>
        </p:txBody>
      </p:sp>
      <p:sp>
        <p:nvSpPr>
          <p:cNvPr id="14" name="why-wearables">
            <a:extLst xmlns:a="http://schemas.openxmlformats.org/drawingml/2006/main">
              <a:ext uri="{FF2B5EF4-FFF2-40B4-BE49-F238E27FC236}">
                <a16:creationId xmlns:a16="http://schemas.microsoft.com/office/drawing/2014/main" id="{2553C52F-9108-40C3-96AC-93744A0C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wearable-data">
            <a:extLst xmlns:a="http://schemas.openxmlformats.org/drawingml/2006/main">
              <a:ext uri="{FF2B5EF4-FFF2-40B4-BE49-F238E27FC236}">
                <a16:creationId xmlns:a16="http://schemas.microsoft.com/office/drawing/2014/main" id="{19B836C3-6562-4FB9-8A2B-05A2D493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Wearable data</a:t>
            </a:r>
          </a:p>
        </p:txBody>
      </p:sp>
      <p:sp>
        <p:nvSpPr>
          <p:cNvPr id="16" name="more-users-generate-signals-that-can-power-ad">
            <a:extLst xmlns:a="http://schemas.openxmlformats.org/drawingml/2006/main">
              <a:ext uri="{FF2B5EF4-FFF2-40B4-BE49-F238E27FC236}">
                <a16:creationId xmlns:a16="http://schemas.microsoft.com/office/drawing/2014/main" id="{A647E4E7-956E-4316-8EB0-9A48572F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More users generate signals that can power adaptive recommendations.</a:t>
            </a:r>
          </a:p>
        </p:txBody>
      </p:sp>
      <p:sp>
        <p:nvSpPr>
          <p:cNvPr id="17" name="why-india">
            <a:extLst xmlns:a="http://schemas.openxmlformats.org/drawingml/2006/main">
              <a:ext uri="{FF2B5EF4-FFF2-40B4-BE49-F238E27FC236}">
                <a16:creationId xmlns:a16="http://schemas.microsoft.com/office/drawing/2014/main" id="{BC86CEB6-79E8-4999-9B63-439D99CF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india-ai-mission">
            <a:extLst xmlns:a="http://schemas.openxmlformats.org/drawingml/2006/main">
              <a:ext uri="{FF2B5EF4-FFF2-40B4-BE49-F238E27FC236}">
                <a16:creationId xmlns:a16="http://schemas.microsoft.com/office/drawing/2014/main" id="{750E08CB-C68B-48CC-90EC-F049310C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India AI mission</a:t>
            </a:r>
          </a:p>
        </p:txBody>
      </p:sp>
      <p:sp>
        <p:nvSpPr>
          <p:cNvPr id="19" name="government-compute-datasets-skilling-and-star">
            <a:extLst xmlns:a="http://schemas.openxmlformats.org/drawingml/2006/main">
              <a:ext uri="{FF2B5EF4-FFF2-40B4-BE49-F238E27FC236}">
                <a16:creationId xmlns:a16="http://schemas.microsoft.com/office/drawing/2014/main" id="{702EF9D8-5068-47C7-B678-EB3EAFC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Government compute, datasets, skilling, and startup financing align with this build.</a:t>
            </a:r>
          </a:p>
        </p:txBody>
      </p:sp>
    </p:spTree>
    <p:extLst>
      <p:ext uri="{BB962C8B-B14F-4D97-AF65-F5344CB8AC3E}">
        <p14:creationId xmlns:p14="http://schemas.microsoft.com/office/powerpoint/2010/main" val="4429419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666629A-2B84-4E8D-8423-D9029F1B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7346EA0E-949B-4F9B-BD4E-F15B3122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FBE0EAAE-A339-46B6-AD0A-504D488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474502F2-8D21-40A6-8F0B-4DEA297E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39F7A021-375C-41FF-98FB-53111BB2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COMPETITOR COMPARISON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DBF66E-88FC-4DB3-A651-11D27FFF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649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gap is not content. The gap is adaptive intelligence.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1A5D02-BF57-41C4-94FE-43E75884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7505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combines specialization, memory, behavior, and ecosystem design.</a:t>
            </a:r>
          </a:p>
        </p:txBody>
      </p:sp>
      <p:sp>
        <p:nvSpPr>
          <p:cNvPr id="8" name="comparison-table">
            <a:extLst xmlns:a="http://schemas.openxmlformats.org/drawingml/2006/main">
              <a:ext uri="{FF2B5EF4-FFF2-40B4-BE49-F238E27FC236}">
                <a16:creationId xmlns:a16="http://schemas.microsoft.com/office/drawing/2014/main" id="{2BCF12CA-9B7F-4E8B-A2DB-5C35C60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6620"/>
            <a:ext cx="16725900" cy="6183630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ell-0-0">
            <a:extLst xmlns:a="http://schemas.openxmlformats.org/drawingml/2006/main">
              <a:ext uri="{FF2B5EF4-FFF2-40B4-BE49-F238E27FC236}">
                <a16:creationId xmlns:a16="http://schemas.microsoft.com/office/drawing/2014/main" id="{9F856C38-D9CC-491F-9275-8B62C5A9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3320"/>
            <a:ext cx="4252784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0" name="capability">
            <a:extLst xmlns:a="http://schemas.openxmlformats.org/drawingml/2006/main">
              <a:ext uri="{FF2B5EF4-FFF2-40B4-BE49-F238E27FC236}">
                <a16:creationId xmlns:a16="http://schemas.microsoft.com/office/drawing/2014/main" id="{B69DDB62-8391-4072-AE4C-A7B67D58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94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Capability</a:t>
            </a:r>
          </a:p>
        </p:txBody>
      </p:sp>
      <p:sp>
        <p:nvSpPr>
          <p:cNvPr id="11" name="cell-0-1">
            <a:extLst xmlns:a="http://schemas.openxmlformats.org/drawingml/2006/main">
              <a:ext uri="{FF2B5EF4-FFF2-40B4-BE49-F238E27FC236}">
                <a16:creationId xmlns:a16="http://schemas.microsoft.com/office/drawing/2014/main" id="{B8510C1D-4CC5-4A71-AF31-DE968C64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2" name="fitness-apps">
            <a:extLst xmlns:a="http://schemas.openxmlformats.org/drawingml/2006/main">
              <a:ext uri="{FF2B5EF4-FFF2-40B4-BE49-F238E27FC236}">
                <a16:creationId xmlns:a16="http://schemas.microsoft.com/office/drawing/2014/main" id="{E2C0F8DC-874F-4AB8-9C21-BA266BA7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Fitness Apps</a:t>
            </a:r>
          </a:p>
        </p:txBody>
      </p:sp>
      <p:sp>
        <p:nvSpPr>
          <p:cNvPr id="13" name="cell-0-2">
            <a:extLst xmlns:a="http://schemas.openxmlformats.org/drawingml/2006/main">
              <a:ext uri="{FF2B5EF4-FFF2-40B4-BE49-F238E27FC236}">
                <a16:creationId xmlns:a16="http://schemas.microsoft.com/office/drawing/2014/main" id="{CC9E3386-C1D3-4060-B350-978BDDA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4" name="chatgpt">
            <a:extLst xmlns:a="http://schemas.openxmlformats.org/drawingml/2006/main">
              <a:ext uri="{FF2B5EF4-FFF2-40B4-BE49-F238E27FC236}">
                <a16:creationId xmlns:a16="http://schemas.microsoft.com/office/drawing/2014/main" id="{23357651-E5E7-4378-8013-047F351D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ChatGPT</a:t>
            </a:r>
          </a:p>
        </p:txBody>
      </p:sp>
      <p:sp>
        <p:nvSpPr>
          <p:cNvPr id="15" name="cell-0-3">
            <a:extLst xmlns:a="http://schemas.openxmlformats.org/drawingml/2006/main">
              <a:ext uri="{FF2B5EF4-FFF2-40B4-BE49-F238E27FC236}">
                <a16:creationId xmlns:a16="http://schemas.microsoft.com/office/drawing/2014/main" id="{AD51B9DC-6236-41A1-A26A-61E0B4FD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6" name="generic-ai">
            <a:extLst xmlns:a="http://schemas.openxmlformats.org/drawingml/2006/main">
              <a:ext uri="{FF2B5EF4-FFF2-40B4-BE49-F238E27FC236}">
                <a16:creationId xmlns:a16="http://schemas.microsoft.com/office/drawing/2014/main" id="{E2DC196A-98D1-4199-BF69-570D6D07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Generic AI</a:t>
            </a:r>
          </a:p>
        </p:txBody>
      </p:sp>
      <p:sp>
        <p:nvSpPr>
          <p:cNvPr id="17" name="cell-0-4">
            <a:extLst xmlns:a="http://schemas.openxmlformats.org/drawingml/2006/main">
              <a:ext uri="{FF2B5EF4-FFF2-40B4-BE49-F238E27FC236}">
                <a16:creationId xmlns:a16="http://schemas.microsoft.com/office/drawing/2014/main" id="{0549BF1A-2F70-4835-9363-CEB2ED9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3703320"/>
            <a:ext cx="297694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8" name="grindhaus-ai">
            <a:extLst xmlns:a="http://schemas.openxmlformats.org/drawingml/2006/main">
              <a:ext uri="{FF2B5EF4-FFF2-40B4-BE49-F238E27FC236}">
                <a16:creationId xmlns:a16="http://schemas.microsoft.com/office/drawing/2014/main" id="{376AA275-014B-4C46-B1C9-2A44696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38290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7CF5BFFA-3218-4413-87EB-BA3F5884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882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0" name="fitness-specialization">
            <a:extLst xmlns:a="http://schemas.openxmlformats.org/drawingml/2006/main">
              <a:ext uri="{FF2B5EF4-FFF2-40B4-BE49-F238E27FC236}">
                <a16:creationId xmlns:a16="http://schemas.microsoft.com/office/drawing/2014/main" id="{28F714F2-6092-47ED-B0BE-18D1BAE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Fitness specialization</a:t>
            </a:r>
          </a:p>
        </p:txBody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3D1BF83A-EEF3-4052-BE4F-E567883E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2" name="medium">
            <a:extLst xmlns:a="http://schemas.openxmlformats.org/drawingml/2006/main">
              <a:ext uri="{FF2B5EF4-FFF2-40B4-BE49-F238E27FC236}">
                <a16:creationId xmlns:a16="http://schemas.microsoft.com/office/drawing/2014/main" id="{D93A4A78-2567-450F-A648-FCB09414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E301A24F-CDDC-47B8-B54E-9C041A40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4" name="low">
            <a:extLst xmlns:a="http://schemas.openxmlformats.org/drawingml/2006/main">
              <a:ext uri="{FF2B5EF4-FFF2-40B4-BE49-F238E27FC236}">
                <a16:creationId xmlns:a16="http://schemas.microsoft.com/office/drawing/2014/main" id="{3C82C909-9B5C-48DC-98CD-BAEB91C9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5" name="cell-1-3">
            <a:extLst xmlns:a="http://schemas.openxmlformats.org/drawingml/2006/main">
              <a:ext uri="{FF2B5EF4-FFF2-40B4-BE49-F238E27FC236}">
                <a16:creationId xmlns:a16="http://schemas.microsoft.com/office/drawing/2014/main" id="{1C28F0D5-D72D-41A6-BDC3-DB41F6D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6" name="low">
            <a:extLst xmlns:a="http://schemas.openxmlformats.org/drawingml/2006/main">
              <a:ext uri="{FF2B5EF4-FFF2-40B4-BE49-F238E27FC236}">
                <a16:creationId xmlns:a16="http://schemas.microsoft.com/office/drawing/2014/main" id="{CD34A259-263A-4A92-85F6-C927B342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7" name="cell-1-4">
            <a:extLst xmlns:a="http://schemas.openxmlformats.org/drawingml/2006/main">
              <a:ext uri="{FF2B5EF4-FFF2-40B4-BE49-F238E27FC236}">
                <a16:creationId xmlns:a16="http://schemas.microsoft.com/office/drawing/2014/main" id="{53979AEE-C070-40DE-A780-9B2836BC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456882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28" name="high">
            <a:extLst xmlns:a="http://schemas.openxmlformats.org/drawingml/2006/main">
              <a:ext uri="{FF2B5EF4-FFF2-40B4-BE49-F238E27FC236}">
                <a16:creationId xmlns:a16="http://schemas.microsoft.com/office/drawing/2014/main" id="{6839C195-E4DA-42A8-94CD-63091DFB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6863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29" name="cell-2-0">
            <a:extLst xmlns:a="http://schemas.openxmlformats.org/drawingml/2006/main">
              <a:ext uri="{FF2B5EF4-FFF2-40B4-BE49-F238E27FC236}">
                <a16:creationId xmlns:a16="http://schemas.microsoft.com/office/drawing/2014/main" id="{BF31F21A-E741-43B3-9784-45E3A9A2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8630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0" name="persistent-fitness-memory">
            <a:extLst xmlns:a="http://schemas.openxmlformats.org/drawingml/2006/main">
              <a:ext uri="{FF2B5EF4-FFF2-40B4-BE49-F238E27FC236}">
                <a16:creationId xmlns:a16="http://schemas.microsoft.com/office/drawing/2014/main" id="{7F128F22-1958-436A-8771-D5907FA3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Persistent fitness memory</a:t>
            </a:r>
          </a:p>
        </p:txBody>
      </p:sp>
      <p:sp>
        <p:nvSpPr>
          <p:cNvPr id="31" name="cell-2-1">
            <a:extLst xmlns:a="http://schemas.openxmlformats.org/drawingml/2006/main">
              <a:ext uri="{FF2B5EF4-FFF2-40B4-BE49-F238E27FC236}">
                <a16:creationId xmlns:a16="http://schemas.microsoft.com/office/drawing/2014/main" id="{A4A63543-0F6D-47CF-9930-70244D57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2" name="low">
            <a:extLst xmlns:a="http://schemas.openxmlformats.org/drawingml/2006/main">
              <a:ext uri="{FF2B5EF4-FFF2-40B4-BE49-F238E27FC236}">
                <a16:creationId xmlns:a16="http://schemas.microsoft.com/office/drawing/2014/main" id="{F89703C9-E69E-443C-95C5-BB8626F9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3" name="cell-2-2">
            <a:extLst xmlns:a="http://schemas.openxmlformats.org/drawingml/2006/main">
              <a:ext uri="{FF2B5EF4-FFF2-40B4-BE49-F238E27FC236}">
                <a16:creationId xmlns:a16="http://schemas.microsoft.com/office/drawing/2014/main" id="{30FDC34E-E319-49E6-8217-589B0B27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4" name="low">
            <a:extLst xmlns:a="http://schemas.openxmlformats.org/drawingml/2006/main">
              <a:ext uri="{FF2B5EF4-FFF2-40B4-BE49-F238E27FC236}">
                <a16:creationId xmlns:a16="http://schemas.microsoft.com/office/drawing/2014/main" id="{EBE9833A-02A6-49B1-A933-ED6053D5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5" name="cell-2-3">
            <a:extLst xmlns:a="http://schemas.openxmlformats.org/drawingml/2006/main">
              <a:ext uri="{FF2B5EF4-FFF2-40B4-BE49-F238E27FC236}">
                <a16:creationId xmlns:a16="http://schemas.microsoft.com/office/drawing/2014/main" id="{78413D6E-F3A0-492A-866A-60463D6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6" name="medium">
            <a:extLst xmlns:a="http://schemas.openxmlformats.org/drawingml/2006/main">
              <a:ext uri="{FF2B5EF4-FFF2-40B4-BE49-F238E27FC236}">
                <a16:creationId xmlns:a16="http://schemas.microsoft.com/office/drawing/2014/main" id="{5D81EB09-EB20-4180-9409-F8452F33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37" name="cell-2-4">
            <a:extLst xmlns:a="http://schemas.openxmlformats.org/drawingml/2006/main">
              <a:ext uri="{FF2B5EF4-FFF2-40B4-BE49-F238E27FC236}">
                <a16:creationId xmlns:a16="http://schemas.microsoft.com/office/drawing/2014/main" id="{782C5206-B282-4A68-9479-59287227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5548630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38" name="high">
            <a:extLst xmlns:a="http://schemas.openxmlformats.org/drawingml/2006/main">
              <a:ext uri="{FF2B5EF4-FFF2-40B4-BE49-F238E27FC236}">
                <a16:creationId xmlns:a16="http://schemas.microsoft.com/office/drawing/2014/main" id="{6CFD82D6-7E86-47BD-8216-099F5F37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676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39" name="cell-3-0">
            <a:extLst xmlns:a="http://schemas.openxmlformats.org/drawingml/2006/main">
              <a:ext uri="{FF2B5EF4-FFF2-40B4-BE49-F238E27FC236}">
                <a16:creationId xmlns:a16="http://schemas.microsoft.com/office/drawing/2014/main" id="{EDFE12AE-201A-416B-B5A0-B95D69A6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2843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0" name="emotional-accountability">
            <a:extLst xmlns:a="http://schemas.openxmlformats.org/drawingml/2006/main">
              <a:ext uri="{FF2B5EF4-FFF2-40B4-BE49-F238E27FC236}">
                <a16:creationId xmlns:a16="http://schemas.microsoft.com/office/drawing/2014/main" id="{38ECD8DE-4705-473C-BCA3-16C0EA3C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484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Emotional accountability</a:t>
            </a:r>
          </a:p>
        </p:txBody>
      </p:sp>
      <p:sp>
        <p:nvSpPr>
          <p:cNvPr id="41" name="cell-3-1">
            <a:extLst xmlns:a="http://schemas.openxmlformats.org/drawingml/2006/main">
              <a:ext uri="{FF2B5EF4-FFF2-40B4-BE49-F238E27FC236}">
                <a16:creationId xmlns:a16="http://schemas.microsoft.com/office/drawing/2014/main" id="{C3D05968-FB6C-4E34-9D0F-23877376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2" name="low">
            <a:extLst xmlns:a="http://schemas.openxmlformats.org/drawingml/2006/main">
              <a:ext uri="{FF2B5EF4-FFF2-40B4-BE49-F238E27FC236}">
                <a16:creationId xmlns:a16="http://schemas.microsoft.com/office/drawing/2014/main" id="{B56375E1-7C2D-4A3C-88B5-2CBC567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43" name="cell-3-2">
            <a:extLst xmlns:a="http://schemas.openxmlformats.org/drawingml/2006/main">
              <a:ext uri="{FF2B5EF4-FFF2-40B4-BE49-F238E27FC236}">
                <a16:creationId xmlns:a16="http://schemas.microsoft.com/office/drawing/2014/main" id="{5B4D6229-C51B-4330-901E-9BC8E924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4" name="medium">
            <a:extLst xmlns:a="http://schemas.openxmlformats.org/drawingml/2006/main">
              <a:ext uri="{FF2B5EF4-FFF2-40B4-BE49-F238E27FC236}">
                <a16:creationId xmlns:a16="http://schemas.microsoft.com/office/drawing/2014/main" id="{83C4331F-BC10-4A45-8091-8ABB074A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5" name="cell-3-3">
            <a:extLst xmlns:a="http://schemas.openxmlformats.org/drawingml/2006/main">
              <a:ext uri="{FF2B5EF4-FFF2-40B4-BE49-F238E27FC236}">
                <a16:creationId xmlns:a16="http://schemas.microsoft.com/office/drawing/2014/main" id="{92198A45-08D1-45AD-9C48-731A733A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6" name="medium">
            <a:extLst xmlns:a="http://schemas.openxmlformats.org/drawingml/2006/main">
              <a:ext uri="{FF2B5EF4-FFF2-40B4-BE49-F238E27FC236}">
                <a16:creationId xmlns:a16="http://schemas.microsoft.com/office/drawing/2014/main" id="{706FF671-0C18-4B3F-ACCF-1EABDB5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7" name="cell-3-4">
            <a:extLst xmlns:a="http://schemas.openxmlformats.org/drawingml/2006/main">
              <a:ext uri="{FF2B5EF4-FFF2-40B4-BE49-F238E27FC236}">
                <a16:creationId xmlns:a16="http://schemas.microsoft.com/office/drawing/2014/main" id="{0255CB56-5002-4616-B4B2-51CB180F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652843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48" name="high">
            <a:extLst xmlns:a="http://schemas.openxmlformats.org/drawingml/2006/main">
              <a:ext uri="{FF2B5EF4-FFF2-40B4-BE49-F238E27FC236}">
                <a16:creationId xmlns:a16="http://schemas.microsoft.com/office/drawing/2014/main" id="{D2EF6CA2-F76B-4D5D-BE22-129BF8A4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66484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49" name="cell-4-0">
            <a:extLst xmlns:a="http://schemas.openxmlformats.org/drawingml/2006/main">
              <a:ext uri="{FF2B5EF4-FFF2-40B4-BE49-F238E27FC236}">
                <a16:creationId xmlns:a16="http://schemas.microsoft.com/office/drawing/2014/main" id="{E2600064-BE61-4AB6-81FB-E6B76F7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08240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0" name="community-loop">
            <a:extLst xmlns:a="http://schemas.openxmlformats.org/drawingml/2006/main">
              <a:ext uri="{FF2B5EF4-FFF2-40B4-BE49-F238E27FC236}">
                <a16:creationId xmlns:a16="http://schemas.microsoft.com/office/drawing/2014/main" id="{282BB86B-B059-488C-94BA-D1E407D8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6390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51" name="cell-4-1">
            <a:extLst xmlns:a="http://schemas.openxmlformats.org/drawingml/2006/main">
              <a:ext uri="{FF2B5EF4-FFF2-40B4-BE49-F238E27FC236}">
                <a16:creationId xmlns:a16="http://schemas.microsoft.com/office/drawing/2014/main" id="{835A7F18-42D4-48CE-9712-E6008CFB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2" name="medium">
            <a:extLst xmlns:a="http://schemas.openxmlformats.org/drawingml/2006/main">
              <a:ext uri="{FF2B5EF4-FFF2-40B4-BE49-F238E27FC236}">
                <a16:creationId xmlns:a16="http://schemas.microsoft.com/office/drawing/2014/main" id="{A7D6E315-F937-4CEC-ACC7-B3200FF5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53" name="cell-4-2">
            <a:extLst xmlns:a="http://schemas.openxmlformats.org/drawingml/2006/main">
              <a:ext uri="{FF2B5EF4-FFF2-40B4-BE49-F238E27FC236}">
                <a16:creationId xmlns:a16="http://schemas.microsoft.com/office/drawing/2014/main" id="{22DDE1F4-A783-41DA-B76B-C386BCDB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4" name="none">
            <a:extLst xmlns:a="http://schemas.openxmlformats.org/drawingml/2006/main">
              <a:ext uri="{FF2B5EF4-FFF2-40B4-BE49-F238E27FC236}">
                <a16:creationId xmlns:a16="http://schemas.microsoft.com/office/drawing/2014/main" id="{B392497A-59F8-4526-B1E2-1B05C1EB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55" name="cell-4-3">
            <a:extLst xmlns:a="http://schemas.openxmlformats.org/drawingml/2006/main">
              <a:ext uri="{FF2B5EF4-FFF2-40B4-BE49-F238E27FC236}">
                <a16:creationId xmlns:a16="http://schemas.microsoft.com/office/drawing/2014/main" id="{0652059D-CEE0-4B46-A7B3-A8A0AEAD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6" name="low">
            <a:extLst xmlns:a="http://schemas.openxmlformats.org/drawingml/2006/main">
              <a:ext uri="{FF2B5EF4-FFF2-40B4-BE49-F238E27FC236}">
                <a16:creationId xmlns:a16="http://schemas.microsoft.com/office/drawing/2014/main" id="{912664F4-B5A0-42C5-AB2C-F9354884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57" name="cell-4-4">
            <a:extLst xmlns:a="http://schemas.openxmlformats.org/drawingml/2006/main">
              <a:ext uri="{FF2B5EF4-FFF2-40B4-BE49-F238E27FC236}">
                <a16:creationId xmlns:a16="http://schemas.microsoft.com/office/drawing/2014/main" id="{3ECC0A45-CACB-4066-9DA1-D8E355DD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7508240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58" name="high">
            <a:extLst xmlns:a="http://schemas.openxmlformats.org/drawingml/2006/main">
              <a:ext uri="{FF2B5EF4-FFF2-40B4-BE49-F238E27FC236}">
                <a16:creationId xmlns:a16="http://schemas.microsoft.com/office/drawing/2014/main" id="{3D554AA8-9ECB-40F1-88CA-48AA2EF4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76390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59" name="cell-5-0">
            <a:extLst xmlns:a="http://schemas.openxmlformats.org/drawingml/2006/main">
              <a:ext uri="{FF2B5EF4-FFF2-40B4-BE49-F238E27FC236}">
                <a16:creationId xmlns:a16="http://schemas.microsoft.com/office/drawing/2014/main" id="{1106EB3D-D425-4562-9410-93B5E381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8804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0" name="custom-ai-roadmap">
            <a:extLst xmlns:a="http://schemas.openxmlformats.org/drawingml/2006/main">
              <a:ext uri="{FF2B5EF4-FFF2-40B4-BE49-F238E27FC236}">
                <a16:creationId xmlns:a16="http://schemas.microsoft.com/office/drawing/2014/main" id="{8878F10C-A234-40A9-9F91-1EE9C7CF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106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Custom AI roadmap</a:t>
            </a:r>
          </a:p>
        </p:txBody>
      </p:sp>
      <p:sp>
        <p:nvSpPr>
          <p:cNvPr id="61" name="cell-5-1">
            <a:extLst xmlns:a="http://schemas.openxmlformats.org/drawingml/2006/main">
              <a:ext uri="{FF2B5EF4-FFF2-40B4-BE49-F238E27FC236}">
                <a16:creationId xmlns:a16="http://schemas.microsoft.com/office/drawing/2014/main" id="{45BD98FB-32DF-4D66-8666-795296AE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2" name="low">
            <a:extLst xmlns:a="http://schemas.openxmlformats.org/drawingml/2006/main">
              <a:ext uri="{FF2B5EF4-FFF2-40B4-BE49-F238E27FC236}">
                <a16:creationId xmlns:a16="http://schemas.microsoft.com/office/drawing/2014/main" id="{AFBD1775-EDDF-48BF-A586-9ADAE096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63" name="cell-5-2">
            <a:extLst xmlns:a="http://schemas.openxmlformats.org/drawingml/2006/main">
              <a:ext uri="{FF2B5EF4-FFF2-40B4-BE49-F238E27FC236}">
                <a16:creationId xmlns:a16="http://schemas.microsoft.com/office/drawing/2014/main" id="{51271404-4736-4FA6-89AB-8A9FCE09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4" name="none">
            <a:extLst xmlns:a="http://schemas.openxmlformats.org/drawingml/2006/main">
              <a:ext uri="{FF2B5EF4-FFF2-40B4-BE49-F238E27FC236}">
                <a16:creationId xmlns:a16="http://schemas.microsoft.com/office/drawing/2014/main" id="{F72F3545-63A6-4679-96AD-0FD7417D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65" name="cell-5-3">
            <a:extLst xmlns:a="http://schemas.openxmlformats.org/drawingml/2006/main">
              <a:ext uri="{FF2B5EF4-FFF2-40B4-BE49-F238E27FC236}">
                <a16:creationId xmlns:a16="http://schemas.microsoft.com/office/drawing/2014/main" id="{80B9E7D5-A09C-455F-84EB-74B45E0D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6" name="medium">
            <a:extLst xmlns:a="http://schemas.openxmlformats.org/drawingml/2006/main">
              <a:ext uri="{FF2B5EF4-FFF2-40B4-BE49-F238E27FC236}">
                <a16:creationId xmlns:a16="http://schemas.microsoft.com/office/drawing/2014/main" id="{050C3E5E-D418-4A34-9CFA-E21F7A69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67" name="cell-5-4">
            <a:extLst xmlns:a="http://schemas.openxmlformats.org/drawingml/2006/main">
              <a:ext uri="{FF2B5EF4-FFF2-40B4-BE49-F238E27FC236}">
                <a16:creationId xmlns:a16="http://schemas.microsoft.com/office/drawing/2014/main" id="{3C7492AB-C299-4C65-94A4-2388A2C0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848804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68" name="high">
            <a:extLst xmlns:a="http://schemas.openxmlformats.org/drawingml/2006/main">
              <a:ext uri="{FF2B5EF4-FFF2-40B4-BE49-F238E27FC236}">
                <a16:creationId xmlns:a16="http://schemas.microsoft.com/office/drawing/2014/main" id="{15B025A5-E02B-49E6-BC68-45AE5A14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6106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7411848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0701386-9803-4758-BA8D-7D4F0AE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E9415726-F849-4B39-AF86-9098D959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65D3E2F-8718-47E0-BC99-A2B68BB5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ADCE0A80-476C-4EC3-A8E3-536666E4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794A55B-EAF0-4E52-BBFE-88AB4F2B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BUSINESS MODEL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F51E35-B608-4503-BDC8-BF9D3F8C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496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Accessible core guidance. Scalable ecosystem revenue.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53130F-78B7-4571-9BD3-E15ABBFB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202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model avoids aggressive paywalls while still creating durable revenue through premium, partner, and institutional layers.</a:t>
            </a:r>
          </a:p>
        </p:txBody>
      </p:sp>
      <p:sp>
        <p:nvSpPr>
          <p:cNvPr id="8" name="biz-free">
            <a:extLst xmlns:a="http://schemas.openxmlformats.org/drawingml/2006/main">
              <a:ext uri="{FF2B5EF4-FFF2-40B4-BE49-F238E27FC236}">
                <a16:creationId xmlns:a16="http://schemas.microsoft.com/office/drawing/2014/main" id="{9F0C5D2E-C866-4DF8-AA28-D34BA7FB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free-core">
            <a:extLst xmlns:a="http://schemas.openxmlformats.org/drawingml/2006/main">
              <a:ext uri="{FF2B5EF4-FFF2-40B4-BE49-F238E27FC236}">
                <a16:creationId xmlns:a16="http://schemas.microsoft.com/office/drawing/2014/main" id="{416D4FC2-A361-4DFC-B531-FFA3A642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8BFFB8"/>
                </a:solidFill>
              </a:defRPr>
            </a:pPr>
            <a:r>
              <a:rPr sz="2700" b="1" i="0">
                <a:solidFill>
                  <a:srgbClr val="8BFFB8"/>
                </a:solidFill>
              </a:rPr>
              <a:t>Free Core</a:t>
            </a:r>
          </a:p>
        </p:txBody>
      </p:sp>
      <p:sp>
        <p:nvSpPr>
          <p:cNvPr id="10" name="basic-workouts-health-guidance-community-acce">
            <a:extLst xmlns:a="http://schemas.openxmlformats.org/drawingml/2006/main">
              <a:ext uri="{FF2B5EF4-FFF2-40B4-BE49-F238E27FC236}">
                <a16:creationId xmlns:a16="http://schemas.microsoft.com/office/drawing/2014/main" id="{050982DC-8878-44BF-879E-AA83AC15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Basic workouts, health guidance, community access, and lightweight AI support.</a:t>
            </a:r>
          </a:p>
        </p:txBody>
      </p:sp>
      <p:sp>
        <p:nvSpPr>
          <p:cNvPr id="11" name="biz-premium">
            <a:extLst xmlns:a="http://schemas.openxmlformats.org/drawingml/2006/main">
              <a:ext uri="{FF2B5EF4-FFF2-40B4-BE49-F238E27FC236}">
                <a16:creationId xmlns:a16="http://schemas.microsoft.com/office/drawing/2014/main" id="{F2941060-7992-4089-B7D0-60457861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premium-ai">
            <a:extLst xmlns:a="http://schemas.openxmlformats.org/drawingml/2006/main">
              <a:ext uri="{FF2B5EF4-FFF2-40B4-BE49-F238E27FC236}">
                <a16:creationId xmlns:a16="http://schemas.microsoft.com/office/drawing/2014/main" id="{D434278D-1A97-4090-9A39-77D85B8A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Premium AI</a:t>
            </a:r>
          </a:p>
        </p:txBody>
      </p:sp>
      <p:sp>
        <p:nvSpPr>
          <p:cNvPr id="13" name="advanced-coaching-personalization-plan-genera">
            <a:extLst xmlns:a="http://schemas.openxmlformats.org/drawingml/2006/main">
              <a:ext uri="{FF2B5EF4-FFF2-40B4-BE49-F238E27FC236}">
                <a16:creationId xmlns:a16="http://schemas.microsoft.com/office/drawing/2014/main" id="{8159E498-C060-49B1-B110-5E15D95F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Advanced coaching, personalization, plan generation, habit analytics, and deeper memory.</a:t>
            </a:r>
          </a:p>
        </p:txBody>
      </p:sp>
      <p:sp>
        <p:nvSpPr>
          <p:cNvPr id="14" name="biz-b2b">
            <a:extLst xmlns:a="http://schemas.openxmlformats.org/drawingml/2006/main">
              <a:ext uri="{FF2B5EF4-FFF2-40B4-BE49-F238E27FC236}">
                <a16:creationId xmlns:a16="http://schemas.microsoft.com/office/drawing/2014/main" id="{DBF2B340-5683-4C1B-A280-2E8092B0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b2b-gyms">
            <a:extLst xmlns:a="http://schemas.openxmlformats.org/drawingml/2006/main">
              <a:ext uri="{FF2B5EF4-FFF2-40B4-BE49-F238E27FC236}">
                <a16:creationId xmlns:a16="http://schemas.microsoft.com/office/drawing/2014/main" id="{9ACC4B18-D555-41D6-A13C-28C2AAA9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54E4FF"/>
                </a:solidFill>
              </a:defRPr>
            </a:pPr>
            <a:r>
              <a:rPr sz="2700" b="1" i="0">
                <a:solidFill>
                  <a:srgbClr val="54E4FF"/>
                </a:solidFill>
              </a:rPr>
              <a:t>B2B / Gyms</a:t>
            </a:r>
          </a:p>
        </p:txBody>
      </p:sp>
      <p:sp>
        <p:nvSpPr>
          <p:cNvPr id="16" name="gym-dashboards-trainer-tools-student-fitness-">
            <a:extLst xmlns:a="http://schemas.openxmlformats.org/drawingml/2006/main">
              <a:ext uri="{FF2B5EF4-FFF2-40B4-BE49-F238E27FC236}">
                <a16:creationId xmlns:a16="http://schemas.microsoft.com/office/drawing/2014/main" id="{7DA8D907-D793-4D68-87BE-505E8F3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Gym dashboards, trainer tools, student fitness programs, and institutional wellness.</a:t>
            </a:r>
          </a:p>
        </p:txBody>
      </p:sp>
      <p:sp>
        <p:nvSpPr>
          <p:cNvPr id="17" name="biz-ecosystem">
            <a:extLst xmlns:a="http://schemas.openxmlformats.org/drawingml/2006/main">
              <a:ext uri="{FF2B5EF4-FFF2-40B4-BE49-F238E27FC236}">
                <a16:creationId xmlns:a16="http://schemas.microsoft.com/office/drawing/2014/main" id="{70FE8107-ACB8-48D9-980B-76CBDD9B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ai-ecosystem">
            <a:extLst xmlns:a="http://schemas.openxmlformats.org/drawingml/2006/main">
              <a:ext uri="{FF2B5EF4-FFF2-40B4-BE49-F238E27FC236}">
                <a16:creationId xmlns:a16="http://schemas.microsoft.com/office/drawing/2014/main" id="{C6B31D2E-7F85-4F69-94B5-7C8ECE4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CE73"/>
                </a:solidFill>
              </a:defRPr>
            </a:pPr>
            <a:r>
              <a:rPr sz="2700" b="1" i="0">
                <a:solidFill>
                  <a:srgbClr val="FFCE73"/>
                </a:solidFill>
              </a:rPr>
              <a:t>AI Ecosystem</a:t>
            </a:r>
          </a:p>
        </p:txBody>
      </p:sp>
      <p:sp>
        <p:nvSpPr>
          <p:cNvPr id="19" name="creator-programs-wearable-integrations-ai-gen">
            <a:extLst xmlns:a="http://schemas.openxmlformats.org/drawingml/2006/main">
              <a:ext uri="{FF2B5EF4-FFF2-40B4-BE49-F238E27FC236}">
                <a16:creationId xmlns:a16="http://schemas.microsoft.com/office/drawing/2014/main" id="{3BB8A319-5912-4AE2-A694-DA136D3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programs, wearable integrations, AI-generated content, and technical licensing.</a:t>
            </a:r>
          </a:p>
        </p:txBody>
      </p:sp>
    </p:spTree>
    <p:extLst>
      <p:ext uri="{BB962C8B-B14F-4D97-AF65-F5344CB8AC3E}">
        <p14:creationId xmlns:p14="http://schemas.microsoft.com/office/powerpoint/2010/main" val="6701449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F9D3E8A-E5F4-4837-A3CF-20B8D609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92AAF297-7CBE-4ABB-9549-07229331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A7727E84-EC6E-46B6-85A0-F2BCFC4F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dedicated-philosophy">
            <a:extLst xmlns:a="http://schemas.openxmlformats.org/drawingml/2006/main">
              <a:ext uri="{FF2B5EF4-FFF2-40B4-BE49-F238E27FC236}">
                <a16:creationId xmlns:a16="http://schemas.microsoft.com/office/drawing/2014/main" id="{32E2E7D7-DAE8-48BD-9E36-B70EA124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5945"/>
            <a:ext cx="32194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5229D-41DD-4295-917B-C74674B0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280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Dedicated Philosophy</a:t>
            </a:r>
          </a:p>
        </p:txBody>
      </p:sp>
      <p:sp>
        <p:nvSpPr>
          <p:cNvPr id="6" name="accessible-ai-philosophy">
            <a:extLst xmlns:a="http://schemas.openxmlformats.org/drawingml/2006/main">
              <a:ext uri="{FF2B5EF4-FFF2-40B4-BE49-F238E27FC236}">
                <a16:creationId xmlns:a16="http://schemas.microsoft.com/office/drawing/2014/main" id="{68BE4F0C-2A37-4F0B-A93B-B1A1F030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75438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8F5EF"/>
                </a:solidFill>
              </a:defRPr>
            </a:pPr>
            <a:r>
              <a:rPr sz="5850" b="1" i="0">
                <a:solidFill>
                  <a:srgbClr val="F8F5EF"/>
                </a:solidFill>
              </a:rPr>
              <a:t>Accessible AI Philosophy</a:t>
            </a:r>
          </a:p>
        </p:txBody>
      </p:sp>
      <p:sp>
        <p:nvSpPr>
          <p:cNvPr id="7" name="ai-for-human-improvement-not-ai-for-exploitat">
            <a:extLst xmlns:a="http://schemas.openxmlformats.org/drawingml/2006/main">
              <a:ext uri="{FF2B5EF4-FFF2-40B4-BE49-F238E27FC236}">
                <a16:creationId xmlns:a16="http://schemas.microsoft.com/office/drawing/2014/main" id="{AEF74A36-67F5-43D8-B3C3-9FA9A4F3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049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2E3A"/>
                </a:solidFill>
              </a:defRPr>
            </a:pPr>
            <a:r>
              <a:rPr sz="3900" b="1" i="0">
                <a:solidFill>
                  <a:srgbClr val="FF2E3A"/>
                </a:solidFill>
              </a:rPr>
              <a:t>AI for human improvement, not AI for exploitation.</a:t>
            </a:r>
          </a:p>
        </p:txBody>
      </p:sp>
      <p:sp>
        <p:nvSpPr>
          <p:cNvPr id="8" name="access-1">
            <a:extLst xmlns:a="http://schemas.openxmlformats.org/drawingml/2006/main">
              <a:ext uri="{FF2B5EF4-FFF2-40B4-BE49-F238E27FC236}">
                <a16:creationId xmlns:a16="http://schemas.microsoft.com/office/drawing/2014/main" id="{719F12D8-728B-48D8-95BD-49135D08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832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ore-health-guidance-should-remain-accessible">
            <a:extLst xmlns:a="http://schemas.openxmlformats.org/drawingml/2006/main">
              <a:ext uri="{FF2B5EF4-FFF2-40B4-BE49-F238E27FC236}">
                <a16:creationId xmlns:a16="http://schemas.microsoft.com/office/drawing/2014/main" id="{A1574FA8-4398-4D16-A678-43C5C475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47434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Core health guidance should remain accessible.</a:t>
            </a:r>
          </a:p>
        </p:txBody>
      </p:sp>
      <p:sp>
        <p:nvSpPr>
          <p:cNvPr id="10" name="access-2">
            <a:extLst xmlns:a="http://schemas.openxmlformats.org/drawingml/2006/main">
              <a:ext uri="{FF2B5EF4-FFF2-40B4-BE49-F238E27FC236}">
                <a16:creationId xmlns:a16="http://schemas.microsoft.com/office/drawing/2014/main" id="{0F5AAB92-090E-4E04-8EF0-B15A9840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564832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1" name="ai-wellness-systems-should-not-be-hidden-behi">
            <a:extLst xmlns:a="http://schemas.openxmlformats.org/drawingml/2006/main">
              <a:ext uri="{FF2B5EF4-FFF2-40B4-BE49-F238E27FC236}">
                <a16:creationId xmlns:a16="http://schemas.microsoft.com/office/drawing/2014/main" id="{5739E8E3-2527-4ABB-ABB1-D487E2C6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05500"/>
            <a:ext cx="4743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AI wellness systems should not be hidden behind aggressive subscriptions.</a:t>
            </a:r>
          </a:p>
        </p:txBody>
      </p:sp>
      <p:sp>
        <p:nvSpPr>
          <p:cNvPr id="12" name="access-3">
            <a:extLst xmlns:a="http://schemas.openxmlformats.org/drawingml/2006/main">
              <a:ext uri="{FF2B5EF4-FFF2-40B4-BE49-F238E27FC236}">
                <a16:creationId xmlns:a16="http://schemas.microsoft.com/office/drawing/2014/main" id="{37147C98-0468-4B6F-8925-9F78CC7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564832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scale-should-come-from-partnerships-innovatio">
            <a:extLst xmlns:a="http://schemas.openxmlformats.org/drawingml/2006/main">
              <a:ext uri="{FF2B5EF4-FFF2-40B4-BE49-F238E27FC236}">
                <a16:creationId xmlns:a16="http://schemas.microsoft.com/office/drawing/2014/main" id="{B3085322-1C5E-4AA4-8478-80AE4A82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905500"/>
            <a:ext cx="4743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Scale should come from partnerships, innovation, infrastructure, and institutions.</a:t>
            </a:r>
          </a:p>
        </p:txBody>
      </p:sp>
      <p:sp>
        <p:nvSpPr>
          <p:cNvPr id="14" name="grindhaus-ai-aims-to-grow-through-ecosystem-p">
            <a:extLst xmlns:a="http://schemas.openxmlformats.org/drawingml/2006/main">
              <a:ext uri="{FF2B5EF4-FFF2-40B4-BE49-F238E27FC236}">
                <a16:creationId xmlns:a16="http://schemas.microsoft.com/office/drawing/2014/main" id="{C5C4F8A2-ADBF-4C3D-A20A-DDD3DFAB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0"/>
            <a:ext cx="1381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8C2B8"/>
                </a:solidFill>
              </a:defRPr>
            </a:pPr>
            <a:r>
              <a:rPr sz="2100" b="0" i="0">
                <a:solidFill>
                  <a:srgbClr val="C8C2B8"/>
                </a:solidFill>
              </a:rPr>
              <a:t>GrindHaus AI aims to grow through ecosystem partnerships, technical infrastructure, institutional collaboration, and responsible innovation.</a:t>
            </a:r>
          </a:p>
        </p:txBody>
      </p:sp>
    </p:spTree>
    <p:extLst>
      <p:ext uri="{BB962C8B-B14F-4D97-AF65-F5344CB8AC3E}">
        <p14:creationId xmlns:p14="http://schemas.microsoft.com/office/powerpoint/2010/main" val="11206028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17A881A-CE05-4017-B17D-B8B53AF9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C00A27BA-E8CD-4B58-813C-6434A476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5C9D96B-0D1D-4DAA-AA41-3389FE38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36E0C57D-6F3E-4EA9-9E30-8D3587D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E5A8B751-D769-4E17-A4E7-760B4E6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ROADMAP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9C0C91-F0EB-4815-9124-56F7CC33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7726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realistic path from MVP to AI ecosystem.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BAAF00-0C68-4892-BFD1-76F249DE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248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Each phase increases technical depth, user value, and institutional research potential.</a:t>
            </a:r>
          </a:p>
        </p:txBody>
      </p:sp>
      <p:sp>
        <p:nvSpPr>
          <p:cNvPr id="8" name="phase-chip-0">
            <a:extLst xmlns:a="http://schemas.openxmlformats.org/drawingml/2006/main">
              <a:ext uri="{FF2B5EF4-FFF2-40B4-BE49-F238E27FC236}">
                <a16:creationId xmlns:a16="http://schemas.microsoft.com/office/drawing/2014/main" id="{FB11B76A-C483-40CC-AE83-D0191EE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9" name="phase-1">
            <a:extLst xmlns:a="http://schemas.openxmlformats.org/drawingml/2006/main">
              <a:ext uri="{FF2B5EF4-FFF2-40B4-BE49-F238E27FC236}">
                <a16:creationId xmlns:a16="http://schemas.microsoft.com/office/drawing/2014/main" id="{FD87FE62-5911-40E5-993E-1F3DE314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1</a:t>
            </a:r>
          </a:p>
        </p:txBody>
      </p:sp>
      <p:sp>
        <p:nvSpPr>
          <p:cNvPr id="10" name="phase-card-0">
            <a:extLst xmlns:a="http://schemas.openxmlformats.org/drawingml/2006/main">
              <a:ext uri="{FF2B5EF4-FFF2-40B4-BE49-F238E27FC236}">
                <a16:creationId xmlns:a16="http://schemas.microsoft.com/office/drawing/2014/main" id="{24AE6A04-FD60-4257-A3CE-ECC38549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11" name="frontend-platform">
            <a:extLst xmlns:a="http://schemas.openxmlformats.org/drawingml/2006/main">
              <a:ext uri="{FF2B5EF4-FFF2-40B4-BE49-F238E27FC236}">
                <a16:creationId xmlns:a16="http://schemas.microsoft.com/office/drawing/2014/main" id="{AAA78ABC-1926-4275-8D7B-2811BD52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Frontend Platform</a:t>
            </a:r>
          </a:p>
        </p:txBody>
      </p:sp>
      <p:sp>
        <p:nvSpPr>
          <p:cNvPr id="12" name="landing-routes-workout-nutrition-community-ui">
            <a:extLst xmlns:a="http://schemas.openxmlformats.org/drawingml/2006/main">
              <a:ext uri="{FF2B5EF4-FFF2-40B4-BE49-F238E27FC236}">
                <a16:creationId xmlns:a16="http://schemas.microsoft.com/office/drawing/2014/main" id="{2BB09240-D232-4219-9C49-A7018D3F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659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Landing, routes, workout/nutrition/community UI, auth-ready product.</a:t>
            </a:r>
          </a:p>
        </p:txBody>
      </p:sp>
      <p:sp>
        <p:nvSpPr>
          <p:cNvPr id="13" name="phase-chip-1">
            <a:extLst xmlns:a="http://schemas.openxmlformats.org/drawingml/2006/main">
              <a:ext uri="{FF2B5EF4-FFF2-40B4-BE49-F238E27FC236}">
                <a16:creationId xmlns:a16="http://schemas.microsoft.com/office/drawing/2014/main" id="{45AE9329-EE0C-4A1A-848F-7170C97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4" name="phase-2">
            <a:extLst xmlns:a="http://schemas.openxmlformats.org/drawingml/2006/main">
              <a:ext uri="{FF2B5EF4-FFF2-40B4-BE49-F238E27FC236}">
                <a16:creationId xmlns:a16="http://schemas.microsoft.com/office/drawing/2014/main" id="{1B1E16A4-7FAD-4AC8-9079-35EEFBD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2</a:t>
            </a:r>
          </a:p>
        </p:txBody>
      </p:sp>
      <p:sp>
        <p:nvSpPr>
          <p:cNvPr id="15" name="phase-card-1">
            <a:extLst xmlns:a="http://schemas.openxmlformats.org/drawingml/2006/main">
              <a:ext uri="{FF2B5EF4-FFF2-40B4-BE49-F238E27FC236}">
                <a16:creationId xmlns:a16="http://schemas.microsoft.com/office/drawing/2014/main" id="{F211191B-A8AD-4CEE-B3E9-63E2C829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16" name="ai-companion">
            <a:extLst xmlns:a="http://schemas.openxmlformats.org/drawingml/2006/main">
              <a:ext uri="{FF2B5EF4-FFF2-40B4-BE49-F238E27FC236}">
                <a16:creationId xmlns:a16="http://schemas.microsoft.com/office/drawing/2014/main" id="{FF5F0390-CE27-4EE6-8230-B69BB39F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0065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AI Companion</a:t>
            </a:r>
          </a:p>
        </p:txBody>
      </p:sp>
      <p:sp>
        <p:nvSpPr>
          <p:cNvPr id="17" name="memory-chat-habit-tracking-reminders-dashboar">
            <a:extLst xmlns:a="http://schemas.openxmlformats.org/drawingml/2006/main">
              <a:ext uri="{FF2B5EF4-FFF2-40B4-BE49-F238E27FC236}">
                <a16:creationId xmlns:a16="http://schemas.microsoft.com/office/drawing/2014/main" id="{8034DD32-2DD8-4328-BE01-84092B6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634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Memory, chat, habit tracking, reminders, dashboard personalization.</a:t>
            </a:r>
          </a:p>
        </p:txBody>
      </p:sp>
      <p:sp>
        <p:nvSpPr>
          <p:cNvPr id="18" name="phase-chip-2">
            <a:extLst xmlns:a="http://schemas.openxmlformats.org/drawingml/2006/main">
              <a:ext uri="{FF2B5EF4-FFF2-40B4-BE49-F238E27FC236}">
                <a16:creationId xmlns:a16="http://schemas.microsoft.com/office/drawing/2014/main" id="{5E5BFBC5-E40E-4BC6-AEFB-BB1A782E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9" name="phase-3">
            <a:extLst xmlns:a="http://schemas.openxmlformats.org/drawingml/2006/main">
              <a:ext uri="{FF2B5EF4-FFF2-40B4-BE49-F238E27FC236}">
                <a16:creationId xmlns:a16="http://schemas.microsoft.com/office/drawing/2014/main" id="{A6343EFA-3D17-4E63-BDF2-A3FF21A5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436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3</a:t>
            </a:r>
          </a:p>
        </p:txBody>
      </p:sp>
      <p:sp>
        <p:nvSpPr>
          <p:cNvPr id="20" name="phase-card-2">
            <a:extLst xmlns:a="http://schemas.openxmlformats.org/drawingml/2006/main">
              <a:ext uri="{FF2B5EF4-FFF2-40B4-BE49-F238E27FC236}">
                <a16:creationId xmlns:a16="http://schemas.microsoft.com/office/drawing/2014/main" id="{AAA83B1A-658D-4EEA-9280-1B4A3527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150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custom-model-research">
            <a:extLst xmlns:a="http://schemas.openxmlformats.org/drawingml/2006/main">
              <a:ext uri="{FF2B5EF4-FFF2-40B4-BE49-F238E27FC236}">
                <a16:creationId xmlns:a16="http://schemas.microsoft.com/office/drawing/2014/main" id="{7531EC5B-16DF-4CD3-8D4F-471A3987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3627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Custom Model Research</a:t>
            </a:r>
          </a:p>
        </p:txBody>
      </p:sp>
      <p:sp>
        <p:nvSpPr>
          <p:cNvPr id="22" name="dataset-generation-dual-mode-routing-transfor">
            <a:extLst xmlns:a="http://schemas.openxmlformats.org/drawingml/2006/main">
              <a:ext uri="{FF2B5EF4-FFF2-40B4-BE49-F238E27FC236}">
                <a16:creationId xmlns:a16="http://schemas.microsoft.com/office/drawing/2014/main" id="{FBA31F98-7CD4-4B1E-AAA2-4C1E4150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2865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Dataset generation, dual-mode routing, transformer training experiments.</a:t>
            </a:r>
          </a:p>
        </p:txBody>
      </p:sp>
      <p:sp>
        <p:nvSpPr>
          <p:cNvPr id="23" name="phase-chip-3">
            <a:extLst xmlns:a="http://schemas.openxmlformats.org/drawingml/2006/main">
              <a:ext uri="{FF2B5EF4-FFF2-40B4-BE49-F238E27FC236}">
                <a16:creationId xmlns:a16="http://schemas.microsoft.com/office/drawing/2014/main" id="{80D40330-EEF0-416A-A644-FCC3AADA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3425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4" name="phase-4">
            <a:extLst xmlns:a="http://schemas.openxmlformats.org/drawingml/2006/main">
              <a:ext uri="{FF2B5EF4-FFF2-40B4-BE49-F238E27FC236}">
                <a16:creationId xmlns:a16="http://schemas.microsoft.com/office/drawing/2014/main" id="{4EB0D490-CCB2-4488-865D-CA6C94A3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5057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4</a:t>
            </a:r>
          </a:p>
        </p:txBody>
      </p:sp>
      <p:sp>
        <p:nvSpPr>
          <p:cNvPr id="25" name="phase-card-3">
            <a:extLst xmlns:a="http://schemas.openxmlformats.org/drawingml/2006/main">
              <a:ext uri="{FF2B5EF4-FFF2-40B4-BE49-F238E27FC236}">
                <a16:creationId xmlns:a16="http://schemas.microsoft.com/office/drawing/2014/main" id="{74E61A85-0B49-49E1-9FA5-F35C4E10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7710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6" name="video-ai-wearables">
            <a:extLst xmlns:a="http://schemas.openxmlformats.org/drawingml/2006/main">
              <a:ext uri="{FF2B5EF4-FFF2-40B4-BE49-F238E27FC236}">
                <a16:creationId xmlns:a16="http://schemas.microsoft.com/office/drawing/2014/main" id="{7A69C634-DC6F-4F49-BC46-F3374E8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52475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Video AI + Wearables</a:t>
            </a:r>
          </a:p>
        </p:txBody>
      </p:sp>
      <p:sp>
        <p:nvSpPr>
          <p:cNvPr id="27" name="form-analysis-generated-coaching-content-wear">
            <a:extLst xmlns:a="http://schemas.openxmlformats.org/drawingml/2006/main">
              <a:ext uri="{FF2B5EF4-FFF2-40B4-BE49-F238E27FC236}">
                <a16:creationId xmlns:a16="http://schemas.microsoft.com/office/drawing/2014/main" id="{2CDC39B3-1E6E-4AA5-86C9-1F764FAF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5819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Form analysis, generated coaching content, wearable notification loops.</a:t>
            </a:r>
          </a:p>
        </p:txBody>
      </p:sp>
      <p:sp>
        <p:nvSpPr>
          <p:cNvPr id="28" name="phase-chip-4">
            <a:extLst xmlns:a="http://schemas.openxmlformats.org/drawingml/2006/main">
              <a:ext uri="{FF2B5EF4-FFF2-40B4-BE49-F238E27FC236}">
                <a16:creationId xmlns:a16="http://schemas.microsoft.com/office/drawing/2014/main" id="{0D36AA1B-E34C-4082-ABD5-4A89D75F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963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9" name="phase-5">
            <a:extLst xmlns:a="http://schemas.openxmlformats.org/drawingml/2006/main">
              <a:ext uri="{FF2B5EF4-FFF2-40B4-BE49-F238E27FC236}">
                <a16:creationId xmlns:a16="http://schemas.microsoft.com/office/drawing/2014/main" id="{9E403C57-9A48-4241-B838-7BBC96E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6677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5</a:t>
            </a:r>
          </a:p>
        </p:txBody>
      </p:sp>
      <p:sp>
        <p:nvSpPr>
          <p:cNvPr id="30" name="phase-card-4">
            <a:extLst xmlns:a="http://schemas.openxmlformats.org/drawingml/2006/main">
              <a:ext uri="{FF2B5EF4-FFF2-40B4-BE49-F238E27FC236}">
                <a16:creationId xmlns:a16="http://schemas.microsoft.com/office/drawing/2014/main" id="{B5F5472E-B9A7-4AB6-ACE8-A9F7EF99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4391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1" name="global-ecosystem">
            <a:extLst xmlns:a="http://schemas.openxmlformats.org/drawingml/2006/main">
              <a:ext uri="{FF2B5EF4-FFF2-40B4-BE49-F238E27FC236}">
                <a16:creationId xmlns:a16="http://schemas.microsoft.com/office/drawing/2014/main" id="{41C0AC13-6BEB-43D6-88FB-1BE0D3C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6868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Global Ecosystem</a:t>
            </a:r>
          </a:p>
        </p:txBody>
      </p:sp>
      <p:sp>
        <p:nvSpPr>
          <p:cNvPr id="32" name="creator-marketplace-gym-partnerships-multilin">
            <a:extLst xmlns:a="http://schemas.openxmlformats.org/drawingml/2006/main">
              <a:ext uri="{FF2B5EF4-FFF2-40B4-BE49-F238E27FC236}">
                <a16:creationId xmlns:a16="http://schemas.microsoft.com/office/drawing/2014/main" id="{5B9F1FA0-283E-4544-A729-F0A8F1AD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610600"/>
            <a:ext cx="670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marketplace, gym partnerships, multilingual AI, Indian AI export.</a:t>
            </a:r>
          </a:p>
        </p:txBody>
      </p:sp>
    </p:spTree>
    <p:extLst>
      <p:ext uri="{BB962C8B-B14F-4D97-AF65-F5344CB8AC3E}">
        <p14:creationId xmlns:p14="http://schemas.microsoft.com/office/powerpoint/2010/main" val="10090152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7D1126B-9404-4C19-AAFE-2BDC74E4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C6F1C1C8-C42D-4EFC-AA06-B14BA2D8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F1E83DE-16C6-46DA-96B8-6718CBE9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8A27C2B4-A2FD-4099-B743-740BA5A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7FD2E68-FB04-4C61-85A0-D625F427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CIIIT SHOULD SUPPORT THIS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D15807-B873-4799-8E17-2DEFA28E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24015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national-level AI product can start from Chandrapur.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451E36-170A-447B-9FD8-BF0E8A89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1487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AI aligns with innovation, incubation, skill development, applied AI, and emerging technology infrastructure.</a:t>
            </a:r>
          </a:p>
        </p:txBody>
      </p:sp>
      <p:sp>
        <p:nvSpPr>
          <p:cNvPr id="8" name="ciiit-left">
            <a:extLst xmlns:a="http://schemas.openxmlformats.org/drawingml/2006/main">
              <a:ext uri="{FF2B5EF4-FFF2-40B4-BE49-F238E27FC236}">
                <a16:creationId xmlns:a16="http://schemas.microsoft.com/office/drawing/2014/main" id="{59CFD4F9-9B7F-4649-9D48-794B7FAD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8105775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institutional-fit">
            <a:extLst xmlns:a="http://schemas.openxmlformats.org/drawingml/2006/main">
              <a:ext uri="{FF2B5EF4-FFF2-40B4-BE49-F238E27FC236}">
                <a16:creationId xmlns:a16="http://schemas.microsoft.com/office/drawing/2014/main" id="{BDA0B51F-6C71-486E-8743-B0A82763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54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8F5EF"/>
                </a:solidFill>
              </a:defRPr>
            </a:pPr>
            <a:r>
              <a:rPr sz="3750" b="1" i="0">
                <a:solidFill>
                  <a:srgbClr val="F8F5EF"/>
                </a:solidFill>
              </a:rPr>
              <a:t>Institutional Fit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E37C7D8-717D-4311-8D9E-D804D216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042B3D4A-7FCB-4443-89A7-252902EB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Student-led innovation with startup potential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F3D93D88-B6FF-426E-8055-5D444797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B771DD6A-0701-4914-A1DF-0C471879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579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research and model development pathway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73E78BF6-C3CE-40AD-8BD7-2C120BF2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1C4EBA05-331D-482A-98CD-6DA9BCAE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151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Hands-on full-stack engineering project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E48635E-B1B3-4007-8194-74709317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bullet-3">
            <a:extLst xmlns:a="http://schemas.openxmlformats.org/drawingml/2006/main">
              <a:ext uri="{FF2B5EF4-FFF2-40B4-BE49-F238E27FC236}">
                <a16:creationId xmlns:a16="http://schemas.microsoft.com/office/drawing/2014/main" id="{0B813899-5492-4E4E-872A-F94AF53B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723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Public-private innovation alignment</a:t>
            </a:r>
          </a:p>
        </p:txBody>
      </p:sp>
      <p:sp>
        <p:nvSpPr>
          <p:cNvPr id="18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30191FD0-6C55-4320-B9B2-44B91D54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2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9" name="bullet-4">
            <a:extLst xmlns:a="http://schemas.openxmlformats.org/drawingml/2006/main">
              <a:ext uri="{FF2B5EF4-FFF2-40B4-BE49-F238E27FC236}">
                <a16:creationId xmlns:a16="http://schemas.microsoft.com/office/drawing/2014/main" id="{86F13EA5-D3A6-4F33-81B2-7C872CB6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295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Potential for internships, training, and student participation</a:t>
            </a:r>
          </a:p>
        </p:txBody>
      </p:sp>
      <p:sp>
        <p:nvSpPr>
          <p:cNvPr id="20" name="ciiit-right">
            <a:extLst xmlns:a="http://schemas.openxmlformats.org/drawingml/2006/main">
              <a:ext uri="{FF2B5EF4-FFF2-40B4-BE49-F238E27FC236}">
                <a16:creationId xmlns:a16="http://schemas.microsoft.com/office/drawing/2014/main" id="{B3CE6371-79AE-4B6D-BE67-79C00A99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80460"/>
            <a:ext cx="8105775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21" name="ciiit-value-creation">
            <a:extLst xmlns:a="http://schemas.openxmlformats.org/drawingml/2006/main">
              <a:ext uri="{FF2B5EF4-FFF2-40B4-BE49-F238E27FC236}">
                <a16:creationId xmlns:a16="http://schemas.microsoft.com/office/drawing/2014/main" id="{F0343B9F-36AC-4B95-A9C1-12313EB6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81600"/>
            <a:ext cx="754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2E3A"/>
                </a:solidFill>
              </a:defRPr>
            </a:pPr>
            <a:r>
              <a:rPr sz="3750" b="1" i="0">
                <a:solidFill>
                  <a:srgbClr val="FF2E3A"/>
                </a:solidFill>
              </a:rPr>
              <a:t>CIIIT Value Creation</a:t>
            </a:r>
          </a:p>
        </p:txBody>
      </p:sp>
      <p:sp>
        <p:nvSpPr>
          <p:cNvPr id="2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598C533F-6625-4421-A67A-23D55291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BD2E4A15-9278-4FFB-A3D3-EC1C0214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Showcase AI incubation from GCOE Chandrapur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DD638D33-A82A-483E-9EFD-2BC29590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DBD766E1-4800-486D-8FA6-8D9B9C54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579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Create a local technical talent pipeline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7FC7AD9A-A04D-46EE-ADF3-16A26131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811737CC-F3A9-4DE6-B6B0-1935EFBA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9151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 GPU/infrastructure for applied AI research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1B61DAC0-1D03-4C49-80DD-07FAC370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6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3">
            <a:extLst xmlns:a="http://schemas.openxmlformats.org/drawingml/2006/main">
              <a:ext uri="{FF2B5EF4-FFF2-40B4-BE49-F238E27FC236}">
                <a16:creationId xmlns:a16="http://schemas.microsoft.com/office/drawing/2014/main" id="{B612E1A9-E485-4814-8CA6-F0128102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3723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Build a product that can represent regional innovation nationally</a:t>
            </a:r>
          </a:p>
        </p:txBody>
      </p:sp>
      <p:sp>
        <p:nvSpPr>
          <p:cNvPr id="30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60AF90B1-5857-41AD-9E20-57C9D9BC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92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4">
            <a:extLst xmlns:a="http://schemas.openxmlformats.org/drawingml/2006/main">
              <a:ext uri="{FF2B5EF4-FFF2-40B4-BE49-F238E27FC236}">
                <a16:creationId xmlns:a16="http://schemas.microsoft.com/office/drawing/2014/main" id="{E6635F07-402F-4F89-AB5F-07DAD972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8295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Connect academia, government, and startup execution</a:t>
            </a:r>
          </a:p>
        </p:txBody>
      </p:sp>
    </p:spTree>
    <p:extLst>
      <p:ext uri="{BB962C8B-B14F-4D97-AF65-F5344CB8AC3E}">
        <p14:creationId xmlns:p14="http://schemas.microsoft.com/office/powerpoint/2010/main" val="1563949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0E34588-07B8-4E7B-AB02-D18A0409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BD74CDF9-7867-4EDB-A951-70C4423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F071963-5514-4438-A021-69CA03C3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4232014B-C3F6-4846-AC13-F3AAB03C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43692040-C6DC-4B14-BDA7-1FD9C6F3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WHAT WE NEED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1B8CE9-6B6F-4C67-B98F-3540966B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192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Support that converts a strong MVP into a scalable AI venture.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174864-A6F2-43D1-AFDE-5BFD2BC7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00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ask is practical: infrastructure, mentorship, incubation, and technical guidance.</a:t>
            </a:r>
          </a:p>
        </p:txBody>
      </p:sp>
      <p:sp>
        <p:nvSpPr>
          <p:cNvPr id="8" name="need-gpu">
            <a:extLst xmlns:a="http://schemas.openxmlformats.org/drawingml/2006/main">
              <a:ext uri="{FF2B5EF4-FFF2-40B4-BE49-F238E27FC236}">
                <a16:creationId xmlns:a16="http://schemas.microsoft.com/office/drawing/2014/main" id="{5C7C0EB9-7998-4B14-93A6-FCC03D92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gpu-systems">
            <a:extLst xmlns:a="http://schemas.openxmlformats.org/drawingml/2006/main">
              <a:ext uri="{FF2B5EF4-FFF2-40B4-BE49-F238E27FC236}">
                <a16:creationId xmlns:a16="http://schemas.microsoft.com/office/drawing/2014/main" id="{CB128E3A-0064-4C5B-B07A-1C9DF7C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GPU Systems</a:t>
            </a:r>
          </a:p>
        </p:txBody>
      </p:sp>
      <p:sp>
        <p:nvSpPr>
          <p:cNvPr id="10" name="high-end-gpu-access-for-model-training-local-">
            <a:extLst xmlns:a="http://schemas.openxmlformats.org/drawingml/2006/main">
              <a:ext uri="{FF2B5EF4-FFF2-40B4-BE49-F238E27FC236}">
                <a16:creationId xmlns:a16="http://schemas.microsoft.com/office/drawing/2014/main" id="{EE4394BB-4327-4069-9A65-95AB739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High-end GPU access for model training, local inference tests, and AI video experiments.</a:t>
            </a:r>
          </a:p>
        </p:txBody>
      </p:sp>
      <p:sp>
        <p:nvSpPr>
          <p:cNvPr id="11" name="need-incubation">
            <a:extLst xmlns:a="http://schemas.openxmlformats.org/drawingml/2006/main">
              <a:ext uri="{FF2B5EF4-FFF2-40B4-BE49-F238E27FC236}">
                <a16:creationId xmlns:a16="http://schemas.microsoft.com/office/drawing/2014/main" id="{D4CFBCF2-FD88-48F4-9962-5B50D119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incubation">
            <a:extLst xmlns:a="http://schemas.openxmlformats.org/drawingml/2006/main">
              <a:ext uri="{FF2B5EF4-FFF2-40B4-BE49-F238E27FC236}">
                <a16:creationId xmlns:a16="http://schemas.microsoft.com/office/drawing/2014/main" id="{E3570571-4FC7-4866-9D7D-03560EC2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Incubation</a:t>
            </a:r>
          </a:p>
        </p:txBody>
      </p:sp>
      <p:sp>
        <p:nvSpPr>
          <p:cNvPr id="13" name="workspace-structure-founder-guidance-product-">
            <a:extLst xmlns:a="http://schemas.openxmlformats.org/drawingml/2006/main">
              <a:ext uri="{FF2B5EF4-FFF2-40B4-BE49-F238E27FC236}">
                <a16:creationId xmlns:a16="http://schemas.microsoft.com/office/drawing/2014/main" id="{1FEBD6AC-9F8A-4F35-9DB0-8D99310B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Workspace, structure, founder guidance, product reviews, and investor readiness.</a:t>
            </a:r>
          </a:p>
        </p:txBody>
      </p:sp>
      <p:sp>
        <p:nvSpPr>
          <p:cNvPr id="14" name="need-mentors">
            <a:extLst xmlns:a="http://schemas.openxmlformats.org/drawingml/2006/main">
              <a:ext uri="{FF2B5EF4-FFF2-40B4-BE49-F238E27FC236}">
                <a16:creationId xmlns:a16="http://schemas.microsoft.com/office/drawing/2014/main" id="{62F2EC2D-CE6C-433E-9291-846291D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mentorship">
            <a:extLst xmlns:a="http://schemas.openxmlformats.org/drawingml/2006/main">
              <a:ext uri="{FF2B5EF4-FFF2-40B4-BE49-F238E27FC236}">
                <a16:creationId xmlns:a16="http://schemas.microsoft.com/office/drawing/2014/main" id="{0E7AA5B5-E6D0-4B3A-AE6B-4EE8769D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Mentorship</a:t>
            </a:r>
          </a:p>
        </p:txBody>
      </p:sp>
      <p:sp>
        <p:nvSpPr>
          <p:cNvPr id="16" name="ai-healthcare-fitness-startup-legal-and-busin">
            <a:extLst xmlns:a="http://schemas.openxmlformats.org/drawingml/2006/main">
              <a:ext uri="{FF2B5EF4-FFF2-40B4-BE49-F238E27FC236}">
                <a16:creationId xmlns:a16="http://schemas.microsoft.com/office/drawing/2014/main" id="{CBA7C7B1-864F-4CE8-B7FF-589D37D5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AI, healthcare, fitness, startup, legal, and business model mentorship.</a:t>
            </a:r>
          </a:p>
        </p:txBody>
      </p:sp>
      <p:sp>
        <p:nvSpPr>
          <p:cNvPr id="17" name="need-research">
            <a:extLst xmlns:a="http://schemas.openxmlformats.org/drawingml/2006/main">
              <a:ext uri="{FF2B5EF4-FFF2-40B4-BE49-F238E27FC236}">
                <a16:creationId xmlns:a16="http://schemas.microsoft.com/office/drawing/2014/main" id="{F4738607-6C6A-4941-A77E-A144578C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research-ecosystem">
            <a:extLst xmlns:a="http://schemas.openxmlformats.org/drawingml/2006/main">
              <a:ext uri="{FF2B5EF4-FFF2-40B4-BE49-F238E27FC236}">
                <a16:creationId xmlns:a16="http://schemas.microsoft.com/office/drawing/2014/main" id="{CC3B8488-8D79-4CFF-8F87-4B36936B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Research Ecosystem</a:t>
            </a:r>
          </a:p>
        </p:txBody>
      </p:sp>
      <p:sp>
        <p:nvSpPr>
          <p:cNvPr id="19" name="faculty-guidance-student-research-groups-data">
            <a:extLst xmlns:a="http://schemas.openxmlformats.org/drawingml/2006/main">
              <a:ext uri="{FF2B5EF4-FFF2-40B4-BE49-F238E27FC236}">
                <a16:creationId xmlns:a16="http://schemas.microsoft.com/office/drawing/2014/main" id="{723341D4-82D2-4714-B8E3-CD96DB6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Faculty guidance, student research groups, dataset work, and responsible AI validation.</a:t>
            </a:r>
          </a:p>
        </p:txBody>
      </p:sp>
      <p:sp>
        <p:nvSpPr>
          <p:cNvPr id="20" name="need-cloud">
            <a:extLst xmlns:a="http://schemas.openxmlformats.org/drawingml/2006/main">
              <a:ext uri="{FF2B5EF4-FFF2-40B4-BE49-F238E27FC236}">
                <a16:creationId xmlns:a16="http://schemas.microsoft.com/office/drawing/2014/main" id="{D90A36B2-E6F8-4FB1-9DB5-600C1246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infrastructure">
            <a:extLst xmlns:a="http://schemas.openxmlformats.org/drawingml/2006/main">
              <a:ext uri="{FF2B5EF4-FFF2-40B4-BE49-F238E27FC236}">
                <a16:creationId xmlns:a16="http://schemas.microsoft.com/office/drawing/2014/main" id="{D129548B-7C19-4FAE-A404-1E18B1EC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Infrastructure</a:t>
            </a:r>
          </a:p>
        </p:txBody>
      </p:sp>
      <p:sp>
        <p:nvSpPr>
          <p:cNvPr id="22" name="deployment-support-testing-monitoring-databas">
            <a:extLst xmlns:a="http://schemas.openxmlformats.org/drawingml/2006/main">
              <a:ext uri="{FF2B5EF4-FFF2-40B4-BE49-F238E27FC236}">
                <a16:creationId xmlns:a16="http://schemas.microsoft.com/office/drawing/2014/main" id="{E282A789-E0FF-431E-9749-224C9C4C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Deployment support, testing, monitoring, databases, security, and scaling architecture.</a:t>
            </a:r>
          </a:p>
        </p:txBody>
      </p:sp>
      <p:sp>
        <p:nvSpPr>
          <p:cNvPr id="23" name="need-network">
            <a:extLst xmlns:a="http://schemas.openxmlformats.org/drawingml/2006/main">
              <a:ext uri="{FF2B5EF4-FFF2-40B4-BE49-F238E27FC236}">
                <a16:creationId xmlns:a16="http://schemas.microsoft.com/office/drawing/2014/main" id="{DA477578-2BC4-4F2C-8AA9-37291ED5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4" name="partnerships">
            <a:extLst xmlns:a="http://schemas.openxmlformats.org/drawingml/2006/main">
              <a:ext uri="{FF2B5EF4-FFF2-40B4-BE49-F238E27FC236}">
                <a16:creationId xmlns:a16="http://schemas.microsoft.com/office/drawing/2014/main" id="{7E52398C-4120-45EA-A635-CC8189B1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Partnerships</a:t>
            </a:r>
          </a:p>
        </p:txBody>
      </p:sp>
      <p:sp>
        <p:nvSpPr>
          <p:cNvPr id="25" name="gyms-colleges-sports-clubs-health-programs-an">
            <a:extLst xmlns:a="http://schemas.openxmlformats.org/drawingml/2006/main">
              <a:ext uri="{FF2B5EF4-FFF2-40B4-BE49-F238E27FC236}">
                <a16:creationId xmlns:a16="http://schemas.microsoft.com/office/drawing/2014/main" id="{755DCC67-8B4A-40D9-B08F-B045F030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Gyms, colleges, sports clubs, health programs, and early user pilots.</a:t>
            </a:r>
          </a:p>
        </p:txBody>
      </p:sp>
    </p:spTree>
    <p:extLst>
      <p:ext uri="{BB962C8B-B14F-4D97-AF65-F5344CB8AC3E}">
        <p14:creationId xmlns:p14="http://schemas.microsoft.com/office/powerpoint/2010/main" val="25821708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082DF11-3F03-432F-B369-219DEE9A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746A6D5C-7EC4-4236-996A-599282A3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B632035-659F-4985-86A6-778F84D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EC4A7680-DE78-4177-B66C-07D82275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098291BB-60A7-4AF3-9C58-A315D4B1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LONG-TERM IMPACT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3E1B02-3432-44D3-AD97-52716EFD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303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platform that improves people and builds AI capability.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FE7145-8DEE-427B-96FE-8294C60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744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impact extends beyond users into students, institutions, local innovation, and India's AI product ecosystem.</a:t>
            </a:r>
          </a:p>
        </p:txBody>
      </p:sp>
      <p:sp>
        <p:nvSpPr>
          <p:cNvPr id="8" name="impact-health">
            <a:extLst xmlns:a="http://schemas.openxmlformats.org/drawingml/2006/main">
              <a:ext uri="{FF2B5EF4-FFF2-40B4-BE49-F238E27FC236}">
                <a16:creationId xmlns:a16="http://schemas.microsoft.com/office/drawing/2014/main" id="{BC0FA0E4-FA00-4CBE-A572-8979777E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health-transformation">
            <a:extLst xmlns:a="http://schemas.openxmlformats.org/drawingml/2006/main">
              <a:ext uri="{FF2B5EF4-FFF2-40B4-BE49-F238E27FC236}">
                <a16:creationId xmlns:a16="http://schemas.microsoft.com/office/drawing/2014/main" id="{649A3B31-9F25-45ED-BE85-F70E077B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Health Transformation</a:t>
            </a:r>
          </a:p>
        </p:txBody>
      </p:sp>
      <p:sp>
        <p:nvSpPr>
          <p:cNvPr id="10" name="better-consistency-habits-strength-nutrition-">
            <a:extLst xmlns:a="http://schemas.openxmlformats.org/drawingml/2006/main">
              <a:ext uri="{FF2B5EF4-FFF2-40B4-BE49-F238E27FC236}">
                <a16:creationId xmlns:a16="http://schemas.microsoft.com/office/drawing/2014/main" id="{B1AA7C45-3412-4B35-9AB7-7C238DC4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Better consistency, habits, strength, nutrition, and self-belief.</a:t>
            </a:r>
          </a:p>
        </p:txBody>
      </p:sp>
      <p:sp>
        <p:nvSpPr>
          <p:cNvPr id="11" name="impact-ai">
            <a:extLst xmlns:a="http://schemas.openxmlformats.org/drawingml/2006/main">
              <a:ext uri="{FF2B5EF4-FFF2-40B4-BE49-F238E27FC236}">
                <a16:creationId xmlns:a16="http://schemas.microsoft.com/office/drawing/2014/main" id="{3F6A139D-4B98-44EF-97D2-E101944E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ai-research">
            <a:extLst xmlns:a="http://schemas.openxmlformats.org/drawingml/2006/main">
              <a:ext uri="{FF2B5EF4-FFF2-40B4-BE49-F238E27FC236}">
                <a16:creationId xmlns:a16="http://schemas.microsoft.com/office/drawing/2014/main" id="{5C46E075-DE6F-4535-A315-703B5C01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AI Research</a:t>
            </a:r>
          </a:p>
        </p:txBody>
      </p:sp>
      <p:sp>
        <p:nvSpPr>
          <p:cNvPr id="13" name="applied-model-training-routing-memory-systems">
            <a:extLst xmlns:a="http://schemas.openxmlformats.org/drawingml/2006/main">
              <a:ext uri="{FF2B5EF4-FFF2-40B4-BE49-F238E27FC236}">
                <a16:creationId xmlns:a16="http://schemas.microsoft.com/office/drawing/2014/main" id="{F4A5226F-52E4-4FC0-9109-1B50C5B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Applied model training, routing, memory systems, and local inference research.</a:t>
            </a:r>
          </a:p>
        </p:txBody>
      </p:sp>
      <p:sp>
        <p:nvSpPr>
          <p:cNvPr id="14" name="impact-students">
            <a:extLst xmlns:a="http://schemas.openxmlformats.org/drawingml/2006/main">
              <a:ext uri="{FF2B5EF4-FFF2-40B4-BE49-F238E27FC236}">
                <a16:creationId xmlns:a16="http://schemas.microsoft.com/office/drawing/2014/main" id="{9C4C132C-E8FA-463D-B6F3-1034B1B7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student-opportunities">
            <a:extLst xmlns:a="http://schemas.openxmlformats.org/drawingml/2006/main">
              <a:ext uri="{FF2B5EF4-FFF2-40B4-BE49-F238E27FC236}">
                <a16:creationId xmlns:a16="http://schemas.microsoft.com/office/drawing/2014/main" id="{3FA09D81-ECAE-4D1A-9382-6D800C51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Student Opportunities</a:t>
            </a:r>
          </a:p>
        </p:txBody>
      </p:sp>
      <p:sp>
        <p:nvSpPr>
          <p:cNvPr id="16" name="internships-open-projects-startup-learning-an">
            <a:extLst xmlns:a="http://schemas.openxmlformats.org/drawingml/2006/main">
              <a:ext uri="{FF2B5EF4-FFF2-40B4-BE49-F238E27FC236}">
                <a16:creationId xmlns:a16="http://schemas.microsoft.com/office/drawing/2014/main" id="{918C4FAB-75E0-498E-A275-FE15FC8F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Internships, open projects, startup learning, and technical upskilling.</a:t>
            </a:r>
          </a:p>
        </p:txBody>
      </p:sp>
      <p:sp>
        <p:nvSpPr>
          <p:cNvPr id="17" name="impact-india">
            <a:extLst xmlns:a="http://schemas.openxmlformats.org/drawingml/2006/main">
              <a:ext uri="{FF2B5EF4-FFF2-40B4-BE49-F238E27FC236}">
                <a16:creationId xmlns:a16="http://schemas.microsoft.com/office/drawing/2014/main" id="{ABAA9C6D-B810-4E30-84AD-46EBCE53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indian-ai-product">
            <a:extLst xmlns:a="http://schemas.openxmlformats.org/drawingml/2006/main">
              <a:ext uri="{FF2B5EF4-FFF2-40B4-BE49-F238E27FC236}">
                <a16:creationId xmlns:a16="http://schemas.microsoft.com/office/drawing/2014/main" id="{A9F62D8E-51AC-40AE-B707-2E8EC05F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Indian AI Product</a:t>
            </a:r>
          </a:p>
        </p:txBody>
      </p:sp>
      <p:sp>
        <p:nvSpPr>
          <p:cNvPr id="19" name="a-global-product-narrative-built-from-a-regio">
            <a:extLst xmlns:a="http://schemas.openxmlformats.org/drawingml/2006/main">
              <a:ext uri="{FF2B5EF4-FFF2-40B4-BE49-F238E27FC236}">
                <a16:creationId xmlns:a16="http://schemas.microsoft.com/office/drawing/2014/main" id="{D673B986-4BFC-4A6F-B1EE-6BD57379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5242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global product narrative built from a regional innovation ecosystem.</a:t>
            </a:r>
          </a:p>
        </p:txBody>
      </p:sp>
    </p:spTree>
    <p:extLst>
      <p:ext uri="{BB962C8B-B14F-4D97-AF65-F5344CB8AC3E}">
        <p14:creationId xmlns:p14="http://schemas.microsoft.com/office/powerpoint/2010/main" val="109757761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5357C06-2185-44D4-955B-BE99F856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F669A306-65A8-437D-8A0C-293F79B3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B48AEA1-A462-4049-AD39-968142BC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49AB8A3F-0E8C-4E3B-B7BD-2878A225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8387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8F5EF"/>
                </a:solidFill>
              </a:defRPr>
            </a:pPr>
            <a:r>
              <a:rPr sz="615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5" name="closing-sub">
            <a:extLst xmlns:a="http://schemas.openxmlformats.org/drawingml/2006/main">
              <a:ext uri="{FF2B5EF4-FFF2-40B4-BE49-F238E27FC236}">
                <a16:creationId xmlns:a16="http://schemas.microsoft.com/office/drawing/2014/main" id="{BC0ADCCC-091F-435A-A365-0E38C0ED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741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6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0F1BD6CC-260C-47D7-B30C-7AE74136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C8C2B8"/>
                </a:solidFill>
              </a:defRPr>
            </a:pPr>
            <a:r>
              <a:rPr sz="2175" b="0" i="0">
                <a:solidFill>
                  <a:srgbClr val="C8C2B8"/>
                </a:solidFill>
              </a:rPr>
              <a:t>We are building AI that helps people become stronger, healthier, more consistent, and more capable.</a:t>
            </a:r>
          </a:p>
        </p:txBody>
      </p:sp>
      <p:sp>
        <p:nvSpPr>
          <p:cNvPr id="7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DB043BBA-74F0-4C03-B758-1841534A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25590"/>
            <a:ext cx="9906000" cy="830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8" name="built-in-chandrapur-designed-for-the-world-">
            <a:extLst xmlns:a="http://schemas.openxmlformats.org/drawingml/2006/main">
              <a:ext uri="{FF2B5EF4-FFF2-40B4-BE49-F238E27FC236}">
                <a16:creationId xmlns:a16="http://schemas.microsoft.com/office/drawing/2014/main" id="{6213FE05-FE1C-476E-964C-222E6E86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838950"/>
            <a:ext cx="904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8F5EF"/>
                </a:solidFill>
              </a:defRPr>
            </a:pPr>
            <a:r>
              <a:rPr sz="2700" b="1" i="0">
                <a:solidFill>
                  <a:srgbClr val="F8F5EF"/>
                </a:solidFill>
              </a:rPr>
              <a:t>Built in Chandrapur. Designed for the world.</a:t>
            </a:r>
          </a:p>
        </p:txBody>
      </p:sp>
    </p:spTree>
    <p:extLst>
      <p:ext uri="{BB962C8B-B14F-4D97-AF65-F5344CB8AC3E}">
        <p14:creationId xmlns:p14="http://schemas.microsoft.com/office/powerpoint/2010/main" val="284698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2026-05-20T17:46:12.6160000Z</dcterms:created>
  <dcterms:modified xsi:type="dcterms:W3CDTF">2026-05-20T17:46:12.6160000Z</dcterms:modified>
</coreProperties>
</file>