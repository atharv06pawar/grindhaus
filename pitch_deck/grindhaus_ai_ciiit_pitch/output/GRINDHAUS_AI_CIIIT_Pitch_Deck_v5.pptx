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58"/>
  </p:normalViewPr>
  <p:slideViewPr>
    <p:cSldViewPr snapToGrid="0">
      <p:cViewPr varScale="1">
        <p:scale>
          <a:sx n="61" d="100"/>
          <a:sy n="61" d="100"/>
        </p:scale>
        <p:origin x="46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USD Bn</c:v>
          </c:tx>
          <c:invertIfNegative val="1"/>
          <c:cat>
            <c:strLit>
              <c:ptCount val="4"/>
              <c:pt idx="0">
                <c:v>Global fitness apps 2024</c:v>
              </c:pt>
              <c:pt idx="1">
                <c:v>Global wellness apps 2030</c:v>
              </c:pt>
              <c:pt idx="2">
                <c:v>India digital health 2024</c:v>
              </c:pt>
              <c:pt idx="3">
                <c:v>India digital health 2033</c:v>
              </c:pt>
            </c:strLit>
          </c:cat>
          <c:val>
            <c:numLit>
              <c:formatCode>General</c:formatCode>
              <c:ptCount val="4"/>
              <c:pt idx="0">
                <c:v>10.6</c:v>
              </c:pt>
              <c:pt idx="1">
                <c:v>26.2</c:v>
              </c:pt>
              <c:pt idx="2">
                <c:v>14.5</c:v>
              </c:pt>
              <c:pt idx="3">
                <c:v>107</c:v>
              </c:pt>
            </c:numLit>
          </c:val>
          <c:extLst>
            <c:ext xmlns:c16="http://schemas.microsoft.com/office/drawing/2014/chart" uri="{C3380CC4-5D6E-409C-BE32-E72D297353CC}">
              <c16:uniqueId val="{00000000-2501-4D47-925A-5C841EBBC8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confidence: this is not just a fitness app. Position GrindHaus AI as a human-performance AI ecosystem built from Chandrapur for global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frame the pain: people know what to do, but they fail because systems are not adaptive enough. Mention WHO numbers as market/context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 the audience feel the ambition: GrindHaus is a performance operating system. The key phrase to repeat is: an intelligent companion that evolves with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product as an ecosystem. Each module has standalone value, but the AI companion connects them into a personalized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technical heart of the pitch. Stress the separation between expert mode and companion mode. That avoids unsafe tone mixing and creates a better user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that workout intelligence is not only a list of exercises. The real value is adaptive planning and progressive overload based on user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 nutrition sound practical, not medical. We are building behavior support, not replacing doctors or dieticians.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 community to retention. Investors and incubators care about usage loops. Community creates accountability and organic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proves execution maturity. The app is not a static landing page. It has frontend, backend, auth, API structure, AI memory, and a future research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grounded. We are not claiming to capture the whole market. The point is that the timing is strong: AI infrastructure, digital health, wellness behavior, and fitness apps are all growing.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where you connect GrindHaus to India's AI future. Say: if India can build AI for commerce and productivity, it can also build AI for human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attack competitors. Say each solves part of the problem, but GrindHaus combines the missing pieces into one adaptive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key point: accessible does not mean non-commercial. The business scales through layers and partnerships, not by locking basic health guidance away from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is important for CIIIT and government alignment. It shows values: inclusive technology, responsible AI, and ecosystem-led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clear on execution: Phase 1 and 2 are product/MVP. Later phases need support, compute, mentorship, and research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government-funding alignment slide. Make it about institutional impact, not only your startup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Be specific. You are not just asking for money; you are asking for an environment where technical innovation can mature.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 the institutional argument here: GrindHaus can become both a business and a local AI capability builder.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with conviction. Pause before the final line. This is the line they should remember: Built in Chandrapur. Designed for the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g">
            <a:extLst>
              <a:ext uri="{FF2B5EF4-FFF2-40B4-BE49-F238E27FC236}">
                <a16:creationId xmlns:a16="http://schemas.microsoft.com/office/drawing/2014/main" id="{D03A51E7-3431-4C5E-9178-7078A52038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06"/>
          </a:solidFill>
        </p:spPr>
      </p:sp>
      <p:sp>
        <p:nvSpPr>
          <p:cNvPr id="2" name="top-glow">
            <a:extLst>
              <a:ext uri="{FF2B5EF4-FFF2-40B4-BE49-F238E27FC236}">
                <a16:creationId xmlns:a16="http://schemas.microsoft.com/office/drawing/2014/main" id="{8FE1AF4A-A39F-481E-BA51-D6771CE906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14350"/>
          </a:xfrm>
          <a:prstGeom prst="rect">
            <a:avLst/>
          </a:prstGeom>
          <a:solidFill>
            <a:srgbClr val="55070B"/>
          </a:solidFill>
        </p:spPr>
      </p:sp>
      <p:sp>
        <p:nvSpPr>
          <p:cNvPr id="3" name="bottom-line">
            <a:extLst>
              <a:ext uri="{FF2B5EF4-FFF2-40B4-BE49-F238E27FC236}">
                <a16:creationId xmlns:a16="http://schemas.microsoft.com/office/drawing/2014/main" id="{0E8029B5-E779-4179-8782-FBD963205A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4" name="chip-prepared-for-ciiit-gcoe-chandrapur">
            <a:extLst>
              <a:ext uri="{FF2B5EF4-FFF2-40B4-BE49-F238E27FC236}">
                <a16:creationId xmlns:a16="http://schemas.microsoft.com/office/drawing/2014/main" id="{FFA92980-69B3-4971-9C7F-DDACC4ADCABE}"/>
              </a:ext>
            </a:extLst>
          </p:cNvPr>
          <p:cNvSpPr>
            <a:spLocks noGrp="1"/>
          </p:cNvSpPr>
          <p:nvPr/>
        </p:nvSpPr>
        <p:spPr>
          <a:xfrm>
            <a:off x="876300" y="2388870"/>
            <a:ext cx="5334000" cy="396240"/>
          </a:xfrm>
          <a:prstGeom prst="roundRect">
            <a:avLst>
              <a:gd name="adj" fmla="val 50000"/>
            </a:avLst>
          </a:prstGeom>
          <a:solidFill>
            <a:srgbClr val="14151A"/>
          </a:solidFill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0DFA77-03B4-4C70-BCCB-7401C227B3E2}"/>
              </a:ext>
            </a:extLst>
          </p:cNvPr>
          <p:cNvSpPr>
            <a:spLocks noGrp="1"/>
          </p:cNvSpPr>
          <p:nvPr/>
        </p:nvSpPr>
        <p:spPr>
          <a:xfrm>
            <a:off x="1085850" y="2476500"/>
            <a:ext cx="4914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F2E3A"/>
                </a:solidFill>
              </a:defRPr>
            </a:pPr>
            <a:r>
              <a:rPr sz="1350" b="1">
                <a:solidFill>
                  <a:srgbClr val="FF2E3A"/>
                </a:solidFill>
              </a:rPr>
              <a:t>Prepared for CIIIT | GCOE Chandrapur</a:t>
            </a:r>
          </a:p>
        </p:txBody>
      </p:sp>
      <p:sp>
        <p:nvSpPr>
          <p:cNvPr id="6" name="cover-title">
            <a:extLst>
              <a:ext uri="{FF2B5EF4-FFF2-40B4-BE49-F238E27FC236}">
                <a16:creationId xmlns:a16="http://schemas.microsoft.com/office/drawing/2014/main" id="{F23EECE5-AB54-4C93-9428-A4E68BE397D5}"/>
              </a:ext>
            </a:extLst>
          </p:cNvPr>
          <p:cNvSpPr>
            <a:spLocks noGrp="1"/>
          </p:cNvSpPr>
          <p:nvPr/>
        </p:nvSpPr>
        <p:spPr>
          <a:xfrm>
            <a:off x="876300" y="3048000"/>
            <a:ext cx="6610350" cy="2571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400" b="1" i="0">
                <a:solidFill>
                  <a:srgbClr val="F8F5EF"/>
                </a:solidFill>
              </a:defRPr>
            </a:pPr>
            <a:r>
              <a:rPr sz="8400" b="1" i="0">
                <a:solidFill>
                  <a:srgbClr val="F8F5EF"/>
                </a:solidFill>
              </a:rPr>
              <a:t>GRINDHAUS AI</a:t>
            </a:r>
          </a:p>
        </p:txBody>
      </p:sp>
      <p:sp>
        <p:nvSpPr>
          <p:cNvPr id="7" name="cover-subtitle">
            <a:extLst>
              <a:ext uri="{FF2B5EF4-FFF2-40B4-BE49-F238E27FC236}">
                <a16:creationId xmlns:a16="http://schemas.microsoft.com/office/drawing/2014/main" id="{5B2FA813-2A1B-48BD-94E2-B27CAD0492ED}"/>
              </a:ext>
            </a:extLst>
          </p:cNvPr>
          <p:cNvSpPr>
            <a:spLocks noGrp="1"/>
          </p:cNvSpPr>
          <p:nvPr/>
        </p:nvSpPr>
        <p:spPr>
          <a:xfrm>
            <a:off x="876300" y="5886450"/>
            <a:ext cx="70485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The Future of AI-Powered Human Performance</a:t>
            </a:r>
          </a:p>
        </p:txBody>
      </p:sp>
      <p:sp>
        <p:nvSpPr>
          <p:cNvPr id="8" name="cover-context">
            <a:extLst>
              <a:ext uri="{FF2B5EF4-FFF2-40B4-BE49-F238E27FC236}">
                <a16:creationId xmlns:a16="http://schemas.microsoft.com/office/drawing/2014/main" id="{883628C2-9283-4721-B72F-C372B684E0C1}"/>
              </a:ext>
            </a:extLst>
          </p:cNvPr>
          <p:cNvSpPr>
            <a:spLocks noGrp="1"/>
          </p:cNvSpPr>
          <p:nvPr/>
        </p:nvSpPr>
        <p:spPr>
          <a:xfrm>
            <a:off x="876300" y="6572250"/>
            <a:ext cx="79057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An intelligent fitness ecosystem combining AI coaching, behavioral memory, nutrition intelligence, community accountability, and future custom LLM research.</a:t>
            </a:r>
          </a:p>
        </p:txBody>
      </p:sp>
      <p:sp>
        <p:nvSpPr>
          <p:cNvPr id="9" name="cover-founder">
            <a:extLst>
              <a:ext uri="{FF2B5EF4-FFF2-40B4-BE49-F238E27FC236}">
                <a16:creationId xmlns:a16="http://schemas.microsoft.com/office/drawing/2014/main" id="{CA4A5BBF-C3A7-4EFC-A1FB-B5C52B27397F}"/>
              </a:ext>
            </a:extLst>
          </p:cNvPr>
          <p:cNvSpPr>
            <a:spLocks noGrp="1"/>
          </p:cNvSpPr>
          <p:nvPr/>
        </p:nvSpPr>
        <p:spPr>
          <a:xfrm>
            <a:off x="876300" y="7410450"/>
            <a:ext cx="64389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8D8990"/>
                </a:solidFill>
              </a:defRPr>
            </a:pPr>
            <a:r>
              <a:rPr sz="1575" b="0" i="0" dirty="0">
                <a:solidFill>
                  <a:srgbClr val="8D8990"/>
                </a:solidFill>
              </a:rPr>
              <a:t>Founder: </a:t>
            </a:r>
            <a:r>
              <a:rPr lang="en-US" sz="1575" dirty="0">
                <a:solidFill>
                  <a:srgbClr val="8D8990"/>
                </a:solidFill>
              </a:rPr>
              <a:t>Atharv Pawar</a:t>
            </a:r>
            <a:r>
              <a:rPr sz="1575" b="0" i="0" dirty="0">
                <a:solidFill>
                  <a:srgbClr val="8D8990"/>
                </a:solidFill>
              </a:rPr>
              <a:t> | Government College of Engineering, Chandrapur</a:t>
            </a:r>
          </a:p>
        </p:txBody>
      </p:sp>
      <p:sp>
        <p:nvSpPr>
          <p:cNvPr id="10" name="ai-core">
            <a:extLst>
              <a:ext uri="{FF2B5EF4-FFF2-40B4-BE49-F238E27FC236}">
                <a16:creationId xmlns:a16="http://schemas.microsoft.com/office/drawing/2014/main" id="{B91A4D11-1E83-4EC1-8B22-4043F77D12F4}"/>
              </a:ext>
            </a:extLst>
          </p:cNvPr>
          <p:cNvSpPr>
            <a:spLocks noGrp="1"/>
          </p:cNvSpPr>
          <p:nvPr/>
        </p:nvSpPr>
        <p:spPr>
          <a:xfrm>
            <a:off x="11334750" y="2621280"/>
            <a:ext cx="4476750" cy="4476750"/>
          </a:xfrm>
          <a:prstGeom prst="roundRect">
            <a:avLst>
              <a:gd name="adj" fmla="val 50000"/>
            </a:avLst>
          </a:prstGeom>
          <a:solidFill>
            <a:srgbClr val="111217"/>
          </a:solidFill>
        </p:spPr>
      </p:sp>
      <p:sp>
        <p:nvSpPr>
          <p:cNvPr id="11" name="ai">
            <a:extLst>
              <a:ext uri="{FF2B5EF4-FFF2-40B4-BE49-F238E27FC236}">
                <a16:creationId xmlns:a16="http://schemas.microsoft.com/office/drawing/2014/main" id="{38575A2C-BB7C-4EB7-99F0-72B423D0CE55}"/>
              </a:ext>
            </a:extLst>
          </p:cNvPr>
          <p:cNvSpPr>
            <a:spLocks noGrp="1"/>
          </p:cNvSpPr>
          <p:nvPr/>
        </p:nvSpPr>
        <p:spPr>
          <a:xfrm>
            <a:off x="11715750" y="3733800"/>
            <a:ext cx="3733800" cy="1352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850" b="1" i="0">
                <a:solidFill>
                  <a:srgbClr val="FF2E3A"/>
                </a:solidFill>
              </a:defRPr>
            </a:pPr>
            <a:r>
              <a:rPr sz="8850" b="1" i="0" dirty="0">
                <a:solidFill>
                  <a:srgbClr val="FF2E3A"/>
                </a:solidFill>
              </a:rPr>
              <a:t>AI</a:t>
            </a:r>
          </a:p>
        </p:txBody>
      </p:sp>
      <p:sp>
        <p:nvSpPr>
          <p:cNvPr id="12" name="performance-brain">
            <a:extLst>
              <a:ext uri="{FF2B5EF4-FFF2-40B4-BE49-F238E27FC236}">
                <a16:creationId xmlns:a16="http://schemas.microsoft.com/office/drawing/2014/main" id="{4963927D-5389-4DBE-92AA-11C08E7A689F}"/>
              </a:ext>
            </a:extLst>
          </p:cNvPr>
          <p:cNvSpPr>
            <a:spLocks noGrp="1"/>
          </p:cNvSpPr>
          <p:nvPr/>
        </p:nvSpPr>
        <p:spPr>
          <a:xfrm>
            <a:off x="11715750" y="5257800"/>
            <a:ext cx="37338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100" b="1" i="0">
                <a:solidFill>
                  <a:srgbClr val="F8F5EF"/>
                </a:solidFill>
              </a:defRPr>
            </a:pPr>
            <a:r>
              <a:rPr sz="2100" b="1" i="0" dirty="0">
                <a:solidFill>
                  <a:srgbClr val="F8F5EF"/>
                </a:solidFill>
              </a:rPr>
              <a:t>Performance Brain</a:t>
            </a:r>
          </a:p>
        </p:txBody>
      </p:sp>
      <p:sp>
        <p:nvSpPr>
          <p:cNvPr id="13" name="memory-coaching-behavior">
            <a:extLst>
              <a:ext uri="{FF2B5EF4-FFF2-40B4-BE49-F238E27FC236}">
                <a16:creationId xmlns:a16="http://schemas.microsoft.com/office/drawing/2014/main" id="{EAA90FC4-8F63-4B9B-B1F4-C422966E8321}"/>
              </a:ext>
            </a:extLst>
          </p:cNvPr>
          <p:cNvSpPr>
            <a:spLocks noGrp="1"/>
          </p:cNvSpPr>
          <p:nvPr/>
        </p:nvSpPr>
        <p:spPr>
          <a:xfrm>
            <a:off x="11715750" y="5753100"/>
            <a:ext cx="3733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0" i="0">
                <a:solidFill>
                  <a:srgbClr val="C8C2B8"/>
                </a:solidFill>
              </a:defRPr>
            </a:pPr>
            <a:r>
              <a:rPr sz="1500" b="0" i="0" dirty="0">
                <a:solidFill>
                  <a:srgbClr val="C8C2B8"/>
                </a:solidFill>
              </a:rPr>
              <a:t>Memory + Coaching + Behavior</a:t>
            </a:r>
          </a:p>
        </p:txBody>
      </p:sp>
      <p:sp>
        <p:nvSpPr>
          <p:cNvPr id="14" name="chip-fitness">
            <a:extLst>
              <a:ext uri="{FF2B5EF4-FFF2-40B4-BE49-F238E27FC236}">
                <a16:creationId xmlns:a16="http://schemas.microsoft.com/office/drawing/2014/main" id="{AB83CAC2-872B-480B-85E1-3E104C143329}"/>
              </a:ext>
            </a:extLst>
          </p:cNvPr>
          <p:cNvSpPr>
            <a:spLocks noGrp="1"/>
          </p:cNvSpPr>
          <p:nvPr/>
        </p:nvSpPr>
        <p:spPr>
          <a:xfrm>
            <a:off x="10687050" y="7269480"/>
            <a:ext cx="1619250" cy="396240"/>
          </a:xfrm>
          <a:prstGeom prst="roundRect">
            <a:avLst>
              <a:gd name="adj" fmla="val 50000"/>
            </a:avLst>
          </a:prstGeom>
          <a:solidFill>
            <a:srgbClr val="14151A"/>
          </a:solidFill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134B81-66A0-4732-87EE-6438B225285A}"/>
              </a:ext>
            </a:extLst>
          </p:cNvPr>
          <p:cNvSpPr>
            <a:spLocks noGrp="1"/>
          </p:cNvSpPr>
          <p:nvPr/>
        </p:nvSpPr>
        <p:spPr>
          <a:xfrm>
            <a:off x="10896600" y="7372350"/>
            <a:ext cx="12001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 b="1">
                <a:solidFill>
                  <a:srgbClr val="F8F5EF"/>
                </a:solidFill>
              </a:defRPr>
            </a:pPr>
            <a:r>
              <a:rPr sz="1350" b="1" dirty="0">
                <a:solidFill>
                  <a:srgbClr val="F8F5EF"/>
                </a:solidFill>
              </a:rPr>
              <a:t>Fitness</a:t>
            </a:r>
          </a:p>
        </p:txBody>
      </p:sp>
      <p:sp>
        <p:nvSpPr>
          <p:cNvPr id="16" name="chip-nutrition">
            <a:extLst>
              <a:ext uri="{FF2B5EF4-FFF2-40B4-BE49-F238E27FC236}">
                <a16:creationId xmlns:a16="http://schemas.microsoft.com/office/drawing/2014/main" id="{DFF878DB-01C9-41CE-95D4-03CE968726E6}"/>
              </a:ext>
            </a:extLst>
          </p:cNvPr>
          <p:cNvSpPr>
            <a:spLocks noGrp="1"/>
          </p:cNvSpPr>
          <p:nvPr/>
        </p:nvSpPr>
        <p:spPr>
          <a:xfrm>
            <a:off x="12439650" y="7269480"/>
            <a:ext cx="1752600" cy="396240"/>
          </a:xfrm>
          <a:prstGeom prst="roundRect">
            <a:avLst>
              <a:gd name="adj" fmla="val 50000"/>
            </a:avLst>
          </a:prstGeom>
          <a:solidFill>
            <a:srgbClr val="14151A"/>
          </a:solidFill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F4BBB3-C28F-4F5E-AE4F-D851873E4AF6}"/>
              </a:ext>
            </a:extLst>
          </p:cNvPr>
          <p:cNvSpPr>
            <a:spLocks noGrp="1"/>
          </p:cNvSpPr>
          <p:nvPr/>
        </p:nvSpPr>
        <p:spPr>
          <a:xfrm>
            <a:off x="12649200" y="7372350"/>
            <a:ext cx="13335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 b="1">
                <a:solidFill>
                  <a:srgbClr val="F8F5EF"/>
                </a:solidFill>
              </a:defRPr>
            </a:pPr>
            <a:r>
              <a:rPr sz="1350" b="1" dirty="0">
                <a:solidFill>
                  <a:srgbClr val="F8F5EF"/>
                </a:solidFill>
              </a:rPr>
              <a:t>Nutrition</a:t>
            </a:r>
          </a:p>
        </p:txBody>
      </p:sp>
      <p:sp>
        <p:nvSpPr>
          <p:cNvPr id="18" name="chip-companion-ai">
            <a:extLst>
              <a:ext uri="{FF2B5EF4-FFF2-40B4-BE49-F238E27FC236}">
                <a16:creationId xmlns:a16="http://schemas.microsoft.com/office/drawing/2014/main" id="{05260D9E-EA99-4F4B-8FEA-85356B3EEF15}"/>
              </a:ext>
            </a:extLst>
          </p:cNvPr>
          <p:cNvSpPr>
            <a:spLocks noGrp="1"/>
          </p:cNvSpPr>
          <p:nvPr/>
        </p:nvSpPr>
        <p:spPr>
          <a:xfrm>
            <a:off x="14325600" y="7269480"/>
            <a:ext cx="2152650" cy="396240"/>
          </a:xfrm>
          <a:prstGeom prst="roundRect">
            <a:avLst>
              <a:gd name="adj" fmla="val 50000"/>
            </a:avLst>
          </a:prstGeom>
          <a:solidFill>
            <a:srgbClr val="14151A"/>
          </a:solidFill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1069C4-2785-407C-9BE1-B5E8711FAFCF}"/>
              </a:ext>
            </a:extLst>
          </p:cNvPr>
          <p:cNvSpPr>
            <a:spLocks noGrp="1"/>
          </p:cNvSpPr>
          <p:nvPr/>
        </p:nvSpPr>
        <p:spPr>
          <a:xfrm>
            <a:off x="14535150" y="7372350"/>
            <a:ext cx="17335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 b="1">
                <a:solidFill>
                  <a:srgbClr val="F8F5EF"/>
                </a:solidFill>
              </a:defRPr>
            </a:pPr>
            <a:r>
              <a:rPr sz="1350" b="1" dirty="0">
                <a:solidFill>
                  <a:srgbClr val="F8F5EF"/>
                </a:solidFill>
              </a:rPr>
              <a:t>Companion AI</a:t>
            </a:r>
          </a:p>
        </p:txBody>
      </p:sp>
    </p:spTree>
    <p:extLst>
      <p:ext uri="{BB962C8B-B14F-4D97-AF65-F5344CB8AC3E}">
        <p14:creationId xmlns:p14="http://schemas.microsoft.com/office/powerpoint/2010/main" val="734845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g">
            <a:extLst>
              <a:ext uri="{FF2B5EF4-FFF2-40B4-BE49-F238E27FC236}">
                <a16:creationId xmlns:a16="http://schemas.microsoft.com/office/drawing/2014/main" id="{0169E97A-CC41-42A1-82F5-3B4D0F34BC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06"/>
          </a:solidFill>
        </p:spPr>
      </p:sp>
      <p:sp>
        <p:nvSpPr>
          <p:cNvPr id="2" name="top-glow">
            <a:extLst>
              <a:ext uri="{FF2B5EF4-FFF2-40B4-BE49-F238E27FC236}">
                <a16:creationId xmlns:a16="http://schemas.microsoft.com/office/drawing/2014/main" id="{3143398B-6CEF-4006-B8FC-65B1E161E7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14350"/>
          </a:xfrm>
          <a:prstGeom prst="rect">
            <a:avLst/>
          </a:prstGeom>
          <a:solidFill>
            <a:srgbClr val="55070B"/>
          </a:solidFill>
        </p:spPr>
      </p:sp>
      <p:sp>
        <p:nvSpPr>
          <p:cNvPr id="3" name="bottom-line">
            <a:extLst>
              <a:ext uri="{FF2B5EF4-FFF2-40B4-BE49-F238E27FC236}">
                <a16:creationId xmlns:a16="http://schemas.microsoft.com/office/drawing/2014/main" id="{284752B0-B09F-4402-B5BB-1E81CB3CA7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7F4BCBD0-11F5-4BA2-94B0-0A6B542A4F37}"/>
              </a:ext>
            </a:extLst>
          </p:cNvPr>
          <p:cNvSpPr>
            <a:spLocks noGrp="1"/>
          </p:cNvSpPr>
          <p:nvPr/>
        </p:nvSpPr>
        <p:spPr>
          <a:xfrm>
            <a:off x="819150" y="742950"/>
            <a:ext cx="666750" cy="47625"/>
          </a:xfrm>
          <a:prstGeom prst="rect">
            <a:avLst/>
          </a:prstGeom>
          <a:solidFill>
            <a:srgbClr val="E50914"/>
          </a:solidFill>
          <a:ln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B05074E2-9E28-4AB2-94EA-DD86213B966E}"/>
              </a:ext>
            </a:extLst>
          </p:cNvPr>
          <p:cNvSpPr>
            <a:spLocks noGrp="1"/>
          </p:cNvSpPr>
          <p:nvPr/>
        </p:nvSpPr>
        <p:spPr>
          <a:xfrm>
            <a:off x="1619250" y="666750"/>
            <a:ext cx="10287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THE PROBLEM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95EE9804-10FB-4333-AC5D-E289187B22A9}"/>
              </a:ext>
            </a:extLst>
          </p:cNvPr>
          <p:cNvSpPr>
            <a:spLocks noGrp="1"/>
          </p:cNvSpPr>
          <p:nvPr/>
        </p:nvSpPr>
        <p:spPr>
          <a:xfrm>
            <a:off x="819150" y="1028700"/>
            <a:ext cx="120777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Fitness failure is usually not an information problem.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50AA7393-3D87-4EE6-B65A-C025B584B3FD}"/>
              </a:ext>
            </a:extLst>
          </p:cNvPr>
          <p:cNvSpPr>
            <a:spLocks noGrp="1"/>
          </p:cNvSpPr>
          <p:nvPr/>
        </p:nvSpPr>
        <p:spPr>
          <a:xfrm>
            <a:off x="819150" y="2444115"/>
            <a:ext cx="60769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 dirty="0">
                <a:solidFill>
                  <a:srgbClr val="C8C2B8"/>
                </a:solidFill>
              </a:rPr>
              <a:t>It is a consistency, personalization, and accountability problem.</a:t>
            </a:r>
          </a:p>
        </p:txBody>
      </p:sp>
      <p:sp>
        <p:nvSpPr>
          <p:cNvPr id="8" name="stat-1">
            <a:extLst>
              <a:ext uri="{FF2B5EF4-FFF2-40B4-BE49-F238E27FC236}">
                <a16:creationId xmlns:a16="http://schemas.microsoft.com/office/drawing/2014/main" id="{BCD8BAE4-DE63-4C2E-9AD1-07A1166EB6C3}"/>
              </a:ext>
            </a:extLst>
          </p:cNvPr>
          <p:cNvSpPr>
            <a:spLocks noGrp="1"/>
          </p:cNvSpPr>
          <p:nvPr/>
        </p:nvSpPr>
        <p:spPr>
          <a:xfrm>
            <a:off x="819150" y="2887980"/>
            <a:ext cx="8255000" cy="2000250"/>
          </a:xfrm>
          <a:prstGeom prst="roundRect">
            <a:avLst>
              <a:gd name="adj" fmla="val 5714"/>
            </a:avLst>
          </a:prstGeom>
          <a:solidFill>
            <a:srgbClr val="111217"/>
          </a:solidFill>
        </p:spPr>
      </p:sp>
      <p:sp>
        <p:nvSpPr>
          <p:cNvPr id="9" name="31-">
            <a:extLst>
              <a:ext uri="{FF2B5EF4-FFF2-40B4-BE49-F238E27FC236}">
                <a16:creationId xmlns:a16="http://schemas.microsoft.com/office/drawing/2014/main" id="{55ED1601-D39B-49AE-9429-DD984DC7E340}"/>
              </a:ext>
            </a:extLst>
          </p:cNvPr>
          <p:cNvSpPr>
            <a:spLocks noGrp="1"/>
          </p:cNvSpPr>
          <p:nvPr/>
        </p:nvSpPr>
        <p:spPr>
          <a:xfrm>
            <a:off x="1104900" y="3143250"/>
            <a:ext cx="1308100" cy="1428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 i="0">
                <a:solidFill>
                  <a:srgbClr val="FF2E3A"/>
                </a:solidFill>
              </a:defRPr>
            </a:pPr>
            <a:r>
              <a:rPr sz="4650" b="1" i="0" dirty="0">
                <a:solidFill>
                  <a:srgbClr val="FF2E3A"/>
                </a:solidFill>
              </a:rPr>
              <a:t>31%</a:t>
            </a:r>
          </a:p>
        </p:txBody>
      </p:sp>
      <p:sp>
        <p:nvSpPr>
          <p:cNvPr id="10" name="global-adults-physically-inactive">
            <a:extLst>
              <a:ext uri="{FF2B5EF4-FFF2-40B4-BE49-F238E27FC236}">
                <a16:creationId xmlns:a16="http://schemas.microsoft.com/office/drawing/2014/main" id="{A0710C5E-36B2-419A-A47D-6A949010404F}"/>
              </a:ext>
            </a:extLst>
          </p:cNvPr>
          <p:cNvSpPr>
            <a:spLocks noGrp="1"/>
          </p:cNvSpPr>
          <p:nvPr/>
        </p:nvSpPr>
        <p:spPr>
          <a:xfrm>
            <a:off x="1101725" y="3838575"/>
            <a:ext cx="27432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 dirty="0">
                <a:solidFill>
                  <a:srgbClr val="F8F5EF"/>
                </a:solidFill>
              </a:rPr>
              <a:t>global adults physically inactive</a:t>
            </a:r>
          </a:p>
        </p:txBody>
      </p:sp>
      <p:sp>
        <p:nvSpPr>
          <p:cNvPr id="11" name="who-estimates-1-8b-adults-are-not-active-enou">
            <a:extLst>
              <a:ext uri="{FF2B5EF4-FFF2-40B4-BE49-F238E27FC236}">
                <a16:creationId xmlns:a16="http://schemas.microsoft.com/office/drawing/2014/main" id="{5C3452EC-8CF9-49C3-B684-9753ACF63041}"/>
              </a:ext>
            </a:extLst>
          </p:cNvPr>
          <p:cNvSpPr>
            <a:spLocks noGrp="1"/>
          </p:cNvSpPr>
          <p:nvPr/>
        </p:nvSpPr>
        <p:spPr>
          <a:xfrm>
            <a:off x="1104900" y="5200650"/>
            <a:ext cx="32956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WHO estimates 1.8B adults are not active enough.</a:t>
            </a:r>
          </a:p>
        </p:txBody>
      </p:sp>
      <p:sp>
        <p:nvSpPr>
          <p:cNvPr id="12" name="stat-2">
            <a:extLst>
              <a:ext uri="{FF2B5EF4-FFF2-40B4-BE49-F238E27FC236}">
                <a16:creationId xmlns:a16="http://schemas.microsoft.com/office/drawing/2014/main" id="{DCDC49DE-99C5-4650-B8EC-29745672FE7D}"/>
              </a:ext>
            </a:extLst>
          </p:cNvPr>
          <p:cNvSpPr>
            <a:spLocks noGrp="1"/>
          </p:cNvSpPr>
          <p:nvPr/>
        </p:nvSpPr>
        <p:spPr>
          <a:xfrm>
            <a:off x="819150" y="5116830"/>
            <a:ext cx="8255000" cy="2000250"/>
          </a:xfrm>
          <a:prstGeom prst="roundRect">
            <a:avLst>
              <a:gd name="adj" fmla="val 5714"/>
            </a:avLst>
          </a:prstGeom>
          <a:solidFill>
            <a:srgbClr val="111217"/>
          </a:solidFill>
        </p:spPr>
      </p:sp>
      <p:sp>
        <p:nvSpPr>
          <p:cNvPr id="13" name="80-">
            <a:extLst>
              <a:ext uri="{FF2B5EF4-FFF2-40B4-BE49-F238E27FC236}">
                <a16:creationId xmlns:a16="http://schemas.microsoft.com/office/drawing/2014/main" id="{ACF29AFC-B3B0-470E-94E8-63E803FED47A}"/>
              </a:ext>
            </a:extLst>
          </p:cNvPr>
          <p:cNvSpPr>
            <a:spLocks noGrp="1"/>
          </p:cNvSpPr>
          <p:nvPr/>
        </p:nvSpPr>
        <p:spPr>
          <a:xfrm>
            <a:off x="1104900" y="5372100"/>
            <a:ext cx="116078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 i="0">
                <a:solidFill>
                  <a:srgbClr val="FFCE73"/>
                </a:solidFill>
              </a:defRPr>
            </a:pPr>
            <a:r>
              <a:rPr sz="4650" b="1" i="0" dirty="0">
                <a:solidFill>
                  <a:srgbClr val="FFCE73"/>
                </a:solidFill>
              </a:rPr>
              <a:t>80%</a:t>
            </a:r>
          </a:p>
        </p:txBody>
      </p:sp>
      <p:sp>
        <p:nvSpPr>
          <p:cNvPr id="14" name="adolescents-below-activity-guidelines">
            <a:extLst>
              <a:ext uri="{FF2B5EF4-FFF2-40B4-BE49-F238E27FC236}">
                <a16:creationId xmlns:a16="http://schemas.microsoft.com/office/drawing/2014/main" id="{C8462631-CA89-4F0D-A9DA-A3E1F1021D65}"/>
              </a:ext>
            </a:extLst>
          </p:cNvPr>
          <p:cNvSpPr>
            <a:spLocks noGrp="1"/>
          </p:cNvSpPr>
          <p:nvPr/>
        </p:nvSpPr>
        <p:spPr>
          <a:xfrm>
            <a:off x="1028700" y="6156325"/>
            <a:ext cx="3238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 dirty="0">
                <a:solidFill>
                  <a:srgbClr val="F8F5EF"/>
                </a:solidFill>
              </a:rPr>
              <a:t>adolescents below activity guidelines</a:t>
            </a:r>
          </a:p>
        </p:txBody>
      </p:sp>
      <p:sp>
        <p:nvSpPr>
          <p:cNvPr id="15" name="the-next-generation-is-already-forming-low-ac">
            <a:extLst>
              <a:ext uri="{FF2B5EF4-FFF2-40B4-BE49-F238E27FC236}">
                <a16:creationId xmlns:a16="http://schemas.microsoft.com/office/drawing/2014/main" id="{A32E2ADF-F2EA-45E4-BF95-B9DC05636F1E}"/>
              </a:ext>
            </a:extLst>
          </p:cNvPr>
          <p:cNvSpPr>
            <a:spLocks noGrp="1"/>
          </p:cNvSpPr>
          <p:nvPr/>
        </p:nvSpPr>
        <p:spPr>
          <a:xfrm>
            <a:off x="1104900" y="7429500"/>
            <a:ext cx="38100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The next generation is already forming low-activity habits.</a:t>
            </a:r>
          </a:p>
        </p:txBody>
      </p:sp>
      <p:sp>
        <p:nvSpPr>
          <p:cNvPr id="16" name="stat-3">
            <a:extLst>
              <a:ext uri="{FF2B5EF4-FFF2-40B4-BE49-F238E27FC236}">
                <a16:creationId xmlns:a16="http://schemas.microsoft.com/office/drawing/2014/main" id="{65451FDA-BE2D-4F62-A70E-B1182A0A580F}"/>
              </a:ext>
            </a:extLst>
          </p:cNvPr>
          <p:cNvSpPr>
            <a:spLocks noGrp="1"/>
          </p:cNvSpPr>
          <p:nvPr/>
        </p:nvSpPr>
        <p:spPr>
          <a:xfrm>
            <a:off x="819150" y="7345680"/>
            <a:ext cx="8255000" cy="2000250"/>
          </a:xfrm>
          <a:prstGeom prst="roundRect">
            <a:avLst>
              <a:gd name="adj" fmla="val 5714"/>
            </a:avLst>
          </a:prstGeom>
          <a:solidFill>
            <a:srgbClr val="111217"/>
          </a:solidFill>
        </p:spPr>
      </p:sp>
      <p:sp>
        <p:nvSpPr>
          <p:cNvPr id="17" name="behavior">
            <a:extLst>
              <a:ext uri="{FF2B5EF4-FFF2-40B4-BE49-F238E27FC236}">
                <a16:creationId xmlns:a16="http://schemas.microsoft.com/office/drawing/2014/main" id="{DFBD0EF4-2C2D-4411-9B83-8E123B83C3F8}"/>
              </a:ext>
            </a:extLst>
          </p:cNvPr>
          <p:cNvSpPr>
            <a:spLocks noGrp="1"/>
          </p:cNvSpPr>
          <p:nvPr/>
        </p:nvSpPr>
        <p:spPr>
          <a:xfrm>
            <a:off x="1104900" y="7600950"/>
            <a:ext cx="228854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 i="0">
                <a:solidFill>
                  <a:srgbClr val="54E4FF"/>
                </a:solidFill>
              </a:defRPr>
            </a:pPr>
            <a:r>
              <a:rPr sz="4650" b="1" i="0" dirty="0">
                <a:solidFill>
                  <a:srgbClr val="54E4FF"/>
                </a:solidFill>
              </a:rPr>
              <a:t>Behavior</a:t>
            </a:r>
          </a:p>
        </p:txBody>
      </p:sp>
      <p:sp>
        <p:nvSpPr>
          <p:cNvPr id="18" name="core-drop-off-driver">
            <a:extLst>
              <a:ext uri="{FF2B5EF4-FFF2-40B4-BE49-F238E27FC236}">
                <a16:creationId xmlns:a16="http://schemas.microsoft.com/office/drawing/2014/main" id="{D50F12B7-9BB4-4411-9676-6D0E161479B5}"/>
              </a:ext>
            </a:extLst>
          </p:cNvPr>
          <p:cNvSpPr>
            <a:spLocks noGrp="1"/>
          </p:cNvSpPr>
          <p:nvPr/>
        </p:nvSpPr>
        <p:spPr>
          <a:xfrm>
            <a:off x="1104900" y="8313420"/>
            <a:ext cx="207518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 dirty="0">
                <a:solidFill>
                  <a:srgbClr val="F8F5EF"/>
                </a:solidFill>
              </a:rPr>
              <a:t>core drop-off driver</a:t>
            </a:r>
          </a:p>
        </p:txBody>
      </p:sp>
      <p:sp>
        <p:nvSpPr>
          <p:cNvPr id="19" name="generic-plans-fail-when-life-stress-fatigue-a">
            <a:extLst>
              <a:ext uri="{FF2B5EF4-FFF2-40B4-BE49-F238E27FC236}">
                <a16:creationId xmlns:a16="http://schemas.microsoft.com/office/drawing/2014/main" id="{9906AB8C-C108-4CEC-9FC1-E5F479D35533}"/>
              </a:ext>
            </a:extLst>
          </p:cNvPr>
          <p:cNvSpPr>
            <a:spLocks noGrp="1"/>
          </p:cNvSpPr>
          <p:nvPr/>
        </p:nvSpPr>
        <p:spPr>
          <a:xfrm>
            <a:off x="1097915" y="8629650"/>
            <a:ext cx="36004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 dirty="0">
                <a:solidFill>
                  <a:srgbClr val="8D8990"/>
                </a:solidFill>
              </a:rPr>
              <a:t>Generic plans fail when life, stress, fatigue, and routine change.</a:t>
            </a:r>
          </a:p>
        </p:txBody>
      </p:sp>
      <p:sp>
        <p:nvSpPr>
          <p:cNvPr id="20" name="problem-copy">
            <a:extLst>
              <a:ext uri="{FF2B5EF4-FFF2-40B4-BE49-F238E27FC236}">
                <a16:creationId xmlns:a16="http://schemas.microsoft.com/office/drawing/2014/main" id="{F218C57A-7A3F-4CC5-98C0-4F0254E30261}"/>
              </a:ext>
            </a:extLst>
          </p:cNvPr>
          <p:cNvSpPr>
            <a:spLocks noGrp="1"/>
          </p:cNvSpPr>
          <p:nvPr/>
        </p:nvSpPr>
        <p:spPr>
          <a:xfrm>
            <a:off x="9626600" y="2887980"/>
            <a:ext cx="7842250" cy="6732270"/>
          </a:xfrm>
          <a:prstGeom prst="roundRect">
            <a:avLst>
              <a:gd name="adj" fmla="val 1698"/>
            </a:avLst>
          </a:prstGeom>
          <a:solidFill>
            <a:srgbClr val="111217"/>
          </a:solidFill>
        </p:spPr>
      </p:sp>
      <p:sp>
        <p:nvSpPr>
          <p:cNvPr id="21" name="current-fitness-products-are-built-like-libra">
            <a:extLst>
              <a:ext uri="{FF2B5EF4-FFF2-40B4-BE49-F238E27FC236}">
                <a16:creationId xmlns:a16="http://schemas.microsoft.com/office/drawing/2014/main" id="{918838B9-C52F-4AF6-A287-54C5E3DB6596}"/>
              </a:ext>
            </a:extLst>
          </p:cNvPr>
          <p:cNvSpPr>
            <a:spLocks noGrp="1"/>
          </p:cNvSpPr>
          <p:nvPr/>
        </p:nvSpPr>
        <p:spPr>
          <a:xfrm>
            <a:off x="10020300" y="4629150"/>
            <a:ext cx="6267450" cy="1104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 i="0">
                <a:solidFill>
                  <a:srgbClr val="F8F5EF"/>
                </a:solidFill>
              </a:defRPr>
            </a:pPr>
            <a:r>
              <a:rPr sz="3600" b="1" i="0">
                <a:solidFill>
                  <a:srgbClr val="F8F5EF"/>
                </a:solidFill>
              </a:rPr>
              <a:t>Current fitness products are built like libraries.</a:t>
            </a:r>
          </a:p>
        </p:txBody>
      </p:sp>
      <p:sp>
        <p:nvSpPr>
          <p:cNvPr id="22" name="bullet-dot-0">
            <a:extLst>
              <a:ext uri="{FF2B5EF4-FFF2-40B4-BE49-F238E27FC236}">
                <a16:creationId xmlns:a16="http://schemas.microsoft.com/office/drawing/2014/main" id="{6BBC9916-B258-4ECE-B4F1-05B81BB143EA}"/>
              </a:ext>
            </a:extLst>
          </p:cNvPr>
          <p:cNvSpPr>
            <a:spLocks noGrp="1"/>
          </p:cNvSpPr>
          <p:nvPr/>
        </p:nvSpPr>
        <p:spPr>
          <a:xfrm>
            <a:off x="10020300" y="60198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23" name="bullet-0">
            <a:extLst>
              <a:ext uri="{FF2B5EF4-FFF2-40B4-BE49-F238E27FC236}">
                <a16:creationId xmlns:a16="http://schemas.microsoft.com/office/drawing/2014/main" id="{EB3E1D0B-8B62-42C4-845E-FB92967225B5}"/>
              </a:ext>
            </a:extLst>
          </p:cNvPr>
          <p:cNvSpPr>
            <a:spLocks noGrp="1"/>
          </p:cNvSpPr>
          <p:nvPr/>
        </p:nvSpPr>
        <p:spPr>
          <a:xfrm>
            <a:off x="10287000" y="5924550"/>
            <a:ext cx="67818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They show workouts but do not understand behavior.</a:t>
            </a:r>
          </a:p>
        </p:txBody>
      </p:sp>
      <p:sp>
        <p:nvSpPr>
          <p:cNvPr id="24" name="bullet-dot-1">
            <a:extLst>
              <a:ext uri="{FF2B5EF4-FFF2-40B4-BE49-F238E27FC236}">
                <a16:creationId xmlns:a16="http://schemas.microsoft.com/office/drawing/2014/main" id="{6F96E71E-24DA-4919-894A-3DA44699336A}"/>
              </a:ext>
            </a:extLst>
          </p:cNvPr>
          <p:cNvSpPr>
            <a:spLocks noGrp="1"/>
          </p:cNvSpPr>
          <p:nvPr/>
        </p:nvSpPr>
        <p:spPr>
          <a:xfrm>
            <a:off x="10020300" y="64770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25" name="bullet-1">
            <a:extLst>
              <a:ext uri="{FF2B5EF4-FFF2-40B4-BE49-F238E27FC236}">
                <a16:creationId xmlns:a16="http://schemas.microsoft.com/office/drawing/2014/main" id="{BDA223B8-9A7D-4FD5-940F-5436E39FC2A9}"/>
              </a:ext>
            </a:extLst>
          </p:cNvPr>
          <p:cNvSpPr>
            <a:spLocks noGrp="1"/>
          </p:cNvSpPr>
          <p:nvPr/>
        </p:nvSpPr>
        <p:spPr>
          <a:xfrm>
            <a:off x="10287000" y="6381750"/>
            <a:ext cx="67818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They track data but rarely create emotional accountability.</a:t>
            </a:r>
          </a:p>
        </p:txBody>
      </p:sp>
      <p:sp>
        <p:nvSpPr>
          <p:cNvPr id="26" name="bullet-dot-2">
            <a:extLst>
              <a:ext uri="{FF2B5EF4-FFF2-40B4-BE49-F238E27FC236}">
                <a16:creationId xmlns:a16="http://schemas.microsoft.com/office/drawing/2014/main" id="{A91A18E6-F97F-4125-A86E-0CF46C09FC35}"/>
              </a:ext>
            </a:extLst>
          </p:cNvPr>
          <p:cNvSpPr>
            <a:spLocks noGrp="1"/>
          </p:cNvSpPr>
          <p:nvPr/>
        </p:nvSpPr>
        <p:spPr>
          <a:xfrm>
            <a:off x="10020300" y="69342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27" name="bullet-2">
            <a:extLst>
              <a:ext uri="{FF2B5EF4-FFF2-40B4-BE49-F238E27FC236}">
                <a16:creationId xmlns:a16="http://schemas.microsoft.com/office/drawing/2014/main" id="{4A27342D-F122-4514-A0DB-87D05A432E16}"/>
              </a:ext>
            </a:extLst>
          </p:cNvPr>
          <p:cNvSpPr>
            <a:spLocks noGrp="1"/>
          </p:cNvSpPr>
          <p:nvPr/>
        </p:nvSpPr>
        <p:spPr>
          <a:xfrm>
            <a:off x="10287000" y="6838950"/>
            <a:ext cx="67818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They monetize guidance aggressively instead of improving access.</a:t>
            </a:r>
          </a:p>
        </p:txBody>
      </p:sp>
      <p:sp>
        <p:nvSpPr>
          <p:cNvPr id="28" name="bullet-dot-3">
            <a:extLst>
              <a:ext uri="{FF2B5EF4-FFF2-40B4-BE49-F238E27FC236}">
                <a16:creationId xmlns:a16="http://schemas.microsoft.com/office/drawing/2014/main" id="{956895F9-CD47-4F83-92F6-E5F93389D9C4}"/>
              </a:ext>
            </a:extLst>
          </p:cNvPr>
          <p:cNvSpPr>
            <a:spLocks noGrp="1"/>
          </p:cNvSpPr>
          <p:nvPr/>
        </p:nvSpPr>
        <p:spPr>
          <a:xfrm>
            <a:off x="10020300" y="75438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29" name="bullet-3">
            <a:extLst>
              <a:ext uri="{FF2B5EF4-FFF2-40B4-BE49-F238E27FC236}">
                <a16:creationId xmlns:a16="http://schemas.microsoft.com/office/drawing/2014/main" id="{3B219FAE-9A3E-4D89-9F82-8BDDE11790DE}"/>
              </a:ext>
            </a:extLst>
          </p:cNvPr>
          <p:cNvSpPr>
            <a:spLocks noGrp="1"/>
          </p:cNvSpPr>
          <p:nvPr/>
        </p:nvSpPr>
        <p:spPr>
          <a:xfrm>
            <a:off x="10287000" y="7315200"/>
            <a:ext cx="67818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They do not adapt deeply to missed days, goals, fatigue, or motivation.</a:t>
            </a:r>
          </a:p>
        </p:txBody>
      </p:sp>
    </p:spTree>
    <p:extLst>
      <p:ext uri="{BB962C8B-B14F-4D97-AF65-F5344CB8AC3E}">
        <p14:creationId xmlns:p14="http://schemas.microsoft.com/office/powerpoint/2010/main" val="1284698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">
            <a:extLst>
              <a:ext uri="{FF2B5EF4-FFF2-40B4-BE49-F238E27FC236}">
                <a16:creationId xmlns:a16="http://schemas.microsoft.com/office/drawing/2014/main" id="{66B2F6E3-6C11-4F97-A688-7338034BCD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06"/>
          </a:solidFill>
        </p:spPr>
      </p:sp>
      <p:sp>
        <p:nvSpPr>
          <p:cNvPr id="2" name="top-glow">
            <a:extLst>
              <a:ext uri="{FF2B5EF4-FFF2-40B4-BE49-F238E27FC236}">
                <a16:creationId xmlns:a16="http://schemas.microsoft.com/office/drawing/2014/main" id="{9FC47F68-18AF-4CF6-813E-AFA7273DCE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14350"/>
          </a:xfrm>
          <a:prstGeom prst="rect">
            <a:avLst/>
          </a:prstGeom>
          <a:solidFill>
            <a:srgbClr val="55070B"/>
          </a:solidFill>
        </p:spPr>
      </p:sp>
      <p:sp>
        <p:nvSpPr>
          <p:cNvPr id="3" name="bottom-line">
            <a:extLst>
              <a:ext uri="{FF2B5EF4-FFF2-40B4-BE49-F238E27FC236}">
                <a16:creationId xmlns:a16="http://schemas.microsoft.com/office/drawing/2014/main" id="{6FF7E59C-CC55-407D-AFD2-D04E0E90CC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4" name="chip-vision">
            <a:extLst>
              <a:ext uri="{FF2B5EF4-FFF2-40B4-BE49-F238E27FC236}">
                <a16:creationId xmlns:a16="http://schemas.microsoft.com/office/drawing/2014/main" id="{DD8B3A69-3EEB-4086-B89D-FDF82CC2FD29}"/>
              </a:ext>
            </a:extLst>
          </p:cNvPr>
          <p:cNvSpPr>
            <a:spLocks noGrp="1"/>
          </p:cNvSpPr>
          <p:nvPr/>
        </p:nvSpPr>
        <p:spPr>
          <a:xfrm>
            <a:off x="952500" y="2889885"/>
            <a:ext cx="1619250" cy="396240"/>
          </a:xfrm>
          <a:prstGeom prst="roundRect">
            <a:avLst>
              <a:gd name="adj" fmla="val 50000"/>
            </a:avLst>
          </a:prstGeom>
          <a:solidFill>
            <a:srgbClr val="14151A"/>
          </a:solidFill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2F259A-48A4-4AB9-9E9F-FE28F0D13C11}"/>
              </a:ext>
            </a:extLst>
          </p:cNvPr>
          <p:cNvSpPr>
            <a:spLocks noGrp="1"/>
          </p:cNvSpPr>
          <p:nvPr/>
        </p:nvSpPr>
        <p:spPr>
          <a:xfrm>
            <a:off x="1162050" y="2990850"/>
            <a:ext cx="1200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F2E3A"/>
                </a:solidFill>
              </a:defRPr>
            </a:pPr>
            <a:r>
              <a:rPr sz="1350" b="1">
                <a:solidFill>
                  <a:srgbClr val="FF2E3A"/>
                </a:solidFill>
              </a:rPr>
              <a:t>Vision</a:t>
            </a:r>
          </a:p>
        </p:txBody>
      </p:sp>
      <p:sp>
        <p:nvSpPr>
          <p:cNvPr id="6" name="not-a-fitness-app-">
            <a:extLst>
              <a:ext uri="{FF2B5EF4-FFF2-40B4-BE49-F238E27FC236}">
                <a16:creationId xmlns:a16="http://schemas.microsoft.com/office/drawing/2014/main" id="{EAAF769F-F8BC-4140-B0A1-CCF99AC61B54}"/>
              </a:ext>
            </a:extLst>
          </p:cNvPr>
          <p:cNvSpPr>
            <a:spLocks noGrp="1"/>
          </p:cNvSpPr>
          <p:nvPr/>
        </p:nvSpPr>
        <p:spPr>
          <a:xfrm>
            <a:off x="952500" y="3657600"/>
            <a:ext cx="5626100" cy="895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700" b="1" i="0">
                <a:solidFill>
                  <a:srgbClr val="F8F5EF"/>
                </a:solidFill>
              </a:defRPr>
            </a:pPr>
            <a:r>
              <a:rPr sz="5700" b="1" i="0" dirty="0">
                <a:solidFill>
                  <a:srgbClr val="F8F5EF"/>
                </a:solidFill>
              </a:rPr>
              <a:t>Not a fitness app.</a:t>
            </a:r>
          </a:p>
        </p:txBody>
      </p:sp>
      <p:sp>
        <p:nvSpPr>
          <p:cNvPr id="7" name="an-intelligent-companion-that-evolves-with-th">
            <a:extLst>
              <a:ext uri="{FF2B5EF4-FFF2-40B4-BE49-F238E27FC236}">
                <a16:creationId xmlns:a16="http://schemas.microsoft.com/office/drawing/2014/main" id="{1422392B-AF46-44C5-BD1A-DCAF3AF6B7B8}"/>
              </a:ext>
            </a:extLst>
          </p:cNvPr>
          <p:cNvSpPr>
            <a:spLocks noGrp="1"/>
          </p:cNvSpPr>
          <p:nvPr/>
        </p:nvSpPr>
        <p:spPr>
          <a:xfrm>
            <a:off x="952500" y="4914900"/>
            <a:ext cx="94678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 b="1" i="0">
                <a:solidFill>
                  <a:srgbClr val="FF2E3A"/>
                </a:solidFill>
              </a:defRPr>
            </a:pPr>
            <a:r>
              <a:rPr sz="3450" b="1" i="0">
                <a:solidFill>
                  <a:srgbClr val="FF2E3A"/>
                </a:solidFill>
              </a:rPr>
              <a:t>An intelligent companion that evolves with the user.</a:t>
            </a:r>
          </a:p>
        </p:txBody>
      </p:sp>
      <p:sp>
        <p:nvSpPr>
          <p:cNvPr id="8" name="the-long-term-platform-becomes-a-performance-">
            <a:extLst>
              <a:ext uri="{FF2B5EF4-FFF2-40B4-BE49-F238E27FC236}">
                <a16:creationId xmlns:a16="http://schemas.microsoft.com/office/drawing/2014/main" id="{101DF1C2-6FFF-45CB-828A-0FF9ECC1BC00}"/>
              </a:ext>
            </a:extLst>
          </p:cNvPr>
          <p:cNvSpPr>
            <a:spLocks noGrp="1"/>
          </p:cNvSpPr>
          <p:nvPr/>
        </p:nvSpPr>
        <p:spPr>
          <a:xfrm>
            <a:off x="952500" y="5962650"/>
            <a:ext cx="124396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C8C2B8"/>
                </a:solidFill>
              </a:defRPr>
            </a:pPr>
            <a:r>
              <a:rPr sz="2250" b="0" i="0">
                <a:solidFill>
                  <a:srgbClr val="C8C2B8"/>
                </a:solidFill>
              </a:rPr>
              <a:t>The long-term platform becomes a performance layer around daily life: training, food, recovery, motivation, community, wearables, and AI-generated coaching experiences.</a:t>
            </a:r>
          </a:p>
        </p:txBody>
      </p:sp>
      <p:sp>
        <p:nvSpPr>
          <p:cNvPr id="9" name="chip-personal-memory">
            <a:extLst>
              <a:ext uri="{FF2B5EF4-FFF2-40B4-BE49-F238E27FC236}">
                <a16:creationId xmlns:a16="http://schemas.microsoft.com/office/drawing/2014/main" id="{140C896E-E235-40A9-82B0-0B4BA1F3721B}"/>
              </a:ext>
            </a:extLst>
          </p:cNvPr>
          <p:cNvSpPr>
            <a:spLocks noGrp="1"/>
          </p:cNvSpPr>
          <p:nvPr/>
        </p:nvSpPr>
        <p:spPr>
          <a:xfrm>
            <a:off x="952500" y="7000875"/>
            <a:ext cx="2552700" cy="396240"/>
          </a:xfrm>
          <a:prstGeom prst="roundRect">
            <a:avLst>
              <a:gd name="adj" fmla="val 50000"/>
            </a:avLst>
          </a:prstGeom>
          <a:solidFill>
            <a:srgbClr val="14151A"/>
          </a:solidFill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E9B9C8-CDA1-46CE-90DF-43519EA49701}"/>
              </a:ext>
            </a:extLst>
          </p:cNvPr>
          <p:cNvSpPr>
            <a:spLocks noGrp="1"/>
          </p:cNvSpPr>
          <p:nvPr/>
        </p:nvSpPr>
        <p:spPr>
          <a:xfrm>
            <a:off x="1162050" y="7105650"/>
            <a:ext cx="2133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Personal memory</a:t>
            </a:r>
          </a:p>
        </p:txBody>
      </p:sp>
      <p:sp>
        <p:nvSpPr>
          <p:cNvPr id="11" name="chip-adaptive-recommendations">
            <a:extLst>
              <a:ext uri="{FF2B5EF4-FFF2-40B4-BE49-F238E27FC236}">
                <a16:creationId xmlns:a16="http://schemas.microsoft.com/office/drawing/2014/main" id="{2B672425-DDF9-464F-98E8-B530429F9AB7}"/>
              </a:ext>
            </a:extLst>
          </p:cNvPr>
          <p:cNvSpPr>
            <a:spLocks noGrp="1"/>
          </p:cNvSpPr>
          <p:nvPr/>
        </p:nvSpPr>
        <p:spPr>
          <a:xfrm>
            <a:off x="3657600" y="7000875"/>
            <a:ext cx="3752850" cy="396240"/>
          </a:xfrm>
          <a:prstGeom prst="roundRect">
            <a:avLst>
              <a:gd name="adj" fmla="val 50000"/>
            </a:avLst>
          </a:prstGeom>
          <a:solidFill>
            <a:srgbClr val="14151A"/>
          </a:solidFill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54ABAD-501A-4F6A-AF93-591D8DA4E16E}"/>
              </a:ext>
            </a:extLst>
          </p:cNvPr>
          <p:cNvSpPr>
            <a:spLocks noGrp="1"/>
          </p:cNvSpPr>
          <p:nvPr/>
        </p:nvSpPr>
        <p:spPr>
          <a:xfrm>
            <a:off x="3867150" y="7105650"/>
            <a:ext cx="33337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Adaptive recommendations</a:t>
            </a:r>
          </a:p>
        </p:txBody>
      </p:sp>
      <p:sp>
        <p:nvSpPr>
          <p:cNvPr id="13" name="chip-accessible-guidance">
            <a:extLst>
              <a:ext uri="{FF2B5EF4-FFF2-40B4-BE49-F238E27FC236}">
                <a16:creationId xmlns:a16="http://schemas.microsoft.com/office/drawing/2014/main" id="{CE5EF22B-CB89-4B9C-95EB-B3EE8217D410}"/>
              </a:ext>
            </a:extLst>
          </p:cNvPr>
          <p:cNvSpPr>
            <a:spLocks noGrp="1"/>
          </p:cNvSpPr>
          <p:nvPr/>
        </p:nvSpPr>
        <p:spPr>
          <a:xfrm>
            <a:off x="7562850" y="7000875"/>
            <a:ext cx="3086100" cy="396240"/>
          </a:xfrm>
          <a:prstGeom prst="roundRect">
            <a:avLst>
              <a:gd name="adj" fmla="val 50000"/>
            </a:avLst>
          </a:prstGeom>
          <a:solidFill>
            <a:srgbClr val="14151A"/>
          </a:solidFill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81BB4B-96F4-42EA-A063-94279828D8B7}"/>
              </a:ext>
            </a:extLst>
          </p:cNvPr>
          <p:cNvSpPr>
            <a:spLocks noGrp="1"/>
          </p:cNvSpPr>
          <p:nvPr/>
        </p:nvSpPr>
        <p:spPr>
          <a:xfrm>
            <a:off x="7772400" y="7105650"/>
            <a:ext cx="2667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Accessible guidance</a:t>
            </a:r>
          </a:p>
        </p:txBody>
      </p:sp>
      <p:sp>
        <p:nvSpPr>
          <p:cNvPr id="15" name="chip-indian-ai-product">
            <a:extLst>
              <a:ext uri="{FF2B5EF4-FFF2-40B4-BE49-F238E27FC236}">
                <a16:creationId xmlns:a16="http://schemas.microsoft.com/office/drawing/2014/main" id="{EF6C5EBE-EEB3-4894-9A69-2BEF473C41CB}"/>
              </a:ext>
            </a:extLst>
          </p:cNvPr>
          <p:cNvSpPr>
            <a:spLocks noGrp="1"/>
          </p:cNvSpPr>
          <p:nvPr/>
        </p:nvSpPr>
        <p:spPr>
          <a:xfrm>
            <a:off x="10801350" y="7000875"/>
            <a:ext cx="2819400" cy="396240"/>
          </a:xfrm>
          <a:prstGeom prst="roundRect">
            <a:avLst>
              <a:gd name="adj" fmla="val 50000"/>
            </a:avLst>
          </a:prstGeom>
          <a:solidFill>
            <a:srgbClr val="14151A"/>
          </a:solidFill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9E6FEE-C117-4AAD-AF92-7DA3ECB68A4D}"/>
              </a:ext>
            </a:extLst>
          </p:cNvPr>
          <p:cNvSpPr>
            <a:spLocks noGrp="1"/>
          </p:cNvSpPr>
          <p:nvPr/>
        </p:nvSpPr>
        <p:spPr>
          <a:xfrm>
            <a:off x="11010900" y="7105650"/>
            <a:ext cx="24003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Indian AI product</a:t>
            </a:r>
          </a:p>
        </p:txBody>
      </p:sp>
    </p:spTree>
    <p:extLst>
      <p:ext uri="{BB962C8B-B14F-4D97-AF65-F5344CB8AC3E}">
        <p14:creationId xmlns:p14="http://schemas.microsoft.com/office/powerpoint/2010/main" val="916424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g">
            <a:extLst>
              <a:ext uri="{FF2B5EF4-FFF2-40B4-BE49-F238E27FC236}">
                <a16:creationId xmlns:a16="http://schemas.microsoft.com/office/drawing/2014/main" id="{FFB2C0EF-0932-427B-B9FA-11FCD134CE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06"/>
          </a:solidFill>
        </p:spPr>
      </p:sp>
      <p:sp>
        <p:nvSpPr>
          <p:cNvPr id="2" name="top-glow">
            <a:extLst>
              <a:ext uri="{FF2B5EF4-FFF2-40B4-BE49-F238E27FC236}">
                <a16:creationId xmlns:a16="http://schemas.microsoft.com/office/drawing/2014/main" id="{8E9EBB0A-F991-49DA-8643-24C58610AF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14350"/>
          </a:xfrm>
          <a:prstGeom prst="rect">
            <a:avLst/>
          </a:prstGeom>
          <a:solidFill>
            <a:srgbClr val="55070B"/>
          </a:solidFill>
        </p:spPr>
      </p:sp>
      <p:sp>
        <p:nvSpPr>
          <p:cNvPr id="3" name="bottom-line">
            <a:extLst>
              <a:ext uri="{FF2B5EF4-FFF2-40B4-BE49-F238E27FC236}">
                <a16:creationId xmlns:a16="http://schemas.microsoft.com/office/drawing/2014/main" id="{12D437E8-1F52-47B3-BEAE-6BDE1500C4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D7B7B5A7-B846-4381-96DA-8E56969663F3}"/>
              </a:ext>
            </a:extLst>
          </p:cNvPr>
          <p:cNvSpPr>
            <a:spLocks noGrp="1"/>
          </p:cNvSpPr>
          <p:nvPr/>
        </p:nvSpPr>
        <p:spPr>
          <a:xfrm>
            <a:off x="781050" y="2305050"/>
            <a:ext cx="666750" cy="47625"/>
          </a:xfrm>
          <a:prstGeom prst="rect">
            <a:avLst/>
          </a:prstGeom>
          <a:solidFill>
            <a:srgbClr val="E50914"/>
          </a:solidFill>
          <a:ln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57F8C878-260E-427E-851D-5DC81DCE65E4}"/>
              </a:ext>
            </a:extLst>
          </p:cNvPr>
          <p:cNvSpPr>
            <a:spLocks noGrp="1"/>
          </p:cNvSpPr>
          <p:nvPr/>
        </p:nvSpPr>
        <p:spPr>
          <a:xfrm>
            <a:off x="1581150" y="2228850"/>
            <a:ext cx="1524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PRODUCT OVERVIEW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CF18DB52-1A6B-4B24-A7A1-86AA5C6B3281}"/>
              </a:ext>
            </a:extLst>
          </p:cNvPr>
          <p:cNvSpPr>
            <a:spLocks noGrp="1"/>
          </p:cNvSpPr>
          <p:nvPr/>
        </p:nvSpPr>
        <p:spPr>
          <a:xfrm>
            <a:off x="781050" y="2590800"/>
            <a:ext cx="93408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 dirty="0">
                <a:solidFill>
                  <a:srgbClr val="F8F5EF"/>
                </a:solidFill>
              </a:rPr>
              <a:t>Five modules. One adaptive ecosystem.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B0C18377-D1FF-43AF-B473-15C0F4F1117E}"/>
              </a:ext>
            </a:extLst>
          </p:cNvPr>
          <p:cNvSpPr>
            <a:spLocks noGrp="1"/>
          </p:cNvSpPr>
          <p:nvPr/>
        </p:nvSpPr>
        <p:spPr>
          <a:xfrm>
            <a:off x="781050" y="3409950"/>
            <a:ext cx="99441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 unified user journey from discovery to coaching, tracking, community, and long-term personalization.</a:t>
            </a:r>
          </a:p>
        </p:txBody>
      </p:sp>
      <p:sp>
        <p:nvSpPr>
          <p:cNvPr id="8" name="module-workouts">
            <a:extLst>
              <a:ext uri="{FF2B5EF4-FFF2-40B4-BE49-F238E27FC236}">
                <a16:creationId xmlns:a16="http://schemas.microsoft.com/office/drawing/2014/main" id="{7586B155-C569-4740-911B-571B53F17EF2}"/>
              </a:ext>
            </a:extLst>
          </p:cNvPr>
          <p:cNvSpPr>
            <a:spLocks noGrp="1"/>
          </p:cNvSpPr>
          <p:nvPr/>
        </p:nvSpPr>
        <p:spPr>
          <a:xfrm>
            <a:off x="781050" y="4411980"/>
            <a:ext cx="3177540" cy="3385820"/>
          </a:xfrm>
          <a:prstGeom prst="roundRect">
            <a:avLst>
              <a:gd name="adj" fmla="val 3597"/>
            </a:avLst>
          </a:prstGeom>
          <a:solidFill>
            <a:srgbClr val="111217"/>
          </a:solidFill>
        </p:spPr>
      </p:sp>
      <p:sp>
        <p:nvSpPr>
          <p:cNvPr id="9" name="workout-library">
            <a:extLst>
              <a:ext uri="{FF2B5EF4-FFF2-40B4-BE49-F238E27FC236}">
                <a16:creationId xmlns:a16="http://schemas.microsoft.com/office/drawing/2014/main" id="{A41DA510-227A-44DB-916D-336DAF880327}"/>
              </a:ext>
            </a:extLst>
          </p:cNvPr>
          <p:cNvSpPr>
            <a:spLocks noGrp="1"/>
          </p:cNvSpPr>
          <p:nvPr/>
        </p:nvSpPr>
        <p:spPr>
          <a:xfrm>
            <a:off x="1066800" y="5410200"/>
            <a:ext cx="26098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 i="0">
                <a:solidFill>
                  <a:srgbClr val="F8F5EF"/>
                </a:solidFill>
              </a:defRPr>
            </a:pPr>
            <a:r>
              <a:rPr sz="2400" b="1" i="0" dirty="0">
                <a:solidFill>
                  <a:srgbClr val="F8F5EF"/>
                </a:solidFill>
              </a:rPr>
              <a:t>Workout Library</a:t>
            </a:r>
          </a:p>
        </p:txBody>
      </p:sp>
      <p:sp>
        <p:nvSpPr>
          <p:cNvPr id="10" name="structured-exercise-discovery-plans-muscle-gr">
            <a:extLst>
              <a:ext uri="{FF2B5EF4-FFF2-40B4-BE49-F238E27FC236}">
                <a16:creationId xmlns:a16="http://schemas.microsoft.com/office/drawing/2014/main" id="{EA7450F5-BFB0-4CEE-AA94-03D82FF30E76}"/>
              </a:ext>
            </a:extLst>
          </p:cNvPr>
          <p:cNvSpPr>
            <a:spLocks noGrp="1"/>
          </p:cNvSpPr>
          <p:nvPr/>
        </p:nvSpPr>
        <p:spPr>
          <a:xfrm>
            <a:off x="1066800" y="5924550"/>
            <a:ext cx="2609850" cy="1066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>
                <a:solidFill>
                  <a:srgbClr val="C8C2B8"/>
                </a:solidFill>
              </a:rPr>
              <a:t>Structured exercise discovery, plans, muscle groups, and progression logic.</a:t>
            </a:r>
          </a:p>
        </p:txBody>
      </p:sp>
      <p:sp>
        <p:nvSpPr>
          <p:cNvPr id="11" name="module-technique">
            <a:extLst>
              <a:ext uri="{FF2B5EF4-FFF2-40B4-BE49-F238E27FC236}">
                <a16:creationId xmlns:a16="http://schemas.microsoft.com/office/drawing/2014/main" id="{6C64E129-7B91-4C62-A791-9E79340CDC25}"/>
              </a:ext>
            </a:extLst>
          </p:cNvPr>
          <p:cNvSpPr>
            <a:spLocks noGrp="1"/>
          </p:cNvSpPr>
          <p:nvPr/>
        </p:nvSpPr>
        <p:spPr>
          <a:xfrm>
            <a:off x="4168140" y="4411980"/>
            <a:ext cx="3177540" cy="3385820"/>
          </a:xfrm>
          <a:prstGeom prst="roundRect">
            <a:avLst>
              <a:gd name="adj" fmla="val 3597"/>
            </a:avLst>
          </a:prstGeom>
          <a:solidFill>
            <a:srgbClr val="111217"/>
          </a:solidFill>
        </p:spPr>
      </p:sp>
      <p:sp>
        <p:nvSpPr>
          <p:cNvPr id="12" name="technique-intelligence">
            <a:extLst>
              <a:ext uri="{FF2B5EF4-FFF2-40B4-BE49-F238E27FC236}">
                <a16:creationId xmlns:a16="http://schemas.microsoft.com/office/drawing/2014/main" id="{E9BC1C71-91E8-45CF-B7AA-43AFD2E1ACBC}"/>
              </a:ext>
            </a:extLst>
          </p:cNvPr>
          <p:cNvSpPr>
            <a:spLocks noGrp="1"/>
          </p:cNvSpPr>
          <p:nvPr/>
        </p:nvSpPr>
        <p:spPr>
          <a:xfrm>
            <a:off x="4457700" y="5391150"/>
            <a:ext cx="260985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 i="0">
                <a:solidFill>
                  <a:srgbClr val="F8F5EF"/>
                </a:solidFill>
              </a:defRPr>
            </a:pPr>
            <a:r>
              <a:rPr sz="2400" b="1" i="0">
                <a:solidFill>
                  <a:srgbClr val="F8F5EF"/>
                </a:solidFill>
              </a:rPr>
              <a:t>Technique Intelligence</a:t>
            </a:r>
          </a:p>
        </p:txBody>
      </p:sp>
      <p:sp>
        <p:nvSpPr>
          <p:cNvPr id="13" name="exercise-form-education-targeted-muscles-and-">
            <a:extLst>
              <a:ext uri="{FF2B5EF4-FFF2-40B4-BE49-F238E27FC236}">
                <a16:creationId xmlns:a16="http://schemas.microsoft.com/office/drawing/2014/main" id="{C94A8349-EAB7-4BF7-8CD3-92F18B56C60E}"/>
              </a:ext>
            </a:extLst>
          </p:cNvPr>
          <p:cNvSpPr>
            <a:spLocks noGrp="1"/>
          </p:cNvSpPr>
          <p:nvPr/>
        </p:nvSpPr>
        <p:spPr>
          <a:xfrm>
            <a:off x="4457700" y="6267450"/>
            <a:ext cx="260985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 dirty="0">
                <a:solidFill>
                  <a:srgbClr val="C8C2B8"/>
                </a:solidFill>
              </a:rPr>
              <a:t>Exercise form education, targeted muscles, and future video guidance.</a:t>
            </a:r>
          </a:p>
        </p:txBody>
      </p:sp>
      <p:sp>
        <p:nvSpPr>
          <p:cNvPr id="14" name="module-nutrition">
            <a:extLst>
              <a:ext uri="{FF2B5EF4-FFF2-40B4-BE49-F238E27FC236}">
                <a16:creationId xmlns:a16="http://schemas.microsoft.com/office/drawing/2014/main" id="{DA0DC039-9506-45E7-BBC4-697C8D3ECE32}"/>
              </a:ext>
            </a:extLst>
          </p:cNvPr>
          <p:cNvSpPr>
            <a:spLocks noGrp="1"/>
          </p:cNvSpPr>
          <p:nvPr/>
        </p:nvSpPr>
        <p:spPr>
          <a:xfrm>
            <a:off x="7555230" y="4411980"/>
            <a:ext cx="3177540" cy="3385820"/>
          </a:xfrm>
          <a:prstGeom prst="roundRect">
            <a:avLst>
              <a:gd name="adj" fmla="val 3597"/>
            </a:avLst>
          </a:prstGeom>
          <a:solidFill>
            <a:srgbClr val="111217"/>
          </a:solidFill>
        </p:spPr>
      </p:sp>
      <p:sp>
        <p:nvSpPr>
          <p:cNvPr id="15" name="nutrition-system">
            <a:extLst>
              <a:ext uri="{FF2B5EF4-FFF2-40B4-BE49-F238E27FC236}">
                <a16:creationId xmlns:a16="http://schemas.microsoft.com/office/drawing/2014/main" id="{AC6D1292-5627-4B8E-9AB7-83FB6482E35E}"/>
              </a:ext>
            </a:extLst>
          </p:cNvPr>
          <p:cNvSpPr>
            <a:spLocks noGrp="1"/>
          </p:cNvSpPr>
          <p:nvPr/>
        </p:nvSpPr>
        <p:spPr>
          <a:xfrm>
            <a:off x="7848600" y="5391150"/>
            <a:ext cx="26098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 i="0">
                <a:solidFill>
                  <a:srgbClr val="F8F5EF"/>
                </a:solidFill>
              </a:defRPr>
            </a:pPr>
            <a:r>
              <a:rPr sz="2400" b="1" i="0">
                <a:solidFill>
                  <a:srgbClr val="F8F5EF"/>
                </a:solidFill>
              </a:rPr>
              <a:t>Nutrition System</a:t>
            </a:r>
          </a:p>
        </p:txBody>
      </p:sp>
      <p:sp>
        <p:nvSpPr>
          <p:cNvPr id="16" name="macros-hydration-diet-suggestions-and-behavio">
            <a:extLst>
              <a:ext uri="{FF2B5EF4-FFF2-40B4-BE49-F238E27FC236}">
                <a16:creationId xmlns:a16="http://schemas.microsoft.com/office/drawing/2014/main" id="{3F2D91FA-9CCD-4EF0-92C2-486AB98124DD}"/>
              </a:ext>
            </a:extLst>
          </p:cNvPr>
          <p:cNvSpPr>
            <a:spLocks noGrp="1"/>
          </p:cNvSpPr>
          <p:nvPr/>
        </p:nvSpPr>
        <p:spPr>
          <a:xfrm>
            <a:off x="7848600" y="5905500"/>
            <a:ext cx="260985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 dirty="0">
                <a:solidFill>
                  <a:srgbClr val="C8C2B8"/>
                </a:solidFill>
              </a:rPr>
              <a:t>Macros, hydration, diet suggestions, and behavior-aware reminders.</a:t>
            </a:r>
          </a:p>
        </p:txBody>
      </p:sp>
      <p:sp>
        <p:nvSpPr>
          <p:cNvPr id="17" name="module-community">
            <a:extLst>
              <a:ext uri="{FF2B5EF4-FFF2-40B4-BE49-F238E27FC236}">
                <a16:creationId xmlns:a16="http://schemas.microsoft.com/office/drawing/2014/main" id="{22385472-111F-4730-BF23-F2B758D85056}"/>
              </a:ext>
            </a:extLst>
          </p:cNvPr>
          <p:cNvSpPr>
            <a:spLocks noGrp="1"/>
          </p:cNvSpPr>
          <p:nvPr/>
        </p:nvSpPr>
        <p:spPr>
          <a:xfrm>
            <a:off x="10942320" y="4411980"/>
            <a:ext cx="3177540" cy="3385820"/>
          </a:xfrm>
          <a:prstGeom prst="roundRect">
            <a:avLst>
              <a:gd name="adj" fmla="val 3597"/>
            </a:avLst>
          </a:prstGeom>
          <a:solidFill>
            <a:srgbClr val="111217"/>
          </a:solidFill>
        </p:spPr>
      </p:sp>
      <p:sp>
        <p:nvSpPr>
          <p:cNvPr id="18" name="community-system">
            <a:extLst>
              <a:ext uri="{FF2B5EF4-FFF2-40B4-BE49-F238E27FC236}">
                <a16:creationId xmlns:a16="http://schemas.microsoft.com/office/drawing/2014/main" id="{B41709C2-3AB9-40B7-B10D-B27CE6591B6F}"/>
              </a:ext>
            </a:extLst>
          </p:cNvPr>
          <p:cNvSpPr>
            <a:spLocks noGrp="1"/>
          </p:cNvSpPr>
          <p:nvPr/>
        </p:nvSpPr>
        <p:spPr>
          <a:xfrm>
            <a:off x="11220450" y="5378450"/>
            <a:ext cx="26098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 i="0">
                <a:solidFill>
                  <a:srgbClr val="F8F5EF"/>
                </a:solidFill>
              </a:defRPr>
            </a:pPr>
            <a:r>
              <a:rPr sz="2400" b="1" i="0">
                <a:solidFill>
                  <a:srgbClr val="F8F5EF"/>
                </a:solidFill>
              </a:rPr>
              <a:t>Community System</a:t>
            </a:r>
          </a:p>
        </p:txBody>
      </p:sp>
      <p:sp>
        <p:nvSpPr>
          <p:cNvPr id="19" name="accountability-progress-sharing-social-motiva">
            <a:extLst>
              <a:ext uri="{FF2B5EF4-FFF2-40B4-BE49-F238E27FC236}">
                <a16:creationId xmlns:a16="http://schemas.microsoft.com/office/drawing/2014/main" id="{8D9C8347-0092-4DF1-A6CB-CEA8F3B2ADCB}"/>
              </a:ext>
            </a:extLst>
          </p:cNvPr>
          <p:cNvSpPr>
            <a:spLocks noGrp="1"/>
          </p:cNvSpPr>
          <p:nvPr/>
        </p:nvSpPr>
        <p:spPr>
          <a:xfrm>
            <a:off x="11220450" y="5892800"/>
            <a:ext cx="260985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 dirty="0">
                <a:solidFill>
                  <a:srgbClr val="C8C2B8"/>
                </a:solidFill>
              </a:rPr>
              <a:t>Accountability, progress sharing, social motivation, and creator pathways.</a:t>
            </a:r>
          </a:p>
        </p:txBody>
      </p:sp>
      <p:sp>
        <p:nvSpPr>
          <p:cNvPr id="20" name="module-ai">
            <a:extLst>
              <a:ext uri="{FF2B5EF4-FFF2-40B4-BE49-F238E27FC236}">
                <a16:creationId xmlns:a16="http://schemas.microsoft.com/office/drawing/2014/main" id="{388BCCFD-972E-4CB3-9A6B-3BAAD96F2A33}"/>
              </a:ext>
            </a:extLst>
          </p:cNvPr>
          <p:cNvSpPr>
            <a:spLocks noGrp="1"/>
          </p:cNvSpPr>
          <p:nvPr/>
        </p:nvSpPr>
        <p:spPr>
          <a:xfrm>
            <a:off x="14329410" y="4411980"/>
            <a:ext cx="3177540" cy="3385820"/>
          </a:xfrm>
          <a:prstGeom prst="roundRect">
            <a:avLst>
              <a:gd name="adj" fmla="val 3597"/>
            </a:avLst>
          </a:prstGeom>
          <a:solidFill>
            <a:srgbClr val="180B0D"/>
          </a:solidFill>
        </p:spPr>
      </p:sp>
      <p:sp>
        <p:nvSpPr>
          <p:cNvPr id="21" name="ai-companion">
            <a:extLst>
              <a:ext uri="{FF2B5EF4-FFF2-40B4-BE49-F238E27FC236}">
                <a16:creationId xmlns:a16="http://schemas.microsoft.com/office/drawing/2014/main" id="{53F89662-0B76-4166-B466-E455D569A1F8}"/>
              </a:ext>
            </a:extLst>
          </p:cNvPr>
          <p:cNvSpPr>
            <a:spLocks noGrp="1"/>
          </p:cNvSpPr>
          <p:nvPr/>
        </p:nvSpPr>
        <p:spPr>
          <a:xfrm>
            <a:off x="14611350" y="5264150"/>
            <a:ext cx="26098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 i="0">
                <a:solidFill>
                  <a:srgbClr val="FF2E3A"/>
                </a:solidFill>
              </a:defRPr>
            </a:pPr>
            <a:r>
              <a:rPr sz="2400" b="1" i="0">
                <a:solidFill>
                  <a:srgbClr val="FF2E3A"/>
                </a:solidFill>
              </a:rPr>
              <a:t>AI Companion</a:t>
            </a:r>
          </a:p>
        </p:txBody>
      </p:sp>
      <p:sp>
        <p:nvSpPr>
          <p:cNvPr id="22" name="memory-driven-coaching-that-adapts-across-exp">
            <a:extLst>
              <a:ext uri="{FF2B5EF4-FFF2-40B4-BE49-F238E27FC236}">
                <a16:creationId xmlns:a16="http://schemas.microsoft.com/office/drawing/2014/main" id="{39D3E1D2-EB04-4067-8426-7263BC1929EA}"/>
              </a:ext>
            </a:extLst>
          </p:cNvPr>
          <p:cNvSpPr>
            <a:spLocks noGrp="1"/>
          </p:cNvSpPr>
          <p:nvPr/>
        </p:nvSpPr>
        <p:spPr>
          <a:xfrm>
            <a:off x="14611350" y="5778500"/>
            <a:ext cx="260985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 dirty="0">
                <a:solidFill>
                  <a:srgbClr val="C8C2B8"/>
                </a:solidFill>
              </a:rPr>
              <a:t>Memory-driven coaching that adapts across expert and companion modes.</a:t>
            </a:r>
          </a:p>
        </p:txBody>
      </p:sp>
    </p:spTree>
    <p:extLst>
      <p:ext uri="{BB962C8B-B14F-4D97-AF65-F5344CB8AC3E}">
        <p14:creationId xmlns:p14="http://schemas.microsoft.com/office/powerpoint/2010/main" val="561992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g">
            <a:extLst>
              <a:ext uri="{FF2B5EF4-FFF2-40B4-BE49-F238E27FC236}">
                <a16:creationId xmlns:a16="http://schemas.microsoft.com/office/drawing/2014/main" id="{DAC92D0C-96BF-4BEE-9E50-8EB283773A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06"/>
          </a:solidFill>
        </p:spPr>
      </p:sp>
      <p:sp>
        <p:nvSpPr>
          <p:cNvPr id="2" name="top-glow">
            <a:extLst>
              <a:ext uri="{FF2B5EF4-FFF2-40B4-BE49-F238E27FC236}">
                <a16:creationId xmlns:a16="http://schemas.microsoft.com/office/drawing/2014/main" id="{16B7E81C-099A-4868-ADC7-3BB47493B3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14350"/>
          </a:xfrm>
          <a:prstGeom prst="rect">
            <a:avLst/>
          </a:prstGeom>
          <a:solidFill>
            <a:srgbClr val="55070B"/>
          </a:solidFill>
        </p:spPr>
      </p:sp>
      <p:sp>
        <p:nvSpPr>
          <p:cNvPr id="3" name="bottom-line">
            <a:extLst>
              <a:ext uri="{FF2B5EF4-FFF2-40B4-BE49-F238E27FC236}">
                <a16:creationId xmlns:a16="http://schemas.microsoft.com/office/drawing/2014/main" id="{2FF6819D-94AF-4121-BAE3-C3DB109128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9186C4AD-E76B-4DFE-A58E-FE03805AAD21}"/>
              </a:ext>
            </a:extLst>
          </p:cNvPr>
          <p:cNvSpPr>
            <a:spLocks noGrp="1"/>
          </p:cNvSpPr>
          <p:nvPr/>
        </p:nvSpPr>
        <p:spPr>
          <a:xfrm>
            <a:off x="781050" y="2774950"/>
            <a:ext cx="666750" cy="47625"/>
          </a:xfrm>
          <a:prstGeom prst="rect">
            <a:avLst/>
          </a:prstGeom>
          <a:solidFill>
            <a:srgbClr val="E50914"/>
          </a:solidFill>
          <a:ln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93D7E67A-D58A-4639-8998-D806857C44B6}"/>
              </a:ext>
            </a:extLst>
          </p:cNvPr>
          <p:cNvSpPr>
            <a:spLocks noGrp="1"/>
          </p:cNvSpPr>
          <p:nvPr/>
        </p:nvSpPr>
        <p:spPr>
          <a:xfrm>
            <a:off x="1581150" y="2584450"/>
            <a:ext cx="11239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 dirty="0">
                <a:solidFill>
                  <a:srgbClr val="FF2E3A"/>
                </a:solidFill>
              </a:rPr>
              <a:t>AI COMPANION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D676D072-97E1-4335-8362-3A58862AD16D}"/>
              </a:ext>
            </a:extLst>
          </p:cNvPr>
          <p:cNvSpPr>
            <a:spLocks noGrp="1"/>
          </p:cNvSpPr>
          <p:nvPr/>
        </p:nvSpPr>
        <p:spPr>
          <a:xfrm>
            <a:off x="781050" y="3003550"/>
            <a:ext cx="123253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 dirty="0">
                <a:solidFill>
                  <a:srgbClr val="F8F5EF"/>
                </a:solidFill>
              </a:rPr>
              <a:t>A coach that remembers context, not just a chatbot.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DE8C4BF0-96E8-4DF1-B4C8-BB55827D064A}"/>
              </a:ext>
            </a:extLst>
          </p:cNvPr>
          <p:cNvSpPr>
            <a:spLocks noGrp="1"/>
          </p:cNvSpPr>
          <p:nvPr/>
        </p:nvSpPr>
        <p:spPr>
          <a:xfrm>
            <a:off x="781050" y="3914775"/>
            <a:ext cx="86868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 dirty="0">
                <a:solidFill>
                  <a:srgbClr val="C8C2B8"/>
                </a:solidFill>
              </a:rPr>
              <a:t>Dual-mode intelligence separates factual fitness guidance from warm companion support.</a:t>
            </a:r>
          </a:p>
        </p:txBody>
      </p:sp>
      <p:sp>
        <p:nvSpPr>
          <p:cNvPr id="8" name="node-0-user-signal">
            <a:extLst>
              <a:ext uri="{FF2B5EF4-FFF2-40B4-BE49-F238E27FC236}">
                <a16:creationId xmlns:a16="http://schemas.microsoft.com/office/drawing/2014/main" id="{4EBDE30D-5DB3-4884-A8F2-DE914DC2A1E1}"/>
              </a:ext>
            </a:extLst>
          </p:cNvPr>
          <p:cNvSpPr>
            <a:spLocks noGrp="1"/>
          </p:cNvSpPr>
          <p:nvPr/>
        </p:nvSpPr>
        <p:spPr>
          <a:xfrm>
            <a:off x="2009775" y="5619750"/>
            <a:ext cx="2381250" cy="1000125"/>
          </a:xfrm>
          <a:prstGeom prst="roundRect">
            <a:avLst>
              <a:gd name="adj" fmla="val 11429"/>
            </a:avLst>
          </a:prstGeom>
          <a:solidFill>
            <a:srgbClr val="17191F"/>
          </a:solidFill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3F5992-FEEF-4EA9-B0D4-D179227D7C9A}"/>
              </a:ext>
            </a:extLst>
          </p:cNvPr>
          <p:cNvSpPr>
            <a:spLocks noGrp="1"/>
          </p:cNvSpPr>
          <p:nvPr/>
        </p:nvSpPr>
        <p:spPr>
          <a:xfrm>
            <a:off x="2228850" y="5810250"/>
            <a:ext cx="19621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User Signal</a:t>
            </a:r>
          </a:p>
        </p:txBody>
      </p:sp>
      <p:sp>
        <p:nvSpPr>
          <p:cNvPr id="10" name="arrow-line-0">
            <a:extLst>
              <a:ext uri="{FF2B5EF4-FFF2-40B4-BE49-F238E27FC236}">
                <a16:creationId xmlns:a16="http://schemas.microsoft.com/office/drawing/2014/main" id="{138610AB-ABD5-4D56-B110-117A08B421FE}"/>
              </a:ext>
            </a:extLst>
          </p:cNvPr>
          <p:cNvSpPr>
            <a:spLocks noGrp="1"/>
          </p:cNvSpPr>
          <p:nvPr/>
        </p:nvSpPr>
        <p:spPr>
          <a:xfrm>
            <a:off x="4495800" y="6096000"/>
            <a:ext cx="400050" cy="38100"/>
          </a:xfrm>
          <a:prstGeom prst="rect">
            <a:avLst/>
          </a:prstGeom>
          <a:solidFill>
            <a:srgbClr val="FF2E3A"/>
          </a:solidFill>
        </p:spPr>
      </p:sp>
      <p:sp>
        <p:nvSpPr>
          <p:cNvPr id="11" name="node-1-memory-layer">
            <a:extLst>
              <a:ext uri="{FF2B5EF4-FFF2-40B4-BE49-F238E27FC236}">
                <a16:creationId xmlns:a16="http://schemas.microsoft.com/office/drawing/2014/main" id="{96A6E55A-2DB7-4A68-A97C-B5D5482D79A0}"/>
              </a:ext>
            </a:extLst>
          </p:cNvPr>
          <p:cNvSpPr>
            <a:spLocks noGrp="1"/>
          </p:cNvSpPr>
          <p:nvPr/>
        </p:nvSpPr>
        <p:spPr>
          <a:xfrm>
            <a:off x="4981575" y="5619750"/>
            <a:ext cx="2381250" cy="1000125"/>
          </a:xfrm>
          <a:prstGeom prst="roundRect">
            <a:avLst>
              <a:gd name="adj" fmla="val 11429"/>
            </a:avLst>
          </a:prstGeom>
          <a:solidFill>
            <a:srgbClr val="17191F"/>
          </a:solidFill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E65C23-E313-418F-9815-0DD7C2EAB980}"/>
              </a:ext>
            </a:extLst>
          </p:cNvPr>
          <p:cNvSpPr>
            <a:spLocks noGrp="1"/>
          </p:cNvSpPr>
          <p:nvPr/>
        </p:nvSpPr>
        <p:spPr>
          <a:xfrm>
            <a:off x="5200650" y="5810250"/>
            <a:ext cx="19621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Memory Layer</a:t>
            </a:r>
          </a:p>
        </p:txBody>
      </p:sp>
      <p:sp>
        <p:nvSpPr>
          <p:cNvPr id="13" name="arrow-line-1">
            <a:extLst>
              <a:ext uri="{FF2B5EF4-FFF2-40B4-BE49-F238E27FC236}">
                <a16:creationId xmlns:a16="http://schemas.microsoft.com/office/drawing/2014/main" id="{E008B24C-7917-4A4C-9C18-36DB623BA149}"/>
              </a:ext>
            </a:extLst>
          </p:cNvPr>
          <p:cNvSpPr>
            <a:spLocks noGrp="1"/>
          </p:cNvSpPr>
          <p:nvPr/>
        </p:nvSpPr>
        <p:spPr>
          <a:xfrm>
            <a:off x="7467600" y="6096000"/>
            <a:ext cx="400050" cy="38100"/>
          </a:xfrm>
          <a:prstGeom prst="rect">
            <a:avLst/>
          </a:prstGeom>
          <a:solidFill>
            <a:srgbClr val="FF2E3A"/>
          </a:solidFill>
        </p:spPr>
      </p:sp>
      <p:sp>
        <p:nvSpPr>
          <p:cNvPr id="14" name="node-2-ai-router">
            <a:extLst>
              <a:ext uri="{FF2B5EF4-FFF2-40B4-BE49-F238E27FC236}">
                <a16:creationId xmlns:a16="http://schemas.microsoft.com/office/drawing/2014/main" id="{BE7A8A69-B915-4B13-8689-986A3AA46260}"/>
              </a:ext>
            </a:extLst>
          </p:cNvPr>
          <p:cNvSpPr>
            <a:spLocks noGrp="1"/>
          </p:cNvSpPr>
          <p:nvPr/>
        </p:nvSpPr>
        <p:spPr>
          <a:xfrm>
            <a:off x="7953375" y="5619750"/>
            <a:ext cx="2381250" cy="1000125"/>
          </a:xfrm>
          <a:prstGeom prst="roundRect">
            <a:avLst>
              <a:gd name="adj" fmla="val 11429"/>
            </a:avLst>
          </a:prstGeom>
          <a:solidFill>
            <a:srgbClr val="17191F"/>
          </a:solidFill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AAA5C3-9B3B-4CB9-88CE-1F95BB6DAC70}"/>
              </a:ext>
            </a:extLst>
          </p:cNvPr>
          <p:cNvSpPr>
            <a:spLocks noGrp="1"/>
          </p:cNvSpPr>
          <p:nvPr/>
        </p:nvSpPr>
        <p:spPr>
          <a:xfrm>
            <a:off x="8172450" y="5810250"/>
            <a:ext cx="19621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AI Router</a:t>
            </a:r>
          </a:p>
        </p:txBody>
      </p:sp>
      <p:sp>
        <p:nvSpPr>
          <p:cNvPr id="16" name="arrow-line-2">
            <a:extLst>
              <a:ext uri="{FF2B5EF4-FFF2-40B4-BE49-F238E27FC236}">
                <a16:creationId xmlns:a16="http://schemas.microsoft.com/office/drawing/2014/main" id="{82938162-3D34-4B96-8579-6B9E8F03E077}"/>
              </a:ext>
            </a:extLst>
          </p:cNvPr>
          <p:cNvSpPr>
            <a:spLocks noGrp="1"/>
          </p:cNvSpPr>
          <p:nvPr/>
        </p:nvSpPr>
        <p:spPr>
          <a:xfrm>
            <a:off x="10439400" y="6096000"/>
            <a:ext cx="400050" cy="38100"/>
          </a:xfrm>
          <a:prstGeom prst="rect">
            <a:avLst/>
          </a:prstGeom>
          <a:solidFill>
            <a:srgbClr val="FF2E3A"/>
          </a:solidFill>
        </p:spPr>
      </p:sp>
      <p:sp>
        <p:nvSpPr>
          <p:cNvPr id="17" name="node-3-response-engine">
            <a:extLst>
              <a:ext uri="{FF2B5EF4-FFF2-40B4-BE49-F238E27FC236}">
                <a16:creationId xmlns:a16="http://schemas.microsoft.com/office/drawing/2014/main" id="{9236BBCB-7B72-45A4-A114-B5FBFD5A0316}"/>
              </a:ext>
            </a:extLst>
          </p:cNvPr>
          <p:cNvSpPr>
            <a:spLocks noGrp="1"/>
          </p:cNvSpPr>
          <p:nvPr/>
        </p:nvSpPr>
        <p:spPr>
          <a:xfrm>
            <a:off x="10925175" y="5619750"/>
            <a:ext cx="2381250" cy="1000125"/>
          </a:xfrm>
          <a:prstGeom prst="roundRect">
            <a:avLst>
              <a:gd name="adj" fmla="val 11429"/>
            </a:avLst>
          </a:prstGeom>
          <a:solidFill>
            <a:srgbClr val="17191F"/>
          </a:solidFill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9B2409-752A-47E0-B9A7-0E9633FAE225}"/>
              </a:ext>
            </a:extLst>
          </p:cNvPr>
          <p:cNvSpPr>
            <a:spLocks noGrp="1"/>
          </p:cNvSpPr>
          <p:nvPr/>
        </p:nvSpPr>
        <p:spPr>
          <a:xfrm>
            <a:off x="11144250" y="5810250"/>
            <a:ext cx="19621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Response Engine</a:t>
            </a:r>
          </a:p>
        </p:txBody>
      </p:sp>
      <p:sp>
        <p:nvSpPr>
          <p:cNvPr id="19" name="arrow-line-3">
            <a:extLst>
              <a:ext uri="{FF2B5EF4-FFF2-40B4-BE49-F238E27FC236}">
                <a16:creationId xmlns:a16="http://schemas.microsoft.com/office/drawing/2014/main" id="{3224CA8A-54AA-41FE-A430-FC7673B54B70}"/>
              </a:ext>
            </a:extLst>
          </p:cNvPr>
          <p:cNvSpPr>
            <a:spLocks noGrp="1"/>
          </p:cNvSpPr>
          <p:nvPr/>
        </p:nvSpPr>
        <p:spPr>
          <a:xfrm>
            <a:off x="13411200" y="6096000"/>
            <a:ext cx="400050" cy="38100"/>
          </a:xfrm>
          <a:prstGeom prst="rect">
            <a:avLst/>
          </a:prstGeom>
          <a:solidFill>
            <a:srgbClr val="FF2E3A"/>
          </a:solidFill>
        </p:spPr>
      </p:sp>
      <p:sp>
        <p:nvSpPr>
          <p:cNvPr id="20" name="node-4-adaptive-action">
            <a:extLst>
              <a:ext uri="{FF2B5EF4-FFF2-40B4-BE49-F238E27FC236}">
                <a16:creationId xmlns:a16="http://schemas.microsoft.com/office/drawing/2014/main" id="{81D0ABF2-E4A5-4B6C-B78F-E7158BCF81ED}"/>
              </a:ext>
            </a:extLst>
          </p:cNvPr>
          <p:cNvSpPr>
            <a:spLocks noGrp="1"/>
          </p:cNvSpPr>
          <p:nvPr/>
        </p:nvSpPr>
        <p:spPr>
          <a:xfrm>
            <a:off x="13896975" y="5619750"/>
            <a:ext cx="2381250" cy="1000125"/>
          </a:xfrm>
          <a:prstGeom prst="roundRect">
            <a:avLst>
              <a:gd name="adj" fmla="val 11429"/>
            </a:avLst>
          </a:prstGeom>
          <a:solidFill>
            <a:srgbClr val="E50914"/>
          </a:solidFill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DFBD01-A339-4EE9-9BC8-F5363E4C434A}"/>
              </a:ext>
            </a:extLst>
          </p:cNvPr>
          <p:cNvSpPr>
            <a:spLocks noGrp="1"/>
          </p:cNvSpPr>
          <p:nvPr/>
        </p:nvSpPr>
        <p:spPr>
          <a:xfrm>
            <a:off x="14116050" y="5810250"/>
            <a:ext cx="19621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Adaptive Action</a:t>
            </a:r>
          </a:p>
        </p:txBody>
      </p:sp>
    </p:spTree>
    <p:extLst>
      <p:ext uri="{BB962C8B-B14F-4D97-AF65-F5344CB8AC3E}">
        <p14:creationId xmlns:p14="http://schemas.microsoft.com/office/powerpoint/2010/main" val="89130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g">
            <a:extLst>
              <a:ext uri="{FF2B5EF4-FFF2-40B4-BE49-F238E27FC236}">
                <a16:creationId xmlns:a16="http://schemas.microsoft.com/office/drawing/2014/main" id="{A57521C2-F0B7-476B-B68F-11467C0E6F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06"/>
          </a:solidFill>
        </p:spPr>
      </p:sp>
      <p:sp>
        <p:nvSpPr>
          <p:cNvPr id="2" name="top-glow">
            <a:extLst>
              <a:ext uri="{FF2B5EF4-FFF2-40B4-BE49-F238E27FC236}">
                <a16:creationId xmlns:a16="http://schemas.microsoft.com/office/drawing/2014/main" id="{6DD0F75E-3F82-4B70-BB98-E6121F290D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14350"/>
          </a:xfrm>
          <a:prstGeom prst="rect">
            <a:avLst/>
          </a:prstGeom>
          <a:solidFill>
            <a:srgbClr val="55070B"/>
          </a:solidFill>
        </p:spPr>
      </p:sp>
      <p:sp>
        <p:nvSpPr>
          <p:cNvPr id="3" name="bottom-line">
            <a:extLst>
              <a:ext uri="{FF2B5EF4-FFF2-40B4-BE49-F238E27FC236}">
                <a16:creationId xmlns:a16="http://schemas.microsoft.com/office/drawing/2014/main" id="{239DD9DF-00BF-4702-81DC-167637AD87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E449275D-B2F8-4036-A447-9BBF23372D55}"/>
              </a:ext>
            </a:extLst>
          </p:cNvPr>
          <p:cNvSpPr>
            <a:spLocks noGrp="1"/>
          </p:cNvSpPr>
          <p:nvPr/>
        </p:nvSpPr>
        <p:spPr>
          <a:xfrm>
            <a:off x="781050" y="857250"/>
            <a:ext cx="666750" cy="47625"/>
          </a:xfrm>
          <a:prstGeom prst="rect">
            <a:avLst/>
          </a:prstGeom>
          <a:solidFill>
            <a:srgbClr val="E50914"/>
          </a:solidFill>
          <a:ln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8BBCCEB7-536B-4F1C-B28A-5D4ED5EFD856}"/>
              </a:ext>
            </a:extLst>
          </p:cNvPr>
          <p:cNvSpPr>
            <a:spLocks noGrp="1"/>
          </p:cNvSpPr>
          <p:nvPr/>
        </p:nvSpPr>
        <p:spPr>
          <a:xfrm>
            <a:off x="1581150" y="666750"/>
            <a:ext cx="1809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WORKOUT INTELLIGENCE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34939C30-B305-4C8D-89AC-913574240E84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10401300" cy="1333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From static exercises to adaptive progression.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F5007496-B082-4776-A812-E6F7DF6320B9}"/>
              </a:ext>
            </a:extLst>
          </p:cNvPr>
          <p:cNvSpPr>
            <a:spLocks noGrp="1"/>
          </p:cNvSpPr>
          <p:nvPr/>
        </p:nvSpPr>
        <p:spPr>
          <a:xfrm>
            <a:off x="781050" y="2705100"/>
            <a:ext cx="81724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GrindHaus can evolve from workout discovery into a behavior-aware training engine.</a:t>
            </a:r>
          </a:p>
        </p:txBody>
      </p:sp>
      <p:sp>
        <p:nvSpPr>
          <p:cNvPr id="8" name="muscle-map">
            <a:extLst>
              <a:ext uri="{FF2B5EF4-FFF2-40B4-BE49-F238E27FC236}">
                <a16:creationId xmlns:a16="http://schemas.microsoft.com/office/drawing/2014/main" id="{248A739A-57BE-488D-81A7-4F3C5127688F}"/>
              </a:ext>
            </a:extLst>
          </p:cNvPr>
          <p:cNvSpPr>
            <a:spLocks noGrp="1"/>
          </p:cNvSpPr>
          <p:nvPr/>
        </p:nvSpPr>
        <p:spPr>
          <a:xfrm>
            <a:off x="781050" y="3680460"/>
            <a:ext cx="7700486" cy="5939790"/>
          </a:xfrm>
          <a:prstGeom prst="roundRect">
            <a:avLst>
              <a:gd name="adj" fmla="val 1924"/>
            </a:avLst>
          </a:prstGeom>
          <a:solidFill>
            <a:srgbClr val="111217"/>
          </a:solidFill>
        </p:spPr>
      </p:sp>
      <p:sp>
        <p:nvSpPr>
          <p:cNvPr id="9" name="targeted-muscle-graph">
            <a:extLst>
              <a:ext uri="{FF2B5EF4-FFF2-40B4-BE49-F238E27FC236}">
                <a16:creationId xmlns:a16="http://schemas.microsoft.com/office/drawing/2014/main" id="{B05A4A3C-F62C-4A06-BA76-A0697D4204CB}"/>
              </a:ext>
            </a:extLst>
          </p:cNvPr>
          <p:cNvSpPr>
            <a:spLocks noGrp="1"/>
          </p:cNvSpPr>
          <p:nvPr/>
        </p:nvSpPr>
        <p:spPr>
          <a:xfrm>
            <a:off x="1162050" y="4914900"/>
            <a:ext cx="69342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FF2E3A"/>
                </a:solidFill>
              </a:defRPr>
            </a:pPr>
            <a:r>
              <a:rPr sz="2250" b="1" i="0">
                <a:solidFill>
                  <a:srgbClr val="FF2E3A"/>
                </a:solidFill>
              </a:rPr>
              <a:t>TARGETED MUSCLE GRAPH</a:t>
            </a:r>
          </a:p>
        </p:txBody>
      </p:sp>
      <p:sp>
        <p:nvSpPr>
          <p:cNvPr id="10" name="muscle-0">
            <a:extLst>
              <a:ext uri="{FF2B5EF4-FFF2-40B4-BE49-F238E27FC236}">
                <a16:creationId xmlns:a16="http://schemas.microsoft.com/office/drawing/2014/main" id="{81A5A36C-D444-4BD9-9C73-93A81617746F}"/>
              </a:ext>
            </a:extLst>
          </p:cNvPr>
          <p:cNvSpPr>
            <a:spLocks noGrp="1"/>
          </p:cNvSpPr>
          <p:nvPr/>
        </p:nvSpPr>
        <p:spPr>
          <a:xfrm>
            <a:off x="1162050" y="5473065"/>
            <a:ext cx="3381375" cy="601980"/>
          </a:xfrm>
          <a:prstGeom prst="roundRect">
            <a:avLst>
              <a:gd name="adj" fmla="val 50000"/>
            </a:avLst>
          </a:prstGeom>
          <a:solidFill>
            <a:srgbClr val="1A1113"/>
          </a:solidFill>
        </p:spPr>
      </p:sp>
      <p:sp>
        <p:nvSpPr>
          <p:cNvPr id="11" name="chest">
            <a:extLst>
              <a:ext uri="{FF2B5EF4-FFF2-40B4-BE49-F238E27FC236}">
                <a16:creationId xmlns:a16="http://schemas.microsoft.com/office/drawing/2014/main" id="{4E6BA8B7-FE4A-4A74-BC45-DA8FEC654D40}"/>
              </a:ext>
            </a:extLst>
          </p:cNvPr>
          <p:cNvSpPr>
            <a:spLocks noGrp="1"/>
          </p:cNvSpPr>
          <p:nvPr/>
        </p:nvSpPr>
        <p:spPr>
          <a:xfrm>
            <a:off x="1390650" y="5619750"/>
            <a:ext cx="29337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Chest</a:t>
            </a:r>
          </a:p>
        </p:txBody>
      </p:sp>
      <p:sp>
        <p:nvSpPr>
          <p:cNvPr id="12" name="muscle-1">
            <a:extLst>
              <a:ext uri="{FF2B5EF4-FFF2-40B4-BE49-F238E27FC236}">
                <a16:creationId xmlns:a16="http://schemas.microsoft.com/office/drawing/2014/main" id="{CF963328-4DA5-4834-94C2-EEA58E8DC872}"/>
              </a:ext>
            </a:extLst>
          </p:cNvPr>
          <p:cNvSpPr>
            <a:spLocks noGrp="1"/>
          </p:cNvSpPr>
          <p:nvPr/>
        </p:nvSpPr>
        <p:spPr>
          <a:xfrm>
            <a:off x="4714875" y="5473065"/>
            <a:ext cx="3381375" cy="601980"/>
          </a:xfrm>
          <a:prstGeom prst="roundRect">
            <a:avLst>
              <a:gd name="adj" fmla="val 50000"/>
            </a:avLst>
          </a:prstGeom>
          <a:solidFill>
            <a:srgbClr val="17191F"/>
          </a:solidFill>
        </p:spPr>
      </p:sp>
      <p:sp>
        <p:nvSpPr>
          <p:cNvPr id="13" name="back">
            <a:extLst>
              <a:ext uri="{FF2B5EF4-FFF2-40B4-BE49-F238E27FC236}">
                <a16:creationId xmlns:a16="http://schemas.microsoft.com/office/drawing/2014/main" id="{DAA45B5F-BB8E-4C5D-A195-287536ACF72C}"/>
              </a:ext>
            </a:extLst>
          </p:cNvPr>
          <p:cNvSpPr>
            <a:spLocks noGrp="1"/>
          </p:cNvSpPr>
          <p:nvPr/>
        </p:nvSpPr>
        <p:spPr>
          <a:xfrm>
            <a:off x="4953000" y="5619750"/>
            <a:ext cx="29337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Back</a:t>
            </a:r>
          </a:p>
        </p:txBody>
      </p:sp>
      <p:sp>
        <p:nvSpPr>
          <p:cNvPr id="14" name="muscle-2">
            <a:extLst>
              <a:ext uri="{FF2B5EF4-FFF2-40B4-BE49-F238E27FC236}">
                <a16:creationId xmlns:a16="http://schemas.microsoft.com/office/drawing/2014/main" id="{01AB94B9-F49B-4BFE-A289-3A2571E3B596}"/>
              </a:ext>
            </a:extLst>
          </p:cNvPr>
          <p:cNvSpPr>
            <a:spLocks noGrp="1"/>
          </p:cNvSpPr>
          <p:nvPr/>
        </p:nvSpPr>
        <p:spPr>
          <a:xfrm>
            <a:off x="1162050" y="6246495"/>
            <a:ext cx="3381375" cy="601980"/>
          </a:xfrm>
          <a:prstGeom prst="roundRect">
            <a:avLst>
              <a:gd name="adj" fmla="val 50000"/>
            </a:avLst>
          </a:prstGeom>
          <a:solidFill>
            <a:srgbClr val="1A1113"/>
          </a:solidFill>
        </p:spPr>
      </p:sp>
      <p:sp>
        <p:nvSpPr>
          <p:cNvPr id="15" name="shoulders">
            <a:extLst>
              <a:ext uri="{FF2B5EF4-FFF2-40B4-BE49-F238E27FC236}">
                <a16:creationId xmlns:a16="http://schemas.microsoft.com/office/drawing/2014/main" id="{1562D5BB-1611-47D3-A8B9-B6DBFF5C4796}"/>
              </a:ext>
            </a:extLst>
          </p:cNvPr>
          <p:cNvSpPr>
            <a:spLocks noGrp="1"/>
          </p:cNvSpPr>
          <p:nvPr/>
        </p:nvSpPr>
        <p:spPr>
          <a:xfrm>
            <a:off x="1390650" y="6400800"/>
            <a:ext cx="29337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Shoulders</a:t>
            </a:r>
          </a:p>
        </p:txBody>
      </p:sp>
      <p:sp>
        <p:nvSpPr>
          <p:cNvPr id="16" name="muscle-3">
            <a:extLst>
              <a:ext uri="{FF2B5EF4-FFF2-40B4-BE49-F238E27FC236}">
                <a16:creationId xmlns:a16="http://schemas.microsoft.com/office/drawing/2014/main" id="{7FB284E1-39F9-486B-9D09-A14049CB4599}"/>
              </a:ext>
            </a:extLst>
          </p:cNvPr>
          <p:cNvSpPr>
            <a:spLocks noGrp="1"/>
          </p:cNvSpPr>
          <p:nvPr/>
        </p:nvSpPr>
        <p:spPr>
          <a:xfrm>
            <a:off x="4714875" y="6246495"/>
            <a:ext cx="3381375" cy="601980"/>
          </a:xfrm>
          <a:prstGeom prst="roundRect">
            <a:avLst>
              <a:gd name="adj" fmla="val 50000"/>
            </a:avLst>
          </a:prstGeom>
          <a:solidFill>
            <a:srgbClr val="17191F"/>
          </a:solidFill>
        </p:spPr>
      </p:sp>
      <p:sp>
        <p:nvSpPr>
          <p:cNvPr id="17" name="legs">
            <a:extLst>
              <a:ext uri="{FF2B5EF4-FFF2-40B4-BE49-F238E27FC236}">
                <a16:creationId xmlns:a16="http://schemas.microsoft.com/office/drawing/2014/main" id="{DF80DA20-855A-4A59-9C30-F0FAA5E82C04}"/>
              </a:ext>
            </a:extLst>
          </p:cNvPr>
          <p:cNvSpPr>
            <a:spLocks noGrp="1"/>
          </p:cNvSpPr>
          <p:nvPr/>
        </p:nvSpPr>
        <p:spPr>
          <a:xfrm>
            <a:off x="4953000" y="6400800"/>
            <a:ext cx="29337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Legs</a:t>
            </a:r>
          </a:p>
        </p:txBody>
      </p:sp>
      <p:sp>
        <p:nvSpPr>
          <p:cNvPr id="18" name="muscle-4">
            <a:extLst>
              <a:ext uri="{FF2B5EF4-FFF2-40B4-BE49-F238E27FC236}">
                <a16:creationId xmlns:a16="http://schemas.microsoft.com/office/drawing/2014/main" id="{05C6AE3F-B801-4B7A-A161-88DED880B907}"/>
              </a:ext>
            </a:extLst>
          </p:cNvPr>
          <p:cNvSpPr>
            <a:spLocks noGrp="1"/>
          </p:cNvSpPr>
          <p:nvPr/>
        </p:nvSpPr>
        <p:spPr>
          <a:xfrm>
            <a:off x="1162050" y="7019925"/>
            <a:ext cx="3381375" cy="601980"/>
          </a:xfrm>
          <a:prstGeom prst="roundRect">
            <a:avLst>
              <a:gd name="adj" fmla="val 50000"/>
            </a:avLst>
          </a:prstGeom>
          <a:solidFill>
            <a:srgbClr val="1A1113"/>
          </a:solidFill>
        </p:spPr>
      </p:sp>
      <p:sp>
        <p:nvSpPr>
          <p:cNvPr id="19" name="arms">
            <a:extLst>
              <a:ext uri="{FF2B5EF4-FFF2-40B4-BE49-F238E27FC236}">
                <a16:creationId xmlns:a16="http://schemas.microsoft.com/office/drawing/2014/main" id="{6A97FF1C-8958-4EF5-B8DE-222AF8413277}"/>
              </a:ext>
            </a:extLst>
          </p:cNvPr>
          <p:cNvSpPr>
            <a:spLocks noGrp="1"/>
          </p:cNvSpPr>
          <p:nvPr/>
        </p:nvSpPr>
        <p:spPr>
          <a:xfrm>
            <a:off x="1390650" y="7162800"/>
            <a:ext cx="29337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Arms</a:t>
            </a:r>
          </a:p>
        </p:txBody>
      </p:sp>
      <p:sp>
        <p:nvSpPr>
          <p:cNvPr id="20" name="muscle-5">
            <a:extLst>
              <a:ext uri="{FF2B5EF4-FFF2-40B4-BE49-F238E27FC236}">
                <a16:creationId xmlns:a16="http://schemas.microsoft.com/office/drawing/2014/main" id="{7346ED2D-0B3C-45B7-B8E0-F726856D2DC3}"/>
              </a:ext>
            </a:extLst>
          </p:cNvPr>
          <p:cNvSpPr>
            <a:spLocks noGrp="1"/>
          </p:cNvSpPr>
          <p:nvPr/>
        </p:nvSpPr>
        <p:spPr>
          <a:xfrm>
            <a:off x="4714875" y="7019925"/>
            <a:ext cx="3381375" cy="601980"/>
          </a:xfrm>
          <a:prstGeom prst="roundRect">
            <a:avLst>
              <a:gd name="adj" fmla="val 50000"/>
            </a:avLst>
          </a:prstGeom>
          <a:solidFill>
            <a:srgbClr val="17191F"/>
          </a:solidFill>
        </p:spPr>
      </p:sp>
      <p:sp>
        <p:nvSpPr>
          <p:cNvPr id="21" name="core">
            <a:extLst>
              <a:ext uri="{FF2B5EF4-FFF2-40B4-BE49-F238E27FC236}">
                <a16:creationId xmlns:a16="http://schemas.microsoft.com/office/drawing/2014/main" id="{63F4E1E9-AF2B-4992-9F9A-505AE76BA153}"/>
              </a:ext>
            </a:extLst>
          </p:cNvPr>
          <p:cNvSpPr>
            <a:spLocks noGrp="1"/>
          </p:cNvSpPr>
          <p:nvPr/>
        </p:nvSpPr>
        <p:spPr>
          <a:xfrm>
            <a:off x="4953000" y="7162800"/>
            <a:ext cx="29337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Core</a:t>
            </a:r>
          </a:p>
        </p:txBody>
      </p:sp>
      <p:sp>
        <p:nvSpPr>
          <p:cNvPr id="22" name="exercise-selection-muscle-targeting-volume-tr">
            <a:extLst>
              <a:ext uri="{FF2B5EF4-FFF2-40B4-BE49-F238E27FC236}">
                <a16:creationId xmlns:a16="http://schemas.microsoft.com/office/drawing/2014/main" id="{2DE6E6CF-222F-4360-B954-3DD9ED70D960}"/>
              </a:ext>
            </a:extLst>
          </p:cNvPr>
          <p:cNvSpPr>
            <a:spLocks noGrp="1"/>
          </p:cNvSpPr>
          <p:nvPr/>
        </p:nvSpPr>
        <p:spPr>
          <a:xfrm>
            <a:off x="1314450" y="7829550"/>
            <a:ext cx="66294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Exercise selection → muscle targeting → volume tracking → progressive overload</a:t>
            </a:r>
          </a:p>
        </p:txBody>
      </p:sp>
      <p:sp>
        <p:nvSpPr>
          <p:cNvPr id="23" name="workout-feature-1">
            <a:extLst>
              <a:ext uri="{FF2B5EF4-FFF2-40B4-BE49-F238E27FC236}">
                <a16:creationId xmlns:a16="http://schemas.microsoft.com/office/drawing/2014/main" id="{304D28F5-70C4-4171-9532-AAE8A7A41F24}"/>
              </a:ext>
            </a:extLst>
          </p:cNvPr>
          <p:cNvSpPr>
            <a:spLocks noGrp="1"/>
          </p:cNvSpPr>
          <p:nvPr/>
        </p:nvSpPr>
        <p:spPr>
          <a:xfrm>
            <a:off x="8995886" y="3680460"/>
            <a:ext cx="8511064" cy="1790700"/>
          </a:xfrm>
          <a:prstGeom prst="roundRect">
            <a:avLst>
              <a:gd name="adj" fmla="val 6383"/>
            </a:avLst>
          </a:prstGeom>
          <a:solidFill>
            <a:srgbClr val="111217"/>
          </a:solidFill>
        </p:spPr>
      </p:sp>
      <p:sp>
        <p:nvSpPr>
          <p:cNvPr id="24" name="bullet-dot-0">
            <a:extLst>
              <a:ext uri="{FF2B5EF4-FFF2-40B4-BE49-F238E27FC236}">
                <a16:creationId xmlns:a16="http://schemas.microsoft.com/office/drawing/2014/main" id="{EFBC8EB3-BC06-43B3-A1FA-7C6D541FF306}"/>
              </a:ext>
            </a:extLst>
          </p:cNvPr>
          <p:cNvSpPr>
            <a:spLocks noGrp="1"/>
          </p:cNvSpPr>
          <p:nvPr/>
        </p:nvSpPr>
        <p:spPr>
          <a:xfrm>
            <a:off x="9277350" y="401955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25" name="bullet-0">
            <a:extLst>
              <a:ext uri="{FF2B5EF4-FFF2-40B4-BE49-F238E27FC236}">
                <a16:creationId xmlns:a16="http://schemas.microsoft.com/office/drawing/2014/main" id="{A9D9F3E4-3AB6-4061-9C8D-5B28E8A880E6}"/>
              </a:ext>
            </a:extLst>
          </p:cNvPr>
          <p:cNvSpPr>
            <a:spLocks noGrp="1"/>
          </p:cNvSpPr>
          <p:nvPr/>
        </p:nvSpPr>
        <p:spPr>
          <a:xfrm>
            <a:off x="9544050" y="3924300"/>
            <a:ext cx="76771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Targeted muscle selection</a:t>
            </a:r>
          </a:p>
        </p:txBody>
      </p:sp>
      <p:sp>
        <p:nvSpPr>
          <p:cNvPr id="26" name="bullet-dot-1">
            <a:extLst>
              <a:ext uri="{FF2B5EF4-FFF2-40B4-BE49-F238E27FC236}">
                <a16:creationId xmlns:a16="http://schemas.microsoft.com/office/drawing/2014/main" id="{0FEE8C72-4555-4BFE-A043-083055196184}"/>
              </a:ext>
            </a:extLst>
          </p:cNvPr>
          <p:cNvSpPr>
            <a:spLocks noGrp="1"/>
          </p:cNvSpPr>
          <p:nvPr/>
        </p:nvSpPr>
        <p:spPr>
          <a:xfrm>
            <a:off x="9277350" y="447675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27" name="bullet-1">
            <a:extLst>
              <a:ext uri="{FF2B5EF4-FFF2-40B4-BE49-F238E27FC236}">
                <a16:creationId xmlns:a16="http://schemas.microsoft.com/office/drawing/2014/main" id="{43A1BE5C-92D2-42E9-B2DA-3546D9FC14B8}"/>
              </a:ext>
            </a:extLst>
          </p:cNvPr>
          <p:cNvSpPr>
            <a:spLocks noGrp="1"/>
          </p:cNvSpPr>
          <p:nvPr/>
        </p:nvSpPr>
        <p:spPr>
          <a:xfrm>
            <a:off x="9544050" y="4381500"/>
            <a:ext cx="76771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Exercise recommendations by goal</a:t>
            </a:r>
          </a:p>
        </p:txBody>
      </p:sp>
      <p:sp>
        <p:nvSpPr>
          <p:cNvPr id="28" name="bullet-dot-2">
            <a:extLst>
              <a:ext uri="{FF2B5EF4-FFF2-40B4-BE49-F238E27FC236}">
                <a16:creationId xmlns:a16="http://schemas.microsoft.com/office/drawing/2014/main" id="{9B002DFF-430B-4883-8595-0E57779AA6E3}"/>
              </a:ext>
            </a:extLst>
          </p:cNvPr>
          <p:cNvSpPr>
            <a:spLocks noGrp="1"/>
          </p:cNvSpPr>
          <p:nvPr/>
        </p:nvSpPr>
        <p:spPr>
          <a:xfrm>
            <a:off x="9277350" y="493395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29" name="bullet-2">
            <a:extLst>
              <a:ext uri="{FF2B5EF4-FFF2-40B4-BE49-F238E27FC236}">
                <a16:creationId xmlns:a16="http://schemas.microsoft.com/office/drawing/2014/main" id="{246210A4-96DC-4070-A68E-C52F35279733}"/>
              </a:ext>
            </a:extLst>
          </p:cNvPr>
          <p:cNvSpPr>
            <a:spLocks noGrp="1"/>
          </p:cNvSpPr>
          <p:nvPr/>
        </p:nvSpPr>
        <p:spPr>
          <a:xfrm>
            <a:off x="9544050" y="4838700"/>
            <a:ext cx="76771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Beginner-to-advanced plan logic</a:t>
            </a:r>
          </a:p>
        </p:txBody>
      </p:sp>
      <p:sp>
        <p:nvSpPr>
          <p:cNvPr id="30" name="workout-feature-2">
            <a:extLst>
              <a:ext uri="{FF2B5EF4-FFF2-40B4-BE49-F238E27FC236}">
                <a16:creationId xmlns:a16="http://schemas.microsoft.com/office/drawing/2014/main" id="{51F3A8E0-883B-41FA-92FF-64D583432B04}"/>
              </a:ext>
            </a:extLst>
          </p:cNvPr>
          <p:cNvSpPr>
            <a:spLocks noGrp="1"/>
          </p:cNvSpPr>
          <p:nvPr/>
        </p:nvSpPr>
        <p:spPr>
          <a:xfrm>
            <a:off x="8995886" y="5642610"/>
            <a:ext cx="8511064" cy="1790700"/>
          </a:xfrm>
          <a:prstGeom prst="roundRect">
            <a:avLst>
              <a:gd name="adj" fmla="val 6383"/>
            </a:avLst>
          </a:prstGeom>
          <a:solidFill>
            <a:srgbClr val="111217"/>
          </a:solidFill>
        </p:spPr>
      </p:sp>
      <p:sp>
        <p:nvSpPr>
          <p:cNvPr id="31" name="bullet-dot-0">
            <a:extLst>
              <a:ext uri="{FF2B5EF4-FFF2-40B4-BE49-F238E27FC236}">
                <a16:creationId xmlns:a16="http://schemas.microsoft.com/office/drawing/2014/main" id="{CF1A8B1F-AD04-4D97-8CAF-373AC9CA2646}"/>
              </a:ext>
            </a:extLst>
          </p:cNvPr>
          <p:cNvSpPr>
            <a:spLocks noGrp="1"/>
          </p:cNvSpPr>
          <p:nvPr/>
        </p:nvSpPr>
        <p:spPr>
          <a:xfrm>
            <a:off x="9277350" y="59817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32" name="bullet-0">
            <a:extLst>
              <a:ext uri="{FF2B5EF4-FFF2-40B4-BE49-F238E27FC236}">
                <a16:creationId xmlns:a16="http://schemas.microsoft.com/office/drawing/2014/main" id="{8CA81BF4-5126-4604-826E-0F51F954DC7B}"/>
              </a:ext>
            </a:extLst>
          </p:cNvPr>
          <p:cNvSpPr>
            <a:spLocks noGrp="1"/>
          </p:cNvSpPr>
          <p:nvPr/>
        </p:nvSpPr>
        <p:spPr>
          <a:xfrm>
            <a:off x="9544050" y="5886450"/>
            <a:ext cx="76771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Progressive overload recommendations</a:t>
            </a:r>
          </a:p>
        </p:txBody>
      </p:sp>
      <p:sp>
        <p:nvSpPr>
          <p:cNvPr id="33" name="bullet-dot-1">
            <a:extLst>
              <a:ext uri="{FF2B5EF4-FFF2-40B4-BE49-F238E27FC236}">
                <a16:creationId xmlns:a16="http://schemas.microsoft.com/office/drawing/2014/main" id="{0821DDDB-6E71-4A97-9669-A611845BA2B3}"/>
              </a:ext>
            </a:extLst>
          </p:cNvPr>
          <p:cNvSpPr>
            <a:spLocks noGrp="1"/>
          </p:cNvSpPr>
          <p:nvPr/>
        </p:nvSpPr>
        <p:spPr>
          <a:xfrm>
            <a:off x="9277350" y="64389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34" name="bullet-1">
            <a:extLst>
              <a:ext uri="{FF2B5EF4-FFF2-40B4-BE49-F238E27FC236}">
                <a16:creationId xmlns:a16="http://schemas.microsoft.com/office/drawing/2014/main" id="{B1E5C983-2A80-4CC3-ACD9-BA510E9F93C6}"/>
              </a:ext>
            </a:extLst>
          </p:cNvPr>
          <p:cNvSpPr>
            <a:spLocks noGrp="1"/>
          </p:cNvSpPr>
          <p:nvPr/>
        </p:nvSpPr>
        <p:spPr>
          <a:xfrm>
            <a:off x="9544050" y="6343650"/>
            <a:ext cx="76771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Missed-session recovery planning</a:t>
            </a:r>
          </a:p>
        </p:txBody>
      </p:sp>
      <p:sp>
        <p:nvSpPr>
          <p:cNvPr id="35" name="bullet-dot-2">
            <a:extLst>
              <a:ext uri="{FF2B5EF4-FFF2-40B4-BE49-F238E27FC236}">
                <a16:creationId xmlns:a16="http://schemas.microsoft.com/office/drawing/2014/main" id="{2CD27DEB-7B42-46E2-B80D-F8E24301AE7D}"/>
              </a:ext>
            </a:extLst>
          </p:cNvPr>
          <p:cNvSpPr>
            <a:spLocks noGrp="1"/>
          </p:cNvSpPr>
          <p:nvPr/>
        </p:nvSpPr>
        <p:spPr>
          <a:xfrm>
            <a:off x="9277350" y="68961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36" name="bullet-2">
            <a:extLst>
              <a:ext uri="{FF2B5EF4-FFF2-40B4-BE49-F238E27FC236}">
                <a16:creationId xmlns:a16="http://schemas.microsoft.com/office/drawing/2014/main" id="{BF710423-D391-44AF-AD5D-1759C4459A3F}"/>
              </a:ext>
            </a:extLst>
          </p:cNvPr>
          <p:cNvSpPr>
            <a:spLocks noGrp="1"/>
          </p:cNvSpPr>
          <p:nvPr/>
        </p:nvSpPr>
        <p:spPr>
          <a:xfrm>
            <a:off x="9544050" y="6800850"/>
            <a:ext cx="76771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Future form correction with video AI</a:t>
            </a:r>
          </a:p>
        </p:txBody>
      </p:sp>
      <p:sp>
        <p:nvSpPr>
          <p:cNvPr id="37" name="workout-feature-3">
            <a:extLst>
              <a:ext uri="{FF2B5EF4-FFF2-40B4-BE49-F238E27FC236}">
                <a16:creationId xmlns:a16="http://schemas.microsoft.com/office/drawing/2014/main" id="{B857F9D3-98A9-470E-AB76-2DDC005E2928}"/>
              </a:ext>
            </a:extLst>
          </p:cNvPr>
          <p:cNvSpPr>
            <a:spLocks noGrp="1"/>
          </p:cNvSpPr>
          <p:nvPr/>
        </p:nvSpPr>
        <p:spPr>
          <a:xfrm>
            <a:off x="8995886" y="7604760"/>
            <a:ext cx="8511064" cy="1524000"/>
          </a:xfrm>
          <a:prstGeom prst="roundRect">
            <a:avLst>
              <a:gd name="adj" fmla="val 7500"/>
            </a:avLst>
          </a:prstGeom>
          <a:solidFill>
            <a:srgbClr val="160B0D"/>
          </a:solidFill>
        </p:spPr>
      </p:sp>
      <p:sp>
        <p:nvSpPr>
          <p:cNvPr id="38" name="future-direction-ai-generated-weekly-programs">
            <a:extLst>
              <a:ext uri="{FF2B5EF4-FFF2-40B4-BE49-F238E27FC236}">
                <a16:creationId xmlns:a16="http://schemas.microsoft.com/office/drawing/2014/main" id="{8D02EBC6-2337-498B-A48F-A4231CB271F4}"/>
              </a:ext>
            </a:extLst>
          </p:cNvPr>
          <p:cNvSpPr>
            <a:spLocks noGrp="1"/>
          </p:cNvSpPr>
          <p:nvPr/>
        </p:nvSpPr>
        <p:spPr>
          <a:xfrm>
            <a:off x="9277350" y="7848600"/>
            <a:ext cx="79438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 i="0">
                <a:solidFill>
                  <a:srgbClr val="F8F5EF"/>
                </a:solidFill>
              </a:defRPr>
            </a:pPr>
            <a:r>
              <a:rPr sz="1875" b="1" i="0">
                <a:solidFill>
                  <a:srgbClr val="F8F5EF"/>
                </a:solidFill>
              </a:rPr>
              <a:t>Future direction: AI-generated weekly programs adapt to adherence, sleep, soreness, equipment, and body-composition goals.</a:t>
            </a:r>
          </a:p>
        </p:txBody>
      </p:sp>
    </p:spTree>
    <p:extLst>
      <p:ext uri="{BB962C8B-B14F-4D97-AF65-F5344CB8AC3E}">
        <p14:creationId xmlns:p14="http://schemas.microsoft.com/office/powerpoint/2010/main" val="715038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g">
            <a:extLst>
              <a:ext uri="{FF2B5EF4-FFF2-40B4-BE49-F238E27FC236}">
                <a16:creationId xmlns:a16="http://schemas.microsoft.com/office/drawing/2014/main" id="{D9B3972A-E304-4B00-AE43-5EBE3683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06"/>
          </a:solidFill>
        </p:spPr>
      </p:sp>
      <p:sp>
        <p:nvSpPr>
          <p:cNvPr id="2" name="top-glow">
            <a:extLst>
              <a:ext uri="{FF2B5EF4-FFF2-40B4-BE49-F238E27FC236}">
                <a16:creationId xmlns:a16="http://schemas.microsoft.com/office/drawing/2014/main" id="{5A84532E-361C-4CD4-9B39-C1331A6B35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14350"/>
          </a:xfrm>
          <a:prstGeom prst="rect">
            <a:avLst/>
          </a:prstGeom>
          <a:solidFill>
            <a:srgbClr val="55070B"/>
          </a:solidFill>
        </p:spPr>
      </p:sp>
      <p:sp>
        <p:nvSpPr>
          <p:cNvPr id="3" name="bottom-line">
            <a:extLst>
              <a:ext uri="{FF2B5EF4-FFF2-40B4-BE49-F238E27FC236}">
                <a16:creationId xmlns:a16="http://schemas.microsoft.com/office/drawing/2014/main" id="{9F513B0B-07B6-4760-B591-2F98489168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67743B11-91BB-4091-B4FA-464E692E7EE1}"/>
              </a:ext>
            </a:extLst>
          </p:cNvPr>
          <p:cNvSpPr>
            <a:spLocks noGrp="1"/>
          </p:cNvSpPr>
          <p:nvPr/>
        </p:nvSpPr>
        <p:spPr>
          <a:xfrm>
            <a:off x="781050" y="857250"/>
            <a:ext cx="666750" cy="47625"/>
          </a:xfrm>
          <a:prstGeom prst="rect">
            <a:avLst/>
          </a:prstGeom>
          <a:solidFill>
            <a:srgbClr val="E50914"/>
          </a:solidFill>
          <a:ln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FA374F2D-2708-44F0-95FE-5402CBEFF496}"/>
              </a:ext>
            </a:extLst>
          </p:cNvPr>
          <p:cNvSpPr>
            <a:spLocks noGrp="1"/>
          </p:cNvSpPr>
          <p:nvPr/>
        </p:nvSpPr>
        <p:spPr>
          <a:xfrm>
            <a:off x="1581150" y="666750"/>
            <a:ext cx="18478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 dirty="0">
                <a:solidFill>
                  <a:srgbClr val="FF2E3A"/>
                </a:solidFill>
              </a:rPr>
              <a:t>NUTRITION INTELLIGENCE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3690A597-36E8-4D59-B43B-948070A9148C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10668000" cy="1333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Food guidance that adapts to goals and habits.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2E5C1C53-644D-4E3E-9B7E-B2A47513C6B3}"/>
              </a:ext>
            </a:extLst>
          </p:cNvPr>
          <p:cNvSpPr>
            <a:spLocks noGrp="1"/>
          </p:cNvSpPr>
          <p:nvPr/>
        </p:nvSpPr>
        <p:spPr>
          <a:xfrm>
            <a:off x="781050" y="2705100"/>
            <a:ext cx="78295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system turns daily nutrition signals into small, actionable coaching moments.</a:t>
            </a:r>
          </a:p>
        </p:txBody>
      </p:sp>
      <p:sp>
        <p:nvSpPr>
          <p:cNvPr id="8" name="nutrition-macros">
            <a:extLst>
              <a:ext uri="{FF2B5EF4-FFF2-40B4-BE49-F238E27FC236}">
                <a16:creationId xmlns:a16="http://schemas.microsoft.com/office/drawing/2014/main" id="{091C5144-282D-4594-8AA5-E1FA46183185}"/>
              </a:ext>
            </a:extLst>
          </p:cNvPr>
          <p:cNvSpPr>
            <a:spLocks noGrp="1"/>
          </p:cNvSpPr>
          <p:nvPr/>
        </p:nvSpPr>
        <p:spPr>
          <a:xfrm>
            <a:off x="781050" y="3680460"/>
            <a:ext cx="8501063" cy="2000250"/>
          </a:xfrm>
          <a:prstGeom prst="roundRect">
            <a:avLst>
              <a:gd name="adj" fmla="val 5714"/>
            </a:avLst>
          </a:prstGeom>
          <a:solidFill>
            <a:srgbClr val="111217"/>
          </a:solidFill>
        </p:spPr>
      </p:sp>
      <p:sp>
        <p:nvSpPr>
          <p:cNvPr id="9" name="120g">
            <a:extLst>
              <a:ext uri="{FF2B5EF4-FFF2-40B4-BE49-F238E27FC236}">
                <a16:creationId xmlns:a16="http://schemas.microsoft.com/office/drawing/2014/main" id="{E640B09A-BB8F-48A7-8B1F-4FCBB1B62D84}"/>
              </a:ext>
            </a:extLst>
          </p:cNvPr>
          <p:cNvSpPr>
            <a:spLocks noGrp="1"/>
          </p:cNvSpPr>
          <p:nvPr/>
        </p:nvSpPr>
        <p:spPr>
          <a:xfrm>
            <a:off x="1066800" y="3924300"/>
            <a:ext cx="11811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 i="0">
                <a:solidFill>
                  <a:srgbClr val="8BFFB8"/>
                </a:solidFill>
              </a:defRPr>
            </a:pPr>
            <a:r>
              <a:rPr sz="4650" b="1" i="0">
                <a:solidFill>
                  <a:srgbClr val="8BFFB8"/>
                </a:solidFill>
              </a:rPr>
              <a:t>120g</a:t>
            </a:r>
          </a:p>
        </p:txBody>
      </p:sp>
      <p:sp>
        <p:nvSpPr>
          <p:cNvPr id="10" name="protein-target">
            <a:extLst>
              <a:ext uri="{FF2B5EF4-FFF2-40B4-BE49-F238E27FC236}">
                <a16:creationId xmlns:a16="http://schemas.microsoft.com/office/drawing/2014/main" id="{37EC6641-951B-476A-863D-01093C22A4D8}"/>
              </a:ext>
            </a:extLst>
          </p:cNvPr>
          <p:cNvSpPr>
            <a:spLocks noGrp="1"/>
          </p:cNvSpPr>
          <p:nvPr/>
        </p:nvSpPr>
        <p:spPr>
          <a:xfrm>
            <a:off x="1066800" y="4705350"/>
            <a:ext cx="12001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 dirty="0">
                <a:solidFill>
                  <a:srgbClr val="F8F5EF"/>
                </a:solidFill>
              </a:rPr>
              <a:t>protein target</a:t>
            </a:r>
          </a:p>
        </p:txBody>
      </p:sp>
      <p:sp>
        <p:nvSpPr>
          <p:cNvPr id="11" name="example-muscle-gain-target">
            <a:extLst>
              <a:ext uri="{FF2B5EF4-FFF2-40B4-BE49-F238E27FC236}">
                <a16:creationId xmlns:a16="http://schemas.microsoft.com/office/drawing/2014/main" id="{96725918-BAE0-4A20-A0D5-5810D7629E1A}"/>
              </a:ext>
            </a:extLst>
          </p:cNvPr>
          <p:cNvSpPr>
            <a:spLocks noGrp="1"/>
          </p:cNvSpPr>
          <p:nvPr/>
        </p:nvSpPr>
        <p:spPr>
          <a:xfrm>
            <a:off x="1066800" y="5156835"/>
            <a:ext cx="18097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 dirty="0">
                <a:solidFill>
                  <a:srgbClr val="8D8990"/>
                </a:solidFill>
              </a:rPr>
              <a:t>Example muscle-gain target</a:t>
            </a:r>
          </a:p>
        </p:txBody>
      </p:sp>
      <p:sp>
        <p:nvSpPr>
          <p:cNvPr id="12" name="3l">
            <a:extLst>
              <a:ext uri="{FF2B5EF4-FFF2-40B4-BE49-F238E27FC236}">
                <a16:creationId xmlns:a16="http://schemas.microsoft.com/office/drawing/2014/main" id="{E32EBA33-4A11-46BF-B19C-A2684297F804}"/>
              </a:ext>
            </a:extLst>
          </p:cNvPr>
          <p:cNvSpPr>
            <a:spLocks noGrp="1"/>
          </p:cNvSpPr>
          <p:nvPr/>
        </p:nvSpPr>
        <p:spPr>
          <a:xfrm>
            <a:off x="3771900" y="3924300"/>
            <a:ext cx="5524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 i="0">
                <a:solidFill>
                  <a:srgbClr val="54E4FF"/>
                </a:solidFill>
              </a:defRPr>
            </a:pPr>
            <a:r>
              <a:rPr sz="4650" b="1" i="0">
                <a:solidFill>
                  <a:srgbClr val="54E4FF"/>
                </a:solidFill>
              </a:rPr>
              <a:t>3L</a:t>
            </a:r>
          </a:p>
        </p:txBody>
      </p:sp>
      <p:sp>
        <p:nvSpPr>
          <p:cNvPr id="13" name="water-target">
            <a:extLst>
              <a:ext uri="{FF2B5EF4-FFF2-40B4-BE49-F238E27FC236}">
                <a16:creationId xmlns:a16="http://schemas.microsoft.com/office/drawing/2014/main" id="{8EBFFCC0-FDD6-44DA-9288-6D56582F5E26}"/>
              </a:ext>
            </a:extLst>
          </p:cNvPr>
          <p:cNvSpPr>
            <a:spLocks noGrp="1"/>
          </p:cNvSpPr>
          <p:nvPr/>
        </p:nvSpPr>
        <p:spPr>
          <a:xfrm>
            <a:off x="3771900" y="4664075"/>
            <a:ext cx="10668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 dirty="0">
                <a:solidFill>
                  <a:srgbClr val="F8F5EF"/>
                </a:solidFill>
              </a:rPr>
              <a:t>water target</a:t>
            </a:r>
          </a:p>
        </p:txBody>
      </p:sp>
      <p:sp>
        <p:nvSpPr>
          <p:cNvPr id="14" name="hydration-habit-loop">
            <a:extLst>
              <a:ext uri="{FF2B5EF4-FFF2-40B4-BE49-F238E27FC236}">
                <a16:creationId xmlns:a16="http://schemas.microsoft.com/office/drawing/2014/main" id="{438BCEA0-E4BF-4AA1-A55E-9E3424F7B3CB}"/>
              </a:ext>
            </a:extLst>
          </p:cNvPr>
          <p:cNvSpPr>
            <a:spLocks noGrp="1"/>
          </p:cNvSpPr>
          <p:nvPr/>
        </p:nvSpPr>
        <p:spPr>
          <a:xfrm>
            <a:off x="3771900" y="5191125"/>
            <a:ext cx="1638300" cy="27241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 dirty="0">
                <a:solidFill>
                  <a:srgbClr val="8D8990"/>
                </a:solidFill>
              </a:rPr>
              <a:t>Hydration habit loop</a:t>
            </a:r>
          </a:p>
        </p:txBody>
      </p:sp>
      <p:sp>
        <p:nvSpPr>
          <p:cNvPr id="15" name="4x">
            <a:extLst>
              <a:ext uri="{FF2B5EF4-FFF2-40B4-BE49-F238E27FC236}">
                <a16:creationId xmlns:a16="http://schemas.microsoft.com/office/drawing/2014/main" id="{58B3F146-001A-42EE-93AF-B88176599CEB}"/>
              </a:ext>
            </a:extLst>
          </p:cNvPr>
          <p:cNvSpPr>
            <a:spLocks noGrp="1"/>
          </p:cNvSpPr>
          <p:nvPr/>
        </p:nvSpPr>
        <p:spPr>
          <a:xfrm>
            <a:off x="6477000" y="3924300"/>
            <a:ext cx="5715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 i="0">
                <a:solidFill>
                  <a:srgbClr val="FFCE73"/>
                </a:solidFill>
              </a:defRPr>
            </a:pPr>
            <a:r>
              <a:rPr sz="4650" b="1" i="0">
                <a:solidFill>
                  <a:srgbClr val="FFCE73"/>
                </a:solidFill>
              </a:rPr>
              <a:t>4x</a:t>
            </a:r>
          </a:p>
        </p:txBody>
      </p:sp>
      <p:sp>
        <p:nvSpPr>
          <p:cNvPr id="16" name="meal-timing">
            <a:extLst>
              <a:ext uri="{FF2B5EF4-FFF2-40B4-BE49-F238E27FC236}">
                <a16:creationId xmlns:a16="http://schemas.microsoft.com/office/drawing/2014/main" id="{BBF820B6-7D7D-4F47-A667-EA3422A3A093}"/>
              </a:ext>
            </a:extLst>
          </p:cNvPr>
          <p:cNvSpPr>
            <a:spLocks noGrp="1"/>
          </p:cNvSpPr>
          <p:nvPr/>
        </p:nvSpPr>
        <p:spPr>
          <a:xfrm>
            <a:off x="6477000" y="4629150"/>
            <a:ext cx="1028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 dirty="0">
                <a:solidFill>
                  <a:srgbClr val="F8F5EF"/>
                </a:solidFill>
              </a:rPr>
              <a:t>meal timing</a:t>
            </a:r>
          </a:p>
        </p:txBody>
      </p:sp>
      <p:sp>
        <p:nvSpPr>
          <p:cNvPr id="17" name="practical-daily-structure">
            <a:extLst>
              <a:ext uri="{FF2B5EF4-FFF2-40B4-BE49-F238E27FC236}">
                <a16:creationId xmlns:a16="http://schemas.microsoft.com/office/drawing/2014/main" id="{0F3CBA48-F278-4B59-AD35-C9E9CF8D7838}"/>
              </a:ext>
            </a:extLst>
          </p:cNvPr>
          <p:cNvSpPr>
            <a:spLocks noGrp="1"/>
          </p:cNvSpPr>
          <p:nvPr/>
        </p:nvSpPr>
        <p:spPr>
          <a:xfrm>
            <a:off x="6477000" y="5178425"/>
            <a:ext cx="1543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 dirty="0">
                <a:solidFill>
                  <a:srgbClr val="8D8990"/>
                </a:solidFill>
              </a:rPr>
              <a:t>Practical daily structure</a:t>
            </a:r>
          </a:p>
        </p:txBody>
      </p:sp>
      <p:sp>
        <p:nvSpPr>
          <p:cNvPr id="18" name="nutrition-bullets">
            <a:extLst>
              <a:ext uri="{FF2B5EF4-FFF2-40B4-BE49-F238E27FC236}">
                <a16:creationId xmlns:a16="http://schemas.microsoft.com/office/drawing/2014/main" id="{46F2BDAD-75D5-4E6A-A953-7ADCC4A4D89A}"/>
              </a:ext>
            </a:extLst>
          </p:cNvPr>
          <p:cNvSpPr>
            <a:spLocks noGrp="1"/>
          </p:cNvSpPr>
          <p:nvPr/>
        </p:nvSpPr>
        <p:spPr>
          <a:xfrm>
            <a:off x="781050" y="5852160"/>
            <a:ext cx="8501063" cy="2333625"/>
          </a:xfrm>
          <a:prstGeom prst="roundRect">
            <a:avLst>
              <a:gd name="adj" fmla="val 4898"/>
            </a:avLst>
          </a:prstGeom>
          <a:solidFill>
            <a:srgbClr val="111217"/>
          </a:solidFill>
        </p:spPr>
      </p:sp>
      <p:sp>
        <p:nvSpPr>
          <p:cNvPr id="19" name="bullet-dot-0">
            <a:extLst>
              <a:ext uri="{FF2B5EF4-FFF2-40B4-BE49-F238E27FC236}">
                <a16:creationId xmlns:a16="http://schemas.microsoft.com/office/drawing/2014/main" id="{44988F8E-3AC2-4191-A9F5-C86096B3A8E4}"/>
              </a:ext>
            </a:extLst>
          </p:cNvPr>
          <p:cNvSpPr>
            <a:spLocks noGrp="1"/>
          </p:cNvSpPr>
          <p:nvPr/>
        </p:nvSpPr>
        <p:spPr>
          <a:xfrm>
            <a:off x="1066800" y="619125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20" name="bullet-0">
            <a:extLst>
              <a:ext uri="{FF2B5EF4-FFF2-40B4-BE49-F238E27FC236}">
                <a16:creationId xmlns:a16="http://schemas.microsoft.com/office/drawing/2014/main" id="{3BD12A4F-19BE-465A-8194-0E44897C9767}"/>
              </a:ext>
            </a:extLst>
          </p:cNvPr>
          <p:cNvSpPr>
            <a:spLocks noGrp="1"/>
          </p:cNvSpPr>
          <p:nvPr/>
        </p:nvSpPr>
        <p:spPr>
          <a:xfrm>
            <a:off x="1333500" y="6096000"/>
            <a:ext cx="7658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Goal-specific diet generation</a:t>
            </a:r>
          </a:p>
        </p:txBody>
      </p:sp>
      <p:sp>
        <p:nvSpPr>
          <p:cNvPr id="21" name="bullet-dot-1">
            <a:extLst>
              <a:ext uri="{FF2B5EF4-FFF2-40B4-BE49-F238E27FC236}">
                <a16:creationId xmlns:a16="http://schemas.microsoft.com/office/drawing/2014/main" id="{795BED20-CE77-40E2-BDF7-17FBC926C63F}"/>
              </a:ext>
            </a:extLst>
          </p:cNvPr>
          <p:cNvSpPr>
            <a:spLocks noGrp="1"/>
          </p:cNvSpPr>
          <p:nvPr/>
        </p:nvSpPr>
        <p:spPr>
          <a:xfrm>
            <a:off x="1066800" y="664845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22" name="bullet-1">
            <a:extLst>
              <a:ext uri="{FF2B5EF4-FFF2-40B4-BE49-F238E27FC236}">
                <a16:creationId xmlns:a16="http://schemas.microsoft.com/office/drawing/2014/main" id="{C2AD0C8B-11F6-4929-9617-29A972836C36}"/>
              </a:ext>
            </a:extLst>
          </p:cNvPr>
          <p:cNvSpPr>
            <a:spLocks noGrp="1"/>
          </p:cNvSpPr>
          <p:nvPr/>
        </p:nvSpPr>
        <p:spPr>
          <a:xfrm>
            <a:off x="1333500" y="6553200"/>
            <a:ext cx="7658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Macro and hydration tracking</a:t>
            </a:r>
          </a:p>
        </p:txBody>
      </p:sp>
      <p:sp>
        <p:nvSpPr>
          <p:cNvPr id="23" name="bullet-dot-2">
            <a:extLst>
              <a:ext uri="{FF2B5EF4-FFF2-40B4-BE49-F238E27FC236}">
                <a16:creationId xmlns:a16="http://schemas.microsoft.com/office/drawing/2014/main" id="{1AA56049-83EF-4700-96D6-53873EBBA368}"/>
              </a:ext>
            </a:extLst>
          </p:cNvPr>
          <p:cNvSpPr>
            <a:spLocks noGrp="1"/>
          </p:cNvSpPr>
          <p:nvPr/>
        </p:nvSpPr>
        <p:spPr>
          <a:xfrm>
            <a:off x="1066800" y="710565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24" name="bullet-2">
            <a:extLst>
              <a:ext uri="{FF2B5EF4-FFF2-40B4-BE49-F238E27FC236}">
                <a16:creationId xmlns:a16="http://schemas.microsoft.com/office/drawing/2014/main" id="{E172A2EF-C9FA-4DD1-AD76-E920ABBCFE37}"/>
              </a:ext>
            </a:extLst>
          </p:cNvPr>
          <p:cNvSpPr>
            <a:spLocks noGrp="1"/>
          </p:cNvSpPr>
          <p:nvPr/>
        </p:nvSpPr>
        <p:spPr>
          <a:xfrm>
            <a:off x="1333500" y="7010400"/>
            <a:ext cx="7658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Protein gap reminders</a:t>
            </a:r>
          </a:p>
        </p:txBody>
      </p:sp>
      <p:sp>
        <p:nvSpPr>
          <p:cNvPr id="25" name="bullet-dot-3">
            <a:extLst>
              <a:ext uri="{FF2B5EF4-FFF2-40B4-BE49-F238E27FC236}">
                <a16:creationId xmlns:a16="http://schemas.microsoft.com/office/drawing/2014/main" id="{90CBEF32-2501-4FD8-A166-07CD48D4C087}"/>
              </a:ext>
            </a:extLst>
          </p:cNvPr>
          <p:cNvSpPr>
            <a:spLocks noGrp="1"/>
          </p:cNvSpPr>
          <p:nvPr/>
        </p:nvSpPr>
        <p:spPr>
          <a:xfrm>
            <a:off x="1066800" y="756285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26" name="bullet-3">
            <a:extLst>
              <a:ext uri="{FF2B5EF4-FFF2-40B4-BE49-F238E27FC236}">
                <a16:creationId xmlns:a16="http://schemas.microsoft.com/office/drawing/2014/main" id="{B380C894-05AE-4C92-A5C8-511A25FAF3CB}"/>
              </a:ext>
            </a:extLst>
          </p:cNvPr>
          <p:cNvSpPr>
            <a:spLocks noGrp="1"/>
          </p:cNvSpPr>
          <p:nvPr/>
        </p:nvSpPr>
        <p:spPr>
          <a:xfrm>
            <a:off x="1333500" y="7467600"/>
            <a:ext cx="7658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Context-aware meal suggestions</a:t>
            </a:r>
          </a:p>
        </p:txBody>
      </p:sp>
      <p:sp>
        <p:nvSpPr>
          <p:cNvPr id="27" name="nutrition-note">
            <a:extLst>
              <a:ext uri="{FF2B5EF4-FFF2-40B4-BE49-F238E27FC236}">
                <a16:creationId xmlns:a16="http://schemas.microsoft.com/office/drawing/2014/main" id="{911092E8-6606-47AA-A9FB-E2C259B1BE32}"/>
              </a:ext>
            </a:extLst>
          </p:cNvPr>
          <p:cNvSpPr>
            <a:spLocks noGrp="1"/>
          </p:cNvSpPr>
          <p:nvPr/>
        </p:nvSpPr>
        <p:spPr>
          <a:xfrm>
            <a:off x="781050" y="8357235"/>
            <a:ext cx="8501063" cy="1200150"/>
          </a:xfrm>
          <a:prstGeom prst="roundRect">
            <a:avLst>
              <a:gd name="adj" fmla="val 9524"/>
            </a:avLst>
          </a:prstGeom>
          <a:solidFill>
            <a:srgbClr val="151018"/>
          </a:solidFill>
        </p:spPr>
      </p:sp>
      <p:sp>
        <p:nvSpPr>
          <p:cNvPr id="28" name="the-ai-converts-health-data-into-one-next-bes">
            <a:extLst>
              <a:ext uri="{FF2B5EF4-FFF2-40B4-BE49-F238E27FC236}">
                <a16:creationId xmlns:a16="http://schemas.microsoft.com/office/drawing/2014/main" id="{E2595F88-41E1-4031-98C3-601BEF441465}"/>
              </a:ext>
            </a:extLst>
          </p:cNvPr>
          <p:cNvSpPr>
            <a:spLocks noGrp="1"/>
          </p:cNvSpPr>
          <p:nvPr/>
        </p:nvSpPr>
        <p:spPr>
          <a:xfrm>
            <a:off x="1066800" y="8610600"/>
            <a:ext cx="79248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F8F5EF"/>
                </a:solidFill>
              </a:defRPr>
            </a:pPr>
            <a:r>
              <a:rPr sz="2250" b="1" i="0">
                <a:solidFill>
                  <a:srgbClr val="F8F5EF"/>
                </a:solidFill>
              </a:rPr>
              <a:t>The AI converts health data into one next best action.</a:t>
            </a:r>
          </a:p>
        </p:txBody>
      </p:sp>
      <p:sp>
        <p:nvSpPr>
          <p:cNvPr id="29" name="nutrition-flow">
            <a:extLst>
              <a:ext uri="{FF2B5EF4-FFF2-40B4-BE49-F238E27FC236}">
                <a16:creationId xmlns:a16="http://schemas.microsoft.com/office/drawing/2014/main" id="{76D369DB-0D3A-4306-AAAA-2DE6E9137995}"/>
              </a:ext>
            </a:extLst>
          </p:cNvPr>
          <p:cNvSpPr>
            <a:spLocks noGrp="1"/>
          </p:cNvSpPr>
          <p:nvPr/>
        </p:nvSpPr>
        <p:spPr>
          <a:xfrm>
            <a:off x="9815513" y="3680460"/>
            <a:ext cx="7691438" cy="5939790"/>
          </a:xfrm>
          <a:prstGeom prst="roundRect">
            <a:avLst>
              <a:gd name="adj" fmla="val 1924"/>
            </a:avLst>
          </a:prstGeom>
          <a:solidFill>
            <a:srgbClr val="111217"/>
          </a:solidFill>
        </p:spPr>
      </p:sp>
      <p:sp>
        <p:nvSpPr>
          <p:cNvPr id="30" name="input-signals">
            <a:extLst>
              <a:ext uri="{FF2B5EF4-FFF2-40B4-BE49-F238E27FC236}">
                <a16:creationId xmlns:a16="http://schemas.microsoft.com/office/drawing/2014/main" id="{EB7A1739-3F73-4A21-BC58-B6BF52C76766}"/>
              </a:ext>
            </a:extLst>
          </p:cNvPr>
          <p:cNvSpPr>
            <a:spLocks noGrp="1"/>
          </p:cNvSpPr>
          <p:nvPr/>
        </p:nvSpPr>
        <p:spPr>
          <a:xfrm>
            <a:off x="10210800" y="4610100"/>
            <a:ext cx="68961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FF2E3A"/>
                </a:solidFill>
              </a:defRPr>
            </a:pPr>
            <a:r>
              <a:rPr sz="2100" b="1" i="0">
                <a:solidFill>
                  <a:srgbClr val="FF2E3A"/>
                </a:solidFill>
              </a:rPr>
              <a:t>Input signals</a:t>
            </a:r>
          </a:p>
        </p:txBody>
      </p:sp>
      <p:sp>
        <p:nvSpPr>
          <p:cNvPr id="31" name="bullet-dot-0">
            <a:extLst>
              <a:ext uri="{FF2B5EF4-FFF2-40B4-BE49-F238E27FC236}">
                <a16:creationId xmlns:a16="http://schemas.microsoft.com/office/drawing/2014/main" id="{4907E9BB-21B8-428A-93CB-8D44D58FE929}"/>
              </a:ext>
            </a:extLst>
          </p:cNvPr>
          <p:cNvSpPr>
            <a:spLocks noGrp="1"/>
          </p:cNvSpPr>
          <p:nvPr/>
        </p:nvSpPr>
        <p:spPr>
          <a:xfrm>
            <a:off x="10210800" y="5295900"/>
            <a:ext cx="114300" cy="114300"/>
          </a:xfrm>
          <a:prstGeom prst="ellipse">
            <a:avLst/>
          </a:prstGeom>
          <a:solidFill>
            <a:srgbClr val="54E4FF"/>
          </a:solidFill>
        </p:spPr>
      </p:sp>
      <p:sp>
        <p:nvSpPr>
          <p:cNvPr id="32" name="bullet-0">
            <a:extLst>
              <a:ext uri="{FF2B5EF4-FFF2-40B4-BE49-F238E27FC236}">
                <a16:creationId xmlns:a16="http://schemas.microsoft.com/office/drawing/2014/main" id="{1D04AD1A-6381-49F4-B656-E8C222767F1B}"/>
              </a:ext>
            </a:extLst>
          </p:cNvPr>
          <p:cNvSpPr>
            <a:spLocks noGrp="1"/>
          </p:cNvSpPr>
          <p:nvPr/>
        </p:nvSpPr>
        <p:spPr>
          <a:xfrm>
            <a:off x="10477500" y="5200650"/>
            <a:ext cx="66294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Goal: muscle gain</a:t>
            </a:r>
          </a:p>
        </p:txBody>
      </p:sp>
      <p:sp>
        <p:nvSpPr>
          <p:cNvPr id="33" name="bullet-dot-1">
            <a:extLst>
              <a:ext uri="{FF2B5EF4-FFF2-40B4-BE49-F238E27FC236}">
                <a16:creationId xmlns:a16="http://schemas.microsoft.com/office/drawing/2014/main" id="{BB2CE945-1E8A-441F-A118-6D1FBF802B0B}"/>
              </a:ext>
            </a:extLst>
          </p:cNvPr>
          <p:cNvSpPr>
            <a:spLocks noGrp="1"/>
          </p:cNvSpPr>
          <p:nvPr/>
        </p:nvSpPr>
        <p:spPr>
          <a:xfrm>
            <a:off x="10210800" y="5753100"/>
            <a:ext cx="114300" cy="114300"/>
          </a:xfrm>
          <a:prstGeom prst="ellipse">
            <a:avLst/>
          </a:prstGeom>
          <a:solidFill>
            <a:srgbClr val="54E4FF"/>
          </a:solidFill>
        </p:spPr>
      </p:sp>
      <p:sp>
        <p:nvSpPr>
          <p:cNvPr id="34" name="bullet-1">
            <a:extLst>
              <a:ext uri="{FF2B5EF4-FFF2-40B4-BE49-F238E27FC236}">
                <a16:creationId xmlns:a16="http://schemas.microsoft.com/office/drawing/2014/main" id="{4EF6D848-4737-4868-8CBB-D8B8CBAC0AF8}"/>
              </a:ext>
            </a:extLst>
          </p:cNvPr>
          <p:cNvSpPr>
            <a:spLocks noGrp="1"/>
          </p:cNvSpPr>
          <p:nvPr/>
        </p:nvSpPr>
        <p:spPr>
          <a:xfrm>
            <a:off x="10477500" y="5657850"/>
            <a:ext cx="66294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Weight: 82kg</a:t>
            </a:r>
          </a:p>
        </p:txBody>
      </p:sp>
      <p:sp>
        <p:nvSpPr>
          <p:cNvPr id="35" name="bullet-dot-2">
            <a:extLst>
              <a:ext uri="{FF2B5EF4-FFF2-40B4-BE49-F238E27FC236}">
                <a16:creationId xmlns:a16="http://schemas.microsoft.com/office/drawing/2014/main" id="{4515505C-3AAA-4E26-AA1D-409426E98216}"/>
              </a:ext>
            </a:extLst>
          </p:cNvPr>
          <p:cNvSpPr>
            <a:spLocks noGrp="1"/>
          </p:cNvSpPr>
          <p:nvPr/>
        </p:nvSpPr>
        <p:spPr>
          <a:xfrm>
            <a:off x="10210800" y="6210300"/>
            <a:ext cx="114300" cy="114300"/>
          </a:xfrm>
          <a:prstGeom prst="ellipse">
            <a:avLst/>
          </a:prstGeom>
          <a:solidFill>
            <a:srgbClr val="54E4FF"/>
          </a:solidFill>
        </p:spPr>
      </p:sp>
      <p:sp>
        <p:nvSpPr>
          <p:cNvPr id="36" name="bullet-2">
            <a:extLst>
              <a:ext uri="{FF2B5EF4-FFF2-40B4-BE49-F238E27FC236}">
                <a16:creationId xmlns:a16="http://schemas.microsoft.com/office/drawing/2014/main" id="{A8D2C13A-8192-49F9-99C4-12AD66B2BBDB}"/>
              </a:ext>
            </a:extLst>
          </p:cNvPr>
          <p:cNvSpPr>
            <a:spLocks noGrp="1"/>
          </p:cNvSpPr>
          <p:nvPr/>
        </p:nvSpPr>
        <p:spPr>
          <a:xfrm>
            <a:off x="10477500" y="6115050"/>
            <a:ext cx="66294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Protein today: 60g</a:t>
            </a:r>
          </a:p>
        </p:txBody>
      </p:sp>
      <p:sp>
        <p:nvSpPr>
          <p:cNvPr id="37" name="bullet-dot-3">
            <a:extLst>
              <a:ext uri="{FF2B5EF4-FFF2-40B4-BE49-F238E27FC236}">
                <a16:creationId xmlns:a16="http://schemas.microsoft.com/office/drawing/2014/main" id="{18A04FD5-BE7E-437D-82D2-18204915316A}"/>
              </a:ext>
            </a:extLst>
          </p:cNvPr>
          <p:cNvSpPr>
            <a:spLocks noGrp="1"/>
          </p:cNvSpPr>
          <p:nvPr/>
        </p:nvSpPr>
        <p:spPr>
          <a:xfrm>
            <a:off x="10210800" y="6667500"/>
            <a:ext cx="114300" cy="114300"/>
          </a:xfrm>
          <a:prstGeom prst="ellipse">
            <a:avLst/>
          </a:prstGeom>
          <a:solidFill>
            <a:srgbClr val="54E4FF"/>
          </a:solidFill>
        </p:spPr>
      </p:sp>
      <p:sp>
        <p:nvSpPr>
          <p:cNvPr id="38" name="bullet-3">
            <a:extLst>
              <a:ext uri="{FF2B5EF4-FFF2-40B4-BE49-F238E27FC236}">
                <a16:creationId xmlns:a16="http://schemas.microsoft.com/office/drawing/2014/main" id="{BBF1A919-9C62-4F56-8DFF-D4A77C68F0A5}"/>
              </a:ext>
            </a:extLst>
          </p:cNvPr>
          <p:cNvSpPr>
            <a:spLocks noGrp="1"/>
          </p:cNvSpPr>
          <p:nvPr/>
        </p:nvSpPr>
        <p:spPr>
          <a:xfrm>
            <a:off x="10477500" y="6572250"/>
            <a:ext cx="66294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Water today: 1.2L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E4CC1AB-9F4B-48D4-AFC3-B591D98BF43E}"/>
              </a:ext>
            </a:extLst>
          </p:cNvPr>
          <p:cNvSpPr>
            <a:spLocks noGrp="1"/>
          </p:cNvSpPr>
          <p:nvPr/>
        </p:nvSpPr>
        <p:spPr>
          <a:xfrm>
            <a:off x="10210800" y="7124700"/>
            <a:ext cx="6896100" cy="19050"/>
          </a:xfrm>
          <a:prstGeom prst="rect">
            <a:avLst/>
          </a:prstGeom>
          <a:solidFill>
            <a:srgbClr val="2B2B31"/>
          </a:solidFill>
          <a:ln w="0">
            <a:solidFill>
              <a:srgbClr val="2B2B31"/>
            </a:solidFill>
            <a:prstDash val="solid"/>
          </a:ln>
        </p:spPr>
      </p:sp>
      <p:sp>
        <p:nvSpPr>
          <p:cNvPr id="40" name="ai-output">
            <a:extLst>
              <a:ext uri="{FF2B5EF4-FFF2-40B4-BE49-F238E27FC236}">
                <a16:creationId xmlns:a16="http://schemas.microsoft.com/office/drawing/2014/main" id="{22E8E7D8-F118-46A9-8457-DEE00998C384}"/>
              </a:ext>
            </a:extLst>
          </p:cNvPr>
          <p:cNvSpPr>
            <a:spLocks noGrp="1"/>
          </p:cNvSpPr>
          <p:nvPr/>
        </p:nvSpPr>
        <p:spPr>
          <a:xfrm>
            <a:off x="10210800" y="7410450"/>
            <a:ext cx="68961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FF2E3A"/>
                </a:solidFill>
              </a:defRPr>
            </a:pPr>
            <a:r>
              <a:rPr sz="2100" b="1" i="0">
                <a:solidFill>
                  <a:srgbClr val="FF2E3A"/>
                </a:solidFill>
              </a:rPr>
              <a:t>AI output</a:t>
            </a:r>
          </a:p>
        </p:txBody>
      </p:sp>
      <p:sp>
        <p:nvSpPr>
          <p:cNvPr id="41" name="you-are-behind-on-protein-and-hydration-today">
            <a:extLst>
              <a:ext uri="{FF2B5EF4-FFF2-40B4-BE49-F238E27FC236}">
                <a16:creationId xmlns:a16="http://schemas.microsoft.com/office/drawing/2014/main" id="{A637B58E-3933-4445-92A1-238EE38770FF}"/>
              </a:ext>
            </a:extLst>
          </p:cNvPr>
          <p:cNvSpPr>
            <a:spLocks noGrp="1"/>
          </p:cNvSpPr>
          <p:nvPr/>
        </p:nvSpPr>
        <p:spPr>
          <a:xfrm>
            <a:off x="10210800" y="8001000"/>
            <a:ext cx="68961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F8F5EF"/>
                </a:solidFill>
              </a:defRPr>
            </a:pPr>
            <a:r>
              <a:rPr sz="2250" b="1" i="0">
                <a:solidFill>
                  <a:srgbClr val="F8F5EF"/>
                </a:solidFill>
              </a:rPr>
              <a:t>You are behind on protein and hydration today. Add one high-protein meal and 800ml water before dinner.</a:t>
            </a:r>
          </a:p>
        </p:txBody>
      </p:sp>
    </p:spTree>
    <p:extLst>
      <p:ext uri="{BB962C8B-B14F-4D97-AF65-F5344CB8AC3E}">
        <p14:creationId xmlns:p14="http://schemas.microsoft.com/office/powerpoint/2010/main" val="1396850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bg">
            <a:extLst>
              <a:ext uri="{FF2B5EF4-FFF2-40B4-BE49-F238E27FC236}">
                <a16:creationId xmlns:a16="http://schemas.microsoft.com/office/drawing/2014/main" id="{363B4D81-E4A2-4434-AA3A-3DBC0E2B79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06"/>
          </a:solidFill>
        </p:spPr>
      </p:sp>
      <p:sp>
        <p:nvSpPr>
          <p:cNvPr id="2" name="top-glow">
            <a:extLst>
              <a:ext uri="{FF2B5EF4-FFF2-40B4-BE49-F238E27FC236}">
                <a16:creationId xmlns:a16="http://schemas.microsoft.com/office/drawing/2014/main" id="{C671D64F-B570-4C52-87BB-9BC907E8ED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14350"/>
          </a:xfrm>
          <a:prstGeom prst="rect">
            <a:avLst/>
          </a:prstGeom>
          <a:solidFill>
            <a:srgbClr val="55070B"/>
          </a:solidFill>
        </p:spPr>
      </p:sp>
      <p:sp>
        <p:nvSpPr>
          <p:cNvPr id="3" name="bottom-line">
            <a:extLst>
              <a:ext uri="{FF2B5EF4-FFF2-40B4-BE49-F238E27FC236}">
                <a16:creationId xmlns:a16="http://schemas.microsoft.com/office/drawing/2014/main" id="{B005D771-94E8-4688-A273-68D5D32BC7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90F80135-CE31-442F-88AD-5C455D1C985C}"/>
              </a:ext>
            </a:extLst>
          </p:cNvPr>
          <p:cNvSpPr>
            <a:spLocks noGrp="1"/>
          </p:cNvSpPr>
          <p:nvPr/>
        </p:nvSpPr>
        <p:spPr>
          <a:xfrm>
            <a:off x="781050" y="857250"/>
            <a:ext cx="666750" cy="47625"/>
          </a:xfrm>
          <a:prstGeom prst="rect">
            <a:avLst/>
          </a:prstGeom>
          <a:solidFill>
            <a:srgbClr val="E50914"/>
          </a:solidFill>
          <a:ln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2E1815BA-0D29-455D-847B-8D40DFC1A86B}"/>
              </a:ext>
            </a:extLst>
          </p:cNvPr>
          <p:cNvSpPr>
            <a:spLocks noGrp="1"/>
          </p:cNvSpPr>
          <p:nvPr/>
        </p:nvSpPr>
        <p:spPr>
          <a:xfrm>
            <a:off x="1581150" y="666750"/>
            <a:ext cx="16192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COMMUNITY + SOCIAL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5413CF49-A6A2-4207-BDF1-D8CF2803F3D4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8362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 dirty="0">
                <a:solidFill>
                  <a:srgbClr val="F8F5EF"/>
                </a:solidFill>
              </a:rPr>
              <a:t>Accountability is a product feature.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1C6530A6-0246-42F5-88B6-9C6FB7352F55}"/>
              </a:ext>
            </a:extLst>
          </p:cNvPr>
          <p:cNvSpPr>
            <a:spLocks noGrp="1"/>
          </p:cNvSpPr>
          <p:nvPr/>
        </p:nvSpPr>
        <p:spPr>
          <a:xfrm>
            <a:off x="781050" y="2038350"/>
            <a:ext cx="6305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 dirty="0">
                <a:solidFill>
                  <a:srgbClr val="C8C2B8"/>
                </a:solidFill>
              </a:rPr>
              <a:t>People continue when they feel seen, challenged, and supported.</a:t>
            </a:r>
          </a:p>
        </p:txBody>
      </p:sp>
      <p:sp>
        <p:nvSpPr>
          <p:cNvPr id="8" name="community-left">
            <a:extLst>
              <a:ext uri="{FF2B5EF4-FFF2-40B4-BE49-F238E27FC236}">
                <a16:creationId xmlns:a16="http://schemas.microsoft.com/office/drawing/2014/main" id="{8DAA08ED-33F5-4054-B664-043A9D8D0667}"/>
              </a:ext>
            </a:extLst>
          </p:cNvPr>
          <p:cNvSpPr>
            <a:spLocks noGrp="1"/>
          </p:cNvSpPr>
          <p:nvPr/>
        </p:nvSpPr>
        <p:spPr>
          <a:xfrm>
            <a:off x="781050" y="3067050"/>
            <a:ext cx="8096250" cy="5981700"/>
          </a:xfrm>
          <a:prstGeom prst="roundRect">
            <a:avLst>
              <a:gd name="adj" fmla="val 1659"/>
            </a:avLst>
          </a:prstGeom>
          <a:solidFill>
            <a:srgbClr val="111217"/>
          </a:solidFill>
        </p:spPr>
      </p:sp>
      <p:sp>
        <p:nvSpPr>
          <p:cNvPr id="9" name="community-loop">
            <a:extLst>
              <a:ext uri="{FF2B5EF4-FFF2-40B4-BE49-F238E27FC236}">
                <a16:creationId xmlns:a16="http://schemas.microsoft.com/office/drawing/2014/main" id="{880848EA-6520-4010-B454-D6965835A693}"/>
              </a:ext>
            </a:extLst>
          </p:cNvPr>
          <p:cNvSpPr>
            <a:spLocks noGrp="1"/>
          </p:cNvSpPr>
          <p:nvPr/>
        </p:nvSpPr>
        <p:spPr>
          <a:xfrm>
            <a:off x="1066800" y="4800600"/>
            <a:ext cx="752475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900" b="1" i="0">
                <a:solidFill>
                  <a:srgbClr val="F8F5EF"/>
                </a:solidFill>
              </a:defRPr>
            </a:pPr>
            <a:r>
              <a:rPr sz="3900" b="1" i="0">
                <a:solidFill>
                  <a:srgbClr val="F8F5EF"/>
                </a:solidFill>
              </a:rPr>
              <a:t>Community Loop</a:t>
            </a:r>
          </a:p>
        </p:txBody>
      </p:sp>
      <p:sp>
        <p:nvSpPr>
          <p:cNvPr id="10" name="node-0-post">
            <a:extLst>
              <a:ext uri="{FF2B5EF4-FFF2-40B4-BE49-F238E27FC236}">
                <a16:creationId xmlns:a16="http://schemas.microsoft.com/office/drawing/2014/main" id="{7AB5E373-F87B-4C3F-8772-119B2B9FC473}"/>
              </a:ext>
            </a:extLst>
          </p:cNvPr>
          <p:cNvSpPr>
            <a:spLocks noGrp="1"/>
          </p:cNvSpPr>
          <p:nvPr/>
        </p:nvSpPr>
        <p:spPr>
          <a:xfrm>
            <a:off x="1238250" y="5657850"/>
            <a:ext cx="1162050" cy="1000125"/>
          </a:xfrm>
          <a:prstGeom prst="roundRect">
            <a:avLst>
              <a:gd name="adj" fmla="val 11429"/>
            </a:avLst>
          </a:prstGeom>
          <a:solidFill>
            <a:srgbClr val="17191F"/>
          </a:solidFill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26B6B2-437A-4870-9073-2F93877FDF2A}"/>
              </a:ext>
            </a:extLst>
          </p:cNvPr>
          <p:cNvSpPr>
            <a:spLocks noGrp="1"/>
          </p:cNvSpPr>
          <p:nvPr/>
        </p:nvSpPr>
        <p:spPr>
          <a:xfrm>
            <a:off x="1447800" y="5848350"/>
            <a:ext cx="7429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Post</a:t>
            </a:r>
          </a:p>
        </p:txBody>
      </p:sp>
      <p:sp>
        <p:nvSpPr>
          <p:cNvPr id="12" name="arrow-line-0">
            <a:extLst>
              <a:ext uri="{FF2B5EF4-FFF2-40B4-BE49-F238E27FC236}">
                <a16:creationId xmlns:a16="http://schemas.microsoft.com/office/drawing/2014/main" id="{AE247396-01D2-49A6-A9B4-E804CD07B761}"/>
              </a:ext>
            </a:extLst>
          </p:cNvPr>
          <p:cNvSpPr>
            <a:spLocks noGrp="1"/>
          </p:cNvSpPr>
          <p:nvPr/>
        </p:nvSpPr>
        <p:spPr>
          <a:xfrm>
            <a:off x="2495550" y="6134100"/>
            <a:ext cx="152400" cy="38100"/>
          </a:xfrm>
          <a:prstGeom prst="rect">
            <a:avLst/>
          </a:prstGeom>
          <a:solidFill>
            <a:srgbClr val="FF2E3A"/>
          </a:solidFill>
        </p:spPr>
      </p:sp>
      <p:sp>
        <p:nvSpPr>
          <p:cNvPr id="13" name="node-1-reaction">
            <a:extLst>
              <a:ext uri="{FF2B5EF4-FFF2-40B4-BE49-F238E27FC236}">
                <a16:creationId xmlns:a16="http://schemas.microsoft.com/office/drawing/2014/main" id="{615F5C73-F278-492F-876E-663911B1CECA}"/>
              </a:ext>
            </a:extLst>
          </p:cNvPr>
          <p:cNvSpPr>
            <a:spLocks noGrp="1"/>
          </p:cNvSpPr>
          <p:nvPr/>
        </p:nvSpPr>
        <p:spPr>
          <a:xfrm>
            <a:off x="2743200" y="5657850"/>
            <a:ext cx="1162050" cy="1000125"/>
          </a:xfrm>
          <a:prstGeom prst="roundRect">
            <a:avLst>
              <a:gd name="adj" fmla="val 11429"/>
            </a:avLst>
          </a:prstGeom>
          <a:solidFill>
            <a:srgbClr val="17191F"/>
          </a:solidFill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8C95B2-C7CF-425B-A15E-34178F8847BD}"/>
              </a:ext>
            </a:extLst>
          </p:cNvPr>
          <p:cNvSpPr>
            <a:spLocks noGrp="1"/>
          </p:cNvSpPr>
          <p:nvPr/>
        </p:nvSpPr>
        <p:spPr>
          <a:xfrm>
            <a:off x="2952750" y="5848350"/>
            <a:ext cx="7429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Reaction</a:t>
            </a:r>
          </a:p>
        </p:txBody>
      </p:sp>
      <p:sp>
        <p:nvSpPr>
          <p:cNvPr id="15" name="arrow-line-1">
            <a:extLst>
              <a:ext uri="{FF2B5EF4-FFF2-40B4-BE49-F238E27FC236}">
                <a16:creationId xmlns:a16="http://schemas.microsoft.com/office/drawing/2014/main" id="{07919DA9-D5BE-4CDC-8E1D-C7072EB32CA0}"/>
              </a:ext>
            </a:extLst>
          </p:cNvPr>
          <p:cNvSpPr>
            <a:spLocks noGrp="1"/>
          </p:cNvSpPr>
          <p:nvPr/>
        </p:nvSpPr>
        <p:spPr>
          <a:xfrm>
            <a:off x="4000500" y="6134100"/>
            <a:ext cx="152400" cy="38100"/>
          </a:xfrm>
          <a:prstGeom prst="rect">
            <a:avLst/>
          </a:prstGeom>
          <a:solidFill>
            <a:srgbClr val="FF2E3A"/>
          </a:solidFill>
        </p:spPr>
      </p:sp>
      <p:sp>
        <p:nvSpPr>
          <p:cNvPr id="16" name="node-2-challenge">
            <a:extLst>
              <a:ext uri="{FF2B5EF4-FFF2-40B4-BE49-F238E27FC236}">
                <a16:creationId xmlns:a16="http://schemas.microsoft.com/office/drawing/2014/main" id="{16DAAF84-C1E6-4519-AB3C-F92B6A3B6F42}"/>
              </a:ext>
            </a:extLst>
          </p:cNvPr>
          <p:cNvSpPr>
            <a:spLocks noGrp="1"/>
          </p:cNvSpPr>
          <p:nvPr/>
        </p:nvSpPr>
        <p:spPr>
          <a:xfrm>
            <a:off x="4248150" y="5657850"/>
            <a:ext cx="1162050" cy="1000125"/>
          </a:xfrm>
          <a:prstGeom prst="roundRect">
            <a:avLst>
              <a:gd name="adj" fmla="val 11429"/>
            </a:avLst>
          </a:prstGeom>
          <a:solidFill>
            <a:srgbClr val="17191F"/>
          </a:solidFill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F855C1-1481-48BB-B948-B4664408C07D}"/>
              </a:ext>
            </a:extLst>
          </p:cNvPr>
          <p:cNvSpPr>
            <a:spLocks noGrp="1"/>
          </p:cNvSpPr>
          <p:nvPr/>
        </p:nvSpPr>
        <p:spPr>
          <a:xfrm>
            <a:off x="4457700" y="5848350"/>
            <a:ext cx="7429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Challenge</a:t>
            </a:r>
          </a:p>
        </p:txBody>
      </p:sp>
      <p:sp>
        <p:nvSpPr>
          <p:cNvPr id="18" name="arrow-line-2">
            <a:extLst>
              <a:ext uri="{FF2B5EF4-FFF2-40B4-BE49-F238E27FC236}">
                <a16:creationId xmlns:a16="http://schemas.microsoft.com/office/drawing/2014/main" id="{4AF9A0D0-83DD-4FC2-88C5-FD7F4A49B273}"/>
              </a:ext>
            </a:extLst>
          </p:cNvPr>
          <p:cNvSpPr>
            <a:spLocks noGrp="1"/>
          </p:cNvSpPr>
          <p:nvPr/>
        </p:nvSpPr>
        <p:spPr>
          <a:xfrm>
            <a:off x="5505450" y="6134100"/>
            <a:ext cx="152400" cy="38100"/>
          </a:xfrm>
          <a:prstGeom prst="rect">
            <a:avLst/>
          </a:prstGeom>
          <a:solidFill>
            <a:srgbClr val="FF2E3A"/>
          </a:solidFill>
        </p:spPr>
      </p:sp>
      <p:sp>
        <p:nvSpPr>
          <p:cNvPr id="19" name="node-3-progress">
            <a:extLst>
              <a:ext uri="{FF2B5EF4-FFF2-40B4-BE49-F238E27FC236}">
                <a16:creationId xmlns:a16="http://schemas.microsoft.com/office/drawing/2014/main" id="{D307BDA1-1AB9-44D5-AE63-7D13E343FB85}"/>
              </a:ext>
            </a:extLst>
          </p:cNvPr>
          <p:cNvSpPr>
            <a:spLocks noGrp="1"/>
          </p:cNvSpPr>
          <p:nvPr/>
        </p:nvSpPr>
        <p:spPr>
          <a:xfrm>
            <a:off x="5753100" y="5657850"/>
            <a:ext cx="1162050" cy="1000125"/>
          </a:xfrm>
          <a:prstGeom prst="roundRect">
            <a:avLst>
              <a:gd name="adj" fmla="val 11429"/>
            </a:avLst>
          </a:prstGeom>
          <a:solidFill>
            <a:srgbClr val="17191F"/>
          </a:solidFill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916A23-6210-4715-8702-5A537D9CAB6B}"/>
              </a:ext>
            </a:extLst>
          </p:cNvPr>
          <p:cNvSpPr>
            <a:spLocks noGrp="1"/>
          </p:cNvSpPr>
          <p:nvPr/>
        </p:nvSpPr>
        <p:spPr>
          <a:xfrm>
            <a:off x="5962650" y="5848350"/>
            <a:ext cx="7429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Progress</a:t>
            </a:r>
          </a:p>
        </p:txBody>
      </p:sp>
      <p:sp>
        <p:nvSpPr>
          <p:cNvPr id="21" name="arrow-line-3">
            <a:extLst>
              <a:ext uri="{FF2B5EF4-FFF2-40B4-BE49-F238E27FC236}">
                <a16:creationId xmlns:a16="http://schemas.microsoft.com/office/drawing/2014/main" id="{A26062F4-BC00-4CD4-9FDA-1F3502644A9B}"/>
              </a:ext>
            </a:extLst>
          </p:cNvPr>
          <p:cNvSpPr>
            <a:spLocks noGrp="1"/>
          </p:cNvSpPr>
          <p:nvPr/>
        </p:nvSpPr>
        <p:spPr>
          <a:xfrm>
            <a:off x="7010400" y="6134100"/>
            <a:ext cx="152400" cy="38100"/>
          </a:xfrm>
          <a:prstGeom prst="rect">
            <a:avLst/>
          </a:prstGeom>
          <a:solidFill>
            <a:srgbClr val="FF2E3A"/>
          </a:solidFill>
        </p:spPr>
      </p:sp>
      <p:sp>
        <p:nvSpPr>
          <p:cNvPr id="22" name="node-4-retention">
            <a:extLst>
              <a:ext uri="{FF2B5EF4-FFF2-40B4-BE49-F238E27FC236}">
                <a16:creationId xmlns:a16="http://schemas.microsoft.com/office/drawing/2014/main" id="{86782DE3-1707-404B-BDF7-2EE822AC60C1}"/>
              </a:ext>
            </a:extLst>
          </p:cNvPr>
          <p:cNvSpPr>
            <a:spLocks noGrp="1"/>
          </p:cNvSpPr>
          <p:nvPr/>
        </p:nvSpPr>
        <p:spPr>
          <a:xfrm>
            <a:off x="7258050" y="5657850"/>
            <a:ext cx="1162050" cy="1000125"/>
          </a:xfrm>
          <a:prstGeom prst="roundRect">
            <a:avLst>
              <a:gd name="adj" fmla="val 11429"/>
            </a:avLst>
          </a:prstGeom>
          <a:solidFill>
            <a:srgbClr val="E50914"/>
          </a:solidFill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C221B7-2CAA-4955-B7EE-5847860E386C}"/>
              </a:ext>
            </a:extLst>
          </p:cNvPr>
          <p:cNvSpPr>
            <a:spLocks noGrp="1"/>
          </p:cNvSpPr>
          <p:nvPr/>
        </p:nvSpPr>
        <p:spPr>
          <a:xfrm>
            <a:off x="7467600" y="5848350"/>
            <a:ext cx="7429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Retention</a:t>
            </a:r>
          </a:p>
        </p:txBody>
      </p:sp>
      <p:sp>
        <p:nvSpPr>
          <p:cNvPr id="24" name="future-creator-layer-trainers-students-athlet">
            <a:extLst>
              <a:ext uri="{FF2B5EF4-FFF2-40B4-BE49-F238E27FC236}">
                <a16:creationId xmlns:a16="http://schemas.microsoft.com/office/drawing/2014/main" id="{39A541EB-3072-4FA0-877E-5E9DBE68671F}"/>
              </a:ext>
            </a:extLst>
          </p:cNvPr>
          <p:cNvSpPr>
            <a:spLocks noGrp="1"/>
          </p:cNvSpPr>
          <p:nvPr/>
        </p:nvSpPr>
        <p:spPr>
          <a:xfrm>
            <a:off x="1066800" y="6934200"/>
            <a:ext cx="75247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 i="0">
                <a:solidFill>
                  <a:srgbClr val="C8C2B8"/>
                </a:solidFill>
              </a:defRPr>
            </a:pPr>
            <a:r>
              <a:rPr sz="2025" b="0" i="0">
                <a:solidFill>
                  <a:srgbClr val="C8C2B8"/>
                </a:solidFill>
              </a:rPr>
              <a:t>Future creator layer: trainers, students, athletes, and local gyms can publish challenges, plans, and transformation journeys.</a:t>
            </a:r>
          </a:p>
        </p:txBody>
      </p:sp>
      <p:sp>
        <p:nvSpPr>
          <p:cNvPr id="25" name="community-1">
            <a:extLst>
              <a:ext uri="{FF2B5EF4-FFF2-40B4-BE49-F238E27FC236}">
                <a16:creationId xmlns:a16="http://schemas.microsoft.com/office/drawing/2014/main" id="{D9DA8D79-5B13-4925-8F8B-257A34338E68}"/>
              </a:ext>
            </a:extLst>
          </p:cNvPr>
          <p:cNvSpPr>
            <a:spLocks noGrp="1"/>
          </p:cNvSpPr>
          <p:nvPr/>
        </p:nvSpPr>
        <p:spPr>
          <a:xfrm>
            <a:off x="9410700" y="2731770"/>
            <a:ext cx="8096250" cy="2286000"/>
          </a:xfrm>
          <a:prstGeom prst="roundRect">
            <a:avLst>
              <a:gd name="adj" fmla="val 5000"/>
            </a:avLst>
          </a:prstGeom>
          <a:solidFill>
            <a:srgbClr val="111217"/>
          </a:solidFill>
        </p:spPr>
      </p:sp>
      <p:sp>
        <p:nvSpPr>
          <p:cNvPr id="26" name="bullet-dot-0">
            <a:extLst>
              <a:ext uri="{FF2B5EF4-FFF2-40B4-BE49-F238E27FC236}">
                <a16:creationId xmlns:a16="http://schemas.microsoft.com/office/drawing/2014/main" id="{8902966B-7482-4FC8-B4AA-D06554C72BBB}"/>
              </a:ext>
            </a:extLst>
          </p:cNvPr>
          <p:cNvSpPr>
            <a:spLocks noGrp="1"/>
          </p:cNvSpPr>
          <p:nvPr/>
        </p:nvSpPr>
        <p:spPr>
          <a:xfrm>
            <a:off x="9696450" y="306705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27" name="bullet-0">
            <a:extLst>
              <a:ext uri="{FF2B5EF4-FFF2-40B4-BE49-F238E27FC236}">
                <a16:creationId xmlns:a16="http://schemas.microsoft.com/office/drawing/2014/main" id="{66815D73-54D0-4F4E-8DB7-D5DC661F3D20}"/>
              </a:ext>
            </a:extLst>
          </p:cNvPr>
          <p:cNvSpPr>
            <a:spLocks noGrp="1"/>
          </p:cNvSpPr>
          <p:nvPr/>
        </p:nvSpPr>
        <p:spPr>
          <a:xfrm>
            <a:off x="9963150" y="2971800"/>
            <a:ext cx="72580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Progress sharing</a:t>
            </a:r>
          </a:p>
        </p:txBody>
      </p:sp>
      <p:sp>
        <p:nvSpPr>
          <p:cNvPr id="28" name="bullet-dot-1">
            <a:extLst>
              <a:ext uri="{FF2B5EF4-FFF2-40B4-BE49-F238E27FC236}">
                <a16:creationId xmlns:a16="http://schemas.microsoft.com/office/drawing/2014/main" id="{9CFA6248-575A-4A93-8D3B-590581A52DE9}"/>
              </a:ext>
            </a:extLst>
          </p:cNvPr>
          <p:cNvSpPr>
            <a:spLocks noGrp="1"/>
          </p:cNvSpPr>
          <p:nvPr/>
        </p:nvSpPr>
        <p:spPr>
          <a:xfrm>
            <a:off x="9696450" y="352425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29" name="bullet-1">
            <a:extLst>
              <a:ext uri="{FF2B5EF4-FFF2-40B4-BE49-F238E27FC236}">
                <a16:creationId xmlns:a16="http://schemas.microsoft.com/office/drawing/2014/main" id="{A89B28B7-2BE5-4B34-81C0-1748002FC890}"/>
              </a:ext>
            </a:extLst>
          </p:cNvPr>
          <p:cNvSpPr>
            <a:spLocks noGrp="1"/>
          </p:cNvSpPr>
          <p:nvPr/>
        </p:nvSpPr>
        <p:spPr>
          <a:xfrm>
            <a:off x="9963150" y="3429000"/>
            <a:ext cx="72580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Live accountability posts</a:t>
            </a:r>
          </a:p>
        </p:txBody>
      </p:sp>
      <p:sp>
        <p:nvSpPr>
          <p:cNvPr id="30" name="bullet-dot-2">
            <a:extLst>
              <a:ext uri="{FF2B5EF4-FFF2-40B4-BE49-F238E27FC236}">
                <a16:creationId xmlns:a16="http://schemas.microsoft.com/office/drawing/2014/main" id="{6CA9858B-5A8E-4851-9226-01623C27133A}"/>
              </a:ext>
            </a:extLst>
          </p:cNvPr>
          <p:cNvSpPr>
            <a:spLocks noGrp="1"/>
          </p:cNvSpPr>
          <p:nvPr/>
        </p:nvSpPr>
        <p:spPr>
          <a:xfrm>
            <a:off x="9696450" y="398145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31" name="bullet-2">
            <a:extLst>
              <a:ext uri="{FF2B5EF4-FFF2-40B4-BE49-F238E27FC236}">
                <a16:creationId xmlns:a16="http://schemas.microsoft.com/office/drawing/2014/main" id="{5711BB75-A3BD-4DEC-AF2D-1CC24EABA924}"/>
              </a:ext>
            </a:extLst>
          </p:cNvPr>
          <p:cNvSpPr>
            <a:spLocks noGrp="1"/>
          </p:cNvSpPr>
          <p:nvPr/>
        </p:nvSpPr>
        <p:spPr>
          <a:xfrm>
            <a:off x="9963150" y="3886200"/>
            <a:ext cx="72580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AI-assisted encouragement</a:t>
            </a:r>
          </a:p>
        </p:txBody>
      </p:sp>
      <p:sp>
        <p:nvSpPr>
          <p:cNvPr id="32" name="bullet-dot-3">
            <a:extLst>
              <a:ext uri="{FF2B5EF4-FFF2-40B4-BE49-F238E27FC236}">
                <a16:creationId xmlns:a16="http://schemas.microsoft.com/office/drawing/2014/main" id="{4738DABE-7E06-4EA9-BB22-F04CD62931E6}"/>
              </a:ext>
            </a:extLst>
          </p:cNvPr>
          <p:cNvSpPr>
            <a:spLocks noGrp="1"/>
          </p:cNvSpPr>
          <p:nvPr/>
        </p:nvSpPr>
        <p:spPr>
          <a:xfrm>
            <a:off x="9696450" y="443865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33" name="bullet-3">
            <a:extLst>
              <a:ext uri="{FF2B5EF4-FFF2-40B4-BE49-F238E27FC236}">
                <a16:creationId xmlns:a16="http://schemas.microsoft.com/office/drawing/2014/main" id="{B319C17A-5F99-4E30-9E5F-01E712EE7DEF}"/>
              </a:ext>
            </a:extLst>
          </p:cNvPr>
          <p:cNvSpPr>
            <a:spLocks noGrp="1"/>
          </p:cNvSpPr>
          <p:nvPr/>
        </p:nvSpPr>
        <p:spPr>
          <a:xfrm>
            <a:off x="9963150" y="4343400"/>
            <a:ext cx="72580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Group challenges</a:t>
            </a:r>
          </a:p>
        </p:txBody>
      </p:sp>
      <p:sp>
        <p:nvSpPr>
          <p:cNvPr id="34" name="community-2">
            <a:extLst>
              <a:ext uri="{FF2B5EF4-FFF2-40B4-BE49-F238E27FC236}">
                <a16:creationId xmlns:a16="http://schemas.microsoft.com/office/drawing/2014/main" id="{DD997463-1F2A-42A6-BDC9-E2A60CA346B8}"/>
              </a:ext>
            </a:extLst>
          </p:cNvPr>
          <p:cNvSpPr>
            <a:spLocks noGrp="1"/>
          </p:cNvSpPr>
          <p:nvPr/>
        </p:nvSpPr>
        <p:spPr>
          <a:xfrm>
            <a:off x="9410700" y="5246370"/>
            <a:ext cx="8096250" cy="2286000"/>
          </a:xfrm>
          <a:prstGeom prst="roundRect">
            <a:avLst>
              <a:gd name="adj" fmla="val 5000"/>
            </a:avLst>
          </a:prstGeom>
          <a:solidFill>
            <a:srgbClr val="111217"/>
          </a:solidFill>
        </p:spPr>
      </p:sp>
      <p:sp>
        <p:nvSpPr>
          <p:cNvPr id="35" name="bullet-dot-0">
            <a:extLst>
              <a:ext uri="{FF2B5EF4-FFF2-40B4-BE49-F238E27FC236}">
                <a16:creationId xmlns:a16="http://schemas.microsoft.com/office/drawing/2014/main" id="{F98FAADA-D7E5-4858-A4A7-1ECDA922C6DD}"/>
              </a:ext>
            </a:extLst>
          </p:cNvPr>
          <p:cNvSpPr>
            <a:spLocks noGrp="1"/>
          </p:cNvSpPr>
          <p:nvPr/>
        </p:nvSpPr>
        <p:spPr>
          <a:xfrm>
            <a:off x="9696450" y="558165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36" name="bullet-0">
            <a:extLst>
              <a:ext uri="{FF2B5EF4-FFF2-40B4-BE49-F238E27FC236}">
                <a16:creationId xmlns:a16="http://schemas.microsoft.com/office/drawing/2014/main" id="{440DB854-01A2-4023-AF13-DE5C2B0445B6}"/>
              </a:ext>
            </a:extLst>
          </p:cNvPr>
          <p:cNvSpPr>
            <a:spLocks noGrp="1"/>
          </p:cNvSpPr>
          <p:nvPr/>
        </p:nvSpPr>
        <p:spPr>
          <a:xfrm>
            <a:off x="9963150" y="5486400"/>
            <a:ext cx="72580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College fitness clubs</a:t>
            </a:r>
          </a:p>
        </p:txBody>
      </p:sp>
      <p:sp>
        <p:nvSpPr>
          <p:cNvPr id="37" name="bullet-dot-1">
            <a:extLst>
              <a:ext uri="{FF2B5EF4-FFF2-40B4-BE49-F238E27FC236}">
                <a16:creationId xmlns:a16="http://schemas.microsoft.com/office/drawing/2014/main" id="{76A1A285-B761-492F-980E-5CB6886A8771}"/>
              </a:ext>
            </a:extLst>
          </p:cNvPr>
          <p:cNvSpPr>
            <a:spLocks noGrp="1"/>
          </p:cNvSpPr>
          <p:nvPr/>
        </p:nvSpPr>
        <p:spPr>
          <a:xfrm>
            <a:off x="9696450" y="603885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38" name="bullet-1">
            <a:extLst>
              <a:ext uri="{FF2B5EF4-FFF2-40B4-BE49-F238E27FC236}">
                <a16:creationId xmlns:a16="http://schemas.microsoft.com/office/drawing/2014/main" id="{1EEB9493-72FF-4196-8C85-2FC5A24EA424}"/>
              </a:ext>
            </a:extLst>
          </p:cNvPr>
          <p:cNvSpPr>
            <a:spLocks noGrp="1"/>
          </p:cNvSpPr>
          <p:nvPr/>
        </p:nvSpPr>
        <p:spPr>
          <a:xfrm>
            <a:off x="9963150" y="5943600"/>
            <a:ext cx="72580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Gym partnerships</a:t>
            </a:r>
          </a:p>
        </p:txBody>
      </p:sp>
      <p:sp>
        <p:nvSpPr>
          <p:cNvPr id="39" name="bullet-dot-2">
            <a:extLst>
              <a:ext uri="{FF2B5EF4-FFF2-40B4-BE49-F238E27FC236}">
                <a16:creationId xmlns:a16="http://schemas.microsoft.com/office/drawing/2014/main" id="{8CB1EAEF-5A89-433E-86CE-D09F9F66DB62}"/>
              </a:ext>
            </a:extLst>
          </p:cNvPr>
          <p:cNvSpPr>
            <a:spLocks noGrp="1"/>
          </p:cNvSpPr>
          <p:nvPr/>
        </p:nvSpPr>
        <p:spPr>
          <a:xfrm>
            <a:off x="9696450" y="649605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40" name="bullet-2">
            <a:extLst>
              <a:ext uri="{FF2B5EF4-FFF2-40B4-BE49-F238E27FC236}">
                <a16:creationId xmlns:a16="http://schemas.microsoft.com/office/drawing/2014/main" id="{421AE8AB-3826-499A-9137-ED0677FA6919}"/>
              </a:ext>
            </a:extLst>
          </p:cNvPr>
          <p:cNvSpPr>
            <a:spLocks noGrp="1"/>
          </p:cNvSpPr>
          <p:nvPr/>
        </p:nvSpPr>
        <p:spPr>
          <a:xfrm>
            <a:off x="9963150" y="6400800"/>
            <a:ext cx="72580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Creator-led programs</a:t>
            </a:r>
          </a:p>
        </p:txBody>
      </p:sp>
      <p:sp>
        <p:nvSpPr>
          <p:cNvPr id="41" name="bullet-dot-3">
            <a:extLst>
              <a:ext uri="{FF2B5EF4-FFF2-40B4-BE49-F238E27FC236}">
                <a16:creationId xmlns:a16="http://schemas.microsoft.com/office/drawing/2014/main" id="{07D14423-11EB-4A62-A9C7-8C7FFB1ABB97}"/>
              </a:ext>
            </a:extLst>
          </p:cNvPr>
          <p:cNvSpPr>
            <a:spLocks noGrp="1"/>
          </p:cNvSpPr>
          <p:nvPr/>
        </p:nvSpPr>
        <p:spPr>
          <a:xfrm>
            <a:off x="9696450" y="695325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42" name="bullet-3">
            <a:extLst>
              <a:ext uri="{FF2B5EF4-FFF2-40B4-BE49-F238E27FC236}">
                <a16:creationId xmlns:a16="http://schemas.microsoft.com/office/drawing/2014/main" id="{47387F3E-8043-48FF-89D0-C59549FE21B2}"/>
              </a:ext>
            </a:extLst>
          </p:cNvPr>
          <p:cNvSpPr>
            <a:spLocks noGrp="1"/>
          </p:cNvSpPr>
          <p:nvPr/>
        </p:nvSpPr>
        <p:spPr>
          <a:xfrm>
            <a:off x="9963150" y="6858000"/>
            <a:ext cx="72580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Regional health communities</a:t>
            </a:r>
          </a:p>
        </p:txBody>
      </p:sp>
      <p:sp>
        <p:nvSpPr>
          <p:cNvPr id="43" name="community-3">
            <a:extLst>
              <a:ext uri="{FF2B5EF4-FFF2-40B4-BE49-F238E27FC236}">
                <a16:creationId xmlns:a16="http://schemas.microsoft.com/office/drawing/2014/main" id="{F43B0EE0-2D87-4182-8DD5-6521318DE2A2}"/>
              </a:ext>
            </a:extLst>
          </p:cNvPr>
          <p:cNvSpPr>
            <a:spLocks noGrp="1"/>
          </p:cNvSpPr>
          <p:nvPr/>
        </p:nvSpPr>
        <p:spPr>
          <a:xfrm>
            <a:off x="9410700" y="7760970"/>
            <a:ext cx="8096250" cy="1762125"/>
          </a:xfrm>
          <a:prstGeom prst="roundRect">
            <a:avLst>
              <a:gd name="adj" fmla="val 6486"/>
            </a:avLst>
          </a:prstGeom>
          <a:solidFill>
            <a:srgbClr val="160B0D"/>
          </a:solidFill>
        </p:spPr>
      </p:sp>
      <p:sp>
        <p:nvSpPr>
          <p:cNvPr id="44" name="social-proof-can-become-the-growth-engine-use">
            <a:extLst>
              <a:ext uri="{FF2B5EF4-FFF2-40B4-BE49-F238E27FC236}">
                <a16:creationId xmlns:a16="http://schemas.microsoft.com/office/drawing/2014/main" id="{8ADC690B-3261-4ABD-8B46-68433FEE9501}"/>
              </a:ext>
            </a:extLst>
          </p:cNvPr>
          <p:cNvSpPr>
            <a:spLocks noGrp="1"/>
          </p:cNvSpPr>
          <p:nvPr/>
        </p:nvSpPr>
        <p:spPr>
          <a:xfrm>
            <a:off x="9696450" y="8001000"/>
            <a:ext cx="75247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F8F5EF"/>
                </a:solidFill>
              </a:defRPr>
            </a:pPr>
            <a:r>
              <a:rPr sz="2325" b="1" i="0">
                <a:solidFill>
                  <a:srgbClr val="F8F5EF"/>
                </a:solidFill>
              </a:rPr>
              <a:t>Social proof can become the growth engine: users invite friends because consistency is easier together.</a:t>
            </a:r>
          </a:p>
        </p:txBody>
      </p:sp>
    </p:spTree>
    <p:extLst>
      <p:ext uri="{BB962C8B-B14F-4D97-AF65-F5344CB8AC3E}">
        <p14:creationId xmlns:p14="http://schemas.microsoft.com/office/powerpoint/2010/main" val="2076434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bg">
            <a:extLst>
              <a:ext uri="{FF2B5EF4-FFF2-40B4-BE49-F238E27FC236}">
                <a16:creationId xmlns:a16="http://schemas.microsoft.com/office/drawing/2014/main" id="{C2976BE4-536E-42DF-8F10-C042BBD0A0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06"/>
          </a:solidFill>
        </p:spPr>
      </p:sp>
      <p:sp>
        <p:nvSpPr>
          <p:cNvPr id="2" name="top-glow">
            <a:extLst>
              <a:ext uri="{FF2B5EF4-FFF2-40B4-BE49-F238E27FC236}">
                <a16:creationId xmlns:a16="http://schemas.microsoft.com/office/drawing/2014/main" id="{6976EB8F-7954-4FC6-B69D-B7DA9439B0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14350"/>
          </a:xfrm>
          <a:prstGeom prst="rect">
            <a:avLst/>
          </a:prstGeom>
          <a:solidFill>
            <a:srgbClr val="55070B"/>
          </a:solidFill>
        </p:spPr>
      </p:sp>
      <p:sp>
        <p:nvSpPr>
          <p:cNvPr id="3" name="bottom-line">
            <a:extLst>
              <a:ext uri="{FF2B5EF4-FFF2-40B4-BE49-F238E27FC236}">
                <a16:creationId xmlns:a16="http://schemas.microsoft.com/office/drawing/2014/main" id="{A39A66AB-3CD2-471F-81B6-E954A8F3E8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69A19A02-5850-49AC-BBE1-388495AFDC4C}"/>
              </a:ext>
            </a:extLst>
          </p:cNvPr>
          <p:cNvSpPr>
            <a:spLocks noGrp="1"/>
          </p:cNvSpPr>
          <p:nvPr/>
        </p:nvSpPr>
        <p:spPr>
          <a:xfrm>
            <a:off x="781050" y="2127250"/>
            <a:ext cx="666750" cy="47625"/>
          </a:xfrm>
          <a:prstGeom prst="rect">
            <a:avLst/>
          </a:prstGeom>
          <a:solidFill>
            <a:srgbClr val="E50914"/>
          </a:solidFill>
          <a:ln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8AFFB5AB-BC06-46CF-99F4-C8B24BBF96AA}"/>
              </a:ext>
            </a:extLst>
          </p:cNvPr>
          <p:cNvSpPr>
            <a:spLocks noGrp="1"/>
          </p:cNvSpPr>
          <p:nvPr/>
        </p:nvSpPr>
        <p:spPr>
          <a:xfrm>
            <a:off x="1581150" y="1936750"/>
            <a:ext cx="8382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TECH STACK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3CA4496E-7920-4F3D-A633-28C79A5A0E7D}"/>
              </a:ext>
            </a:extLst>
          </p:cNvPr>
          <p:cNvSpPr>
            <a:spLocks noGrp="1"/>
          </p:cNvSpPr>
          <p:nvPr/>
        </p:nvSpPr>
        <p:spPr>
          <a:xfrm>
            <a:off x="781050" y="2508250"/>
            <a:ext cx="12153900" cy="1333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Built like a scalable SaaS, evolving into an AI research platform.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146CA1BE-420D-4C59-9638-5043F65322F2}"/>
              </a:ext>
            </a:extLst>
          </p:cNvPr>
          <p:cNvSpPr>
            <a:spLocks noGrp="1"/>
          </p:cNvSpPr>
          <p:nvPr/>
        </p:nvSpPr>
        <p:spPr>
          <a:xfrm>
            <a:off x="781050" y="3975100"/>
            <a:ext cx="102489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current architecture separates product, backend services, AI memory, and future model development.</a:t>
            </a:r>
          </a:p>
        </p:txBody>
      </p:sp>
      <p:sp>
        <p:nvSpPr>
          <p:cNvPr id="8" name="tech-front">
            <a:extLst>
              <a:ext uri="{FF2B5EF4-FFF2-40B4-BE49-F238E27FC236}">
                <a16:creationId xmlns:a16="http://schemas.microsoft.com/office/drawing/2014/main" id="{7BEA4AF6-7DBA-4C25-88DC-B7D511F476ED}"/>
              </a:ext>
            </a:extLst>
          </p:cNvPr>
          <p:cNvSpPr>
            <a:spLocks noGrp="1"/>
          </p:cNvSpPr>
          <p:nvPr/>
        </p:nvSpPr>
        <p:spPr>
          <a:xfrm>
            <a:off x="781050" y="4664710"/>
            <a:ext cx="4024313" cy="3323590"/>
          </a:xfrm>
          <a:prstGeom prst="roundRect">
            <a:avLst>
              <a:gd name="adj" fmla="val 2840"/>
            </a:avLst>
          </a:prstGeom>
          <a:solidFill>
            <a:srgbClr val="111217"/>
          </a:solidFill>
        </p:spPr>
      </p:sp>
      <p:sp>
        <p:nvSpPr>
          <p:cNvPr id="9" name="frontend">
            <a:extLst>
              <a:ext uri="{FF2B5EF4-FFF2-40B4-BE49-F238E27FC236}">
                <a16:creationId xmlns:a16="http://schemas.microsoft.com/office/drawing/2014/main" id="{8167ADC5-B0D1-4C25-BC50-79AD224C1D78}"/>
              </a:ext>
            </a:extLst>
          </p:cNvPr>
          <p:cNvSpPr>
            <a:spLocks noGrp="1"/>
          </p:cNvSpPr>
          <p:nvPr/>
        </p:nvSpPr>
        <p:spPr>
          <a:xfrm>
            <a:off x="1066800" y="4908550"/>
            <a:ext cx="34480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Frontend</a:t>
            </a:r>
          </a:p>
        </p:txBody>
      </p:sp>
      <p:sp>
        <p:nvSpPr>
          <p:cNvPr id="10" name="bullet-dot-0">
            <a:extLst>
              <a:ext uri="{FF2B5EF4-FFF2-40B4-BE49-F238E27FC236}">
                <a16:creationId xmlns:a16="http://schemas.microsoft.com/office/drawing/2014/main" id="{0894C847-02B9-4BCD-A7A7-999945F4E8C6}"/>
              </a:ext>
            </a:extLst>
          </p:cNvPr>
          <p:cNvSpPr>
            <a:spLocks noGrp="1"/>
          </p:cNvSpPr>
          <p:nvPr/>
        </p:nvSpPr>
        <p:spPr>
          <a:xfrm>
            <a:off x="1066800" y="56515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11" name="bullet-0">
            <a:extLst>
              <a:ext uri="{FF2B5EF4-FFF2-40B4-BE49-F238E27FC236}">
                <a16:creationId xmlns:a16="http://schemas.microsoft.com/office/drawing/2014/main" id="{EBC07754-AD1C-4CB1-A5D4-EA9ABEDABAA2}"/>
              </a:ext>
            </a:extLst>
          </p:cNvPr>
          <p:cNvSpPr>
            <a:spLocks noGrp="1"/>
          </p:cNvSpPr>
          <p:nvPr/>
        </p:nvSpPr>
        <p:spPr>
          <a:xfrm>
            <a:off x="1333500" y="5556250"/>
            <a:ext cx="3181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React</a:t>
            </a:r>
          </a:p>
        </p:txBody>
      </p:sp>
      <p:sp>
        <p:nvSpPr>
          <p:cNvPr id="12" name="bullet-dot-1">
            <a:extLst>
              <a:ext uri="{FF2B5EF4-FFF2-40B4-BE49-F238E27FC236}">
                <a16:creationId xmlns:a16="http://schemas.microsoft.com/office/drawing/2014/main" id="{213E60EE-482B-41DF-8867-4EE9F2722CB2}"/>
              </a:ext>
            </a:extLst>
          </p:cNvPr>
          <p:cNvSpPr>
            <a:spLocks noGrp="1"/>
          </p:cNvSpPr>
          <p:nvPr/>
        </p:nvSpPr>
        <p:spPr>
          <a:xfrm>
            <a:off x="1066800" y="61087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13" name="bullet-1">
            <a:extLst>
              <a:ext uri="{FF2B5EF4-FFF2-40B4-BE49-F238E27FC236}">
                <a16:creationId xmlns:a16="http://schemas.microsoft.com/office/drawing/2014/main" id="{96CEA6A7-2DE4-492D-9A1C-52FEA514F1C5}"/>
              </a:ext>
            </a:extLst>
          </p:cNvPr>
          <p:cNvSpPr>
            <a:spLocks noGrp="1"/>
          </p:cNvSpPr>
          <p:nvPr/>
        </p:nvSpPr>
        <p:spPr>
          <a:xfrm>
            <a:off x="1333500" y="6013450"/>
            <a:ext cx="3181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Framer Motion</a:t>
            </a:r>
          </a:p>
        </p:txBody>
      </p:sp>
      <p:sp>
        <p:nvSpPr>
          <p:cNvPr id="14" name="bullet-dot-2">
            <a:extLst>
              <a:ext uri="{FF2B5EF4-FFF2-40B4-BE49-F238E27FC236}">
                <a16:creationId xmlns:a16="http://schemas.microsoft.com/office/drawing/2014/main" id="{D0235F2B-72D3-4446-B8CE-2CCA3F988ABB}"/>
              </a:ext>
            </a:extLst>
          </p:cNvPr>
          <p:cNvSpPr>
            <a:spLocks noGrp="1"/>
          </p:cNvSpPr>
          <p:nvPr/>
        </p:nvSpPr>
        <p:spPr>
          <a:xfrm>
            <a:off x="1066800" y="65659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15" name="bullet-2">
            <a:extLst>
              <a:ext uri="{FF2B5EF4-FFF2-40B4-BE49-F238E27FC236}">
                <a16:creationId xmlns:a16="http://schemas.microsoft.com/office/drawing/2014/main" id="{B93BC527-20F9-4975-8E1E-84356BA1B1A3}"/>
              </a:ext>
            </a:extLst>
          </p:cNvPr>
          <p:cNvSpPr>
            <a:spLocks noGrp="1"/>
          </p:cNvSpPr>
          <p:nvPr/>
        </p:nvSpPr>
        <p:spPr>
          <a:xfrm>
            <a:off x="1333500" y="6470650"/>
            <a:ext cx="3181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Styled Components</a:t>
            </a:r>
          </a:p>
        </p:txBody>
      </p:sp>
      <p:sp>
        <p:nvSpPr>
          <p:cNvPr id="16" name="bullet-dot-3">
            <a:extLst>
              <a:ext uri="{FF2B5EF4-FFF2-40B4-BE49-F238E27FC236}">
                <a16:creationId xmlns:a16="http://schemas.microsoft.com/office/drawing/2014/main" id="{75CA4818-60B0-4D19-B80E-E947337A69C6}"/>
              </a:ext>
            </a:extLst>
          </p:cNvPr>
          <p:cNvSpPr>
            <a:spLocks noGrp="1"/>
          </p:cNvSpPr>
          <p:nvPr/>
        </p:nvSpPr>
        <p:spPr>
          <a:xfrm>
            <a:off x="1066800" y="70231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17" name="bullet-3">
            <a:extLst>
              <a:ext uri="{FF2B5EF4-FFF2-40B4-BE49-F238E27FC236}">
                <a16:creationId xmlns:a16="http://schemas.microsoft.com/office/drawing/2014/main" id="{BCC0B7F9-C11E-4927-8501-BCCBF722335A}"/>
              </a:ext>
            </a:extLst>
          </p:cNvPr>
          <p:cNvSpPr>
            <a:spLocks noGrp="1"/>
          </p:cNvSpPr>
          <p:nvPr/>
        </p:nvSpPr>
        <p:spPr>
          <a:xfrm>
            <a:off x="1333500" y="6927850"/>
            <a:ext cx="3181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Lenis smooth scroll</a:t>
            </a:r>
          </a:p>
        </p:txBody>
      </p:sp>
      <p:sp>
        <p:nvSpPr>
          <p:cNvPr id="18" name="tech-back">
            <a:extLst>
              <a:ext uri="{FF2B5EF4-FFF2-40B4-BE49-F238E27FC236}">
                <a16:creationId xmlns:a16="http://schemas.microsoft.com/office/drawing/2014/main" id="{F0E48EBA-A6C6-47B3-803B-E4278F549913}"/>
              </a:ext>
            </a:extLst>
          </p:cNvPr>
          <p:cNvSpPr>
            <a:spLocks noGrp="1"/>
          </p:cNvSpPr>
          <p:nvPr/>
        </p:nvSpPr>
        <p:spPr>
          <a:xfrm>
            <a:off x="5014913" y="4664710"/>
            <a:ext cx="4024313" cy="3323590"/>
          </a:xfrm>
          <a:prstGeom prst="roundRect">
            <a:avLst>
              <a:gd name="adj" fmla="val 2840"/>
            </a:avLst>
          </a:prstGeom>
          <a:solidFill>
            <a:srgbClr val="111217"/>
          </a:solidFill>
        </p:spPr>
      </p:sp>
      <p:sp>
        <p:nvSpPr>
          <p:cNvPr id="19" name="backend">
            <a:extLst>
              <a:ext uri="{FF2B5EF4-FFF2-40B4-BE49-F238E27FC236}">
                <a16:creationId xmlns:a16="http://schemas.microsoft.com/office/drawing/2014/main" id="{365B305F-BC00-4121-96FA-8C1DA0126130}"/>
              </a:ext>
            </a:extLst>
          </p:cNvPr>
          <p:cNvSpPr>
            <a:spLocks noGrp="1"/>
          </p:cNvSpPr>
          <p:nvPr/>
        </p:nvSpPr>
        <p:spPr>
          <a:xfrm>
            <a:off x="5295900" y="4908550"/>
            <a:ext cx="34480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Backend</a:t>
            </a:r>
          </a:p>
        </p:txBody>
      </p:sp>
      <p:sp>
        <p:nvSpPr>
          <p:cNvPr id="20" name="bullet-dot-0">
            <a:extLst>
              <a:ext uri="{FF2B5EF4-FFF2-40B4-BE49-F238E27FC236}">
                <a16:creationId xmlns:a16="http://schemas.microsoft.com/office/drawing/2014/main" id="{F10E6B19-970D-499B-9D62-5C3075F25224}"/>
              </a:ext>
            </a:extLst>
          </p:cNvPr>
          <p:cNvSpPr>
            <a:spLocks noGrp="1"/>
          </p:cNvSpPr>
          <p:nvPr/>
        </p:nvSpPr>
        <p:spPr>
          <a:xfrm>
            <a:off x="5295900" y="56515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21" name="bullet-0">
            <a:extLst>
              <a:ext uri="{FF2B5EF4-FFF2-40B4-BE49-F238E27FC236}">
                <a16:creationId xmlns:a16="http://schemas.microsoft.com/office/drawing/2014/main" id="{28949136-AC75-432F-8963-2C463C9B4025}"/>
              </a:ext>
            </a:extLst>
          </p:cNvPr>
          <p:cNvSpPr>
            <a:spLocks noGrp="1"/>
          </p:cNvSpPr>
          <p:nvPr/>
        </p:nvSpPr>
        <p:spPr>
          <a:xfrm>
            <a:off x="5562600" y="5556250"/>
            <a:ext cx="3181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Node.js</a:t>
            </a:r>
          </a:p>
        </p:txBody>
      </p:sp>
      <p:sp>
        <p:nvSpPr>
          <p:cNvPr id="22" name="bullet-dot-1">
            <a:extLst>
              <a:ext uri="{FF2B5EF4-FFF2-40B4-BE49-F238E27FC236}">
                <a16:creationId xmlns:a16="http://schemas.microsoft.com/office/drawing/2014/main" id="{3BCD6B9B-4EF7-4F83-BE78-D3106FCB273F}"/>
              </a:ext>
            </a:extLst>
          </p:cNvPr>
          <p:cNvSpPr>
            <a:spLocks noGrp="1"/>
          </p:cNvSpPr>
          <p:nvPr/>
        </p:nvSpPr>
        <p:spPr>
          <a:xfrm>
            <a:off x="5295900" y="61087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23" name="bullet-1">
            <a:extLst>
              <a:ext uri="{FF2B5EF4-FFF2-40B4-BE49-F238E27FC236}">
                <a16:creationId xmlns:a16="http://schemas.microsoft.com/office/drawing/2014/main" id="{C7251339-530F-4A01-A4F8-7DCA86734585}"/>
              </a:ext>
            </a:extLst>
          </p:cNvPr>
          <p:cNvSpPr>
            <a:spLocks noGrp="1"/>
          </p:cNvSpPr>
          <p:nvPr/>
        </p:nvSpPr>
        <p:spPr>
          <a:xfrm>
            <a:off x="5562600" y="6013450"/>
            <a:ext cx="3181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Express</a:t>
            </a:r>
          </a:p>
        </p:txBody>
      </p:sp>
      <p:sp>
        <p:nvSpPr>
          <p:cNvPr id="24" name="bullet-dot-2">
            <a:extLst>
              <a:ext uri="{FF2B5EF4-FFF2-40B4-BE49-F238E27FC236}">
                <a16:creationId xmlns:a16="http://schemas.microsoft.com/office/drawing/2014/main" id="{BD989B3E-F59A-417B-85FF-1AAFEC5F75FA}"/>
              </a:ext>
            </a:extLst>
          </p:cNvPr>
          <p:cNvSpPr>
            <a:spLocks noGrp="1"/>
          </p:cNvSpPr>
          <p:nvPr/>
        </p:nvSpPr>
        <p:spPr>
          <a:xfrm>
            <a:off x="5295900" y="65659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25" name="bullet-2">
            <a:extLst>
              <a:ext uri="{FF2B5EF4-FFF2-40B4-BE49-F238E27FC236}">
                <a16:creationId xmlns:a16="http://schemas.microsoft.com/office/drawing/2014/main" id="{F00A8D4E-EF56-412D-B6A1-FBD7D5C8DAC2}"/>
              </a:ext>
            </a:extLst>
          </p:cNvPr>
          <p:cNvSpPr>
            <a:spLocks noGrp="1"/>
          </p:cNvSpPr>
          <p:nvPr/>
        </p:nvSpPr>
        <p:spPr>
          <a:xfrm>
            <a:off x="5562600" y="6470650"/>
            <a:ext cx="3181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JWT auth</a:t>
            </a:r>
          </a:p>
        </p:txBody>
      </p:sp>
      <p:sp>
        <p:nvSpPr>
          <p:cNvPr id="26" name="bullet-dot-3">
            <a:extLst>
              <a:ext uri="{FF2B5EF4-FFF2-40B4-BE49-F238E27FC236}">
                <a16:creationId xmlns:a16="http://schemas.microsoft.com/office/drawing/2014/main" id="{C899256F-1DB4-4C6E-8B77-BC2E2D065AED}"/>
              </a:ext>
            </a:extLst>
          </p:cNvPr>
          <p:cNvSpPr>
            <a:spLocks noGrp="1"/>
          </p:cNvSpPr>
          <p:nvPr/>
        </p:nvSpPr>
        <p:spPr>
          <a:xfrm>
            <a:off x="5295900" y="70231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27" name="bullet-3">
            <a:extLst>
              <a:ext uri="{FF2B5EF4-FFF2-40B4-BE49-F238E27FC236}">
                <a16:creationId xmlns:a16="http://schemas.microsoft.com/office/drawing/2014/main" id="{2C816510-C21A-4B19-B9C0-6C067E2FDD26}"/>
              </a:ext>
            </a:extLst>
          </p:cNvPr>
          <p:cNvSpPr>
            <a:spLocks noGrp="1"/>
          </p:cNvSpPr>
          <p:nvPr/>
        </p:nvSpPr>
        <p:spPr>
          <a:xfrm>
            <a:off x="5562600" y="6927850"/>
            <a:ext cx="3181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API v1 routes</a:t>
            </a:r>
          </a:p>
        </p:txBody>
      </p:sp>
      <p:sp>
        <p:nvSpPr>
          <p:cNvPr id="28" name="tech-ai">
            <a:extLst>
              <a:ext uri="{FF2B5EF4-FFF2-40B4-BE49-F238E27FC236}">
                <a16:creationId xmlns:a16="http://schemas.microsoft.com/office/drawing/2014/main" id="{7BFE868E-2DCA-4A84-A4F4-12B2542E152B}"/>
              </a:ext>
            </a:extLst>
          </p:cNvPr>
          <p:cNvSpPr>
            <a:spLocks noGrp="1"/>
          </p:cNvSpPr>
          <p:nvPr/>
        </p:nvSpPr>
        <p:spPr>
          <a:xfrm>
            <a:off x="9248775" y="4664710"/>
            <a:ext cx="4024313" cy="3323590"/>
          </a:xfrm>
          <a:prstGeom prst="roundRect">
            <a:avLst>
              <a:gd name="adj" fmla="val 2840"/>
            </a:avLst>
          </a:prstGeom>
          <a:solidFill>
            <a:srgbClr val="111217"/>
          </a:solidFill>
        </p:spPr>
      </p:sp>
      <p:sp>
        <p:nvSpPr>
          <p:cNvPr id="29" name="ai-layer">
            <a:extLst>
              <a:ext uri="{FF2B5EF4-FFF2-40B4-BE49-F238E27FC236}">
                <a16:creationId xmlns:a16="http://schemas.microsoft.com/office/drawing/2014/main" id="{3A2ADA92-05A7-47A7-9CAE-C048E1DAE3F9}"/>
              </a:ext>
            </a:extLst>
          </p:cNvPr>
          <p:cNvSpPr>
            <a:spLocks noGrp="1"/>
          </p:cNvSpPr>
          <p:nvPr/>
        </p:nvSpPr>
        <p:spPr>
          <a:xfrm>
            <a:off x="9544050" y="4908550"/>
            <a:ext cx="34480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AI Layer</a:t>
            </a:r>
          </a:p>
        </p:txBody>
      </p:sp>
      <p:sp>
        <p:nvSpPr>
          <p:cNvPr id="30" name="bullet-dot-0">
            <a:extLst>
              <a:ext uri="{FF2B5EF4-FFF2-40B4-BE49-F238E27FC236}">
                <a16:creationId xmlns:a16="http://schemas.microsoft.com/office/drawing/2014/main" id="{AA46FBB8-7102-45FD-819E-8CCA969EA921}"/>
              </a:ext>
            </a:extLst>
          </p:cNvPr>
          <p:cNvSpPr>
            <a:spLocks noGrp="1"/>
          </p:cNvSpPr>
          <p:nvPr/>
        </p:nvSpPr>
        <p:spPr>
          <a:xfrm>
            <a:off x="9544050" y="56515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31" name="bullet-0">
            <a:extLst>
              <a:ext uri="{FF2B5EF4-FFF2-40B4-BE49-F238E27FC236}">
                <a16:creationId xmlns:a16="http://schemas.microsoft.com/office/drawing/2014/main" id="{A5344CE1-9553-4297-8BAF-B0BE0292C0B8}"/>
              </a:ext>
            </a:extLst>
          </p:cNvPr>
          <p:cNvSpPr>
            <a:spLocks noGrp="1"/>
          </p:cNvSpPr>
          <p:nvPr/>
        </p:nvSpPr>
        <p:spPr>
          <a:xfrm>
            <a:off x="9810750" y="5556250"/>
            <a:ext cx="3181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Memory service</a:t>
            </a:r>
          </a:p>
        </p:txBody>
      </p:sp>
      <p:sp>
        <p:nvSpPr>
          <p:cNvPr id="32" name="bullet-dot-1">
            <a:extLst>
              <a:ext uri="{FF2B5EF4-FFF2-40B4-BE49-F238E27FC236}">
                <a16:creationId xmlns:a16="http://schemas.microsoft.com/office/drawing/2014/main" id="{D7939323-0EF7-4C63-B092-01D6DA9028A3}"/>
              </a:ext>
            </a:extLst>
          </p:cNvPr>
          <p:cNvSpPr>
            <a:spLocks noGrp="1"/>
          </p:cNvSpPr>
          <p:nvPr/>
        </p:nvSpPr>
        <p:spPr>
          <a:xfrm>
            <a:off x="9544050" y="61087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33" name="bullet-1">
            <a:extLst>
              <a:ext uri="{FF2B5EF4-FFF2-40B4-BE49-F238E27FC236}">
                <a16:creationId xmlns:a16="http://schemas.microsoft.com/office/drawing/2014/main" id="{C47B0397-D019-4C21-8E97-70BF1D22BE23}"/>
              </a:ext>
            </a:extLst>
          </p:cNvPr>
          <p:cNvSpPr>
            <a:spLocks noGrp="1"/>
          </p:cNvSpPr>
          <p:nvPr/>
        </p:nvSpPr>
        <p:spPr>
          <a:xfrm>
            <a:off x="9810750" y="6013450"/>
            <a:ext cx="3181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Routing engine</a:t>
            </a:r>
          </a:p>
        </p:txBody>
      </p:sp>
      <p:sp>
        <p:nvSpPr>
          <p:cNvPr id="34" name="bullet-dot-2">
            <a:extLst>
              <a:ext uri="{FF2B5EF4-FFF2-40B4-BE49-F238E27FC236}">
                <a16:creationId xmlns:a16="http://schemas.microsoft.com/office/drawing/2014/main" id="{440BDA33-C6AB-4803-9614-B3C479EFAAD2}"/>
              </a:ext>
            </a:extLst>
          </p:cNvPr>
          <p:cNvSpPr>
            <a:spLocks noGrp="1"/>
          </p:cNvSpPr>
          <p:nvPr/>
        </p:nvSpPr>
        <p:spPr>
          <a:xfrm>
            <a:off x="9544050" y="65659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35" name="bullet-2">
            <a:extLst>
              <a:ext uri="{FF2B5EF4-FFF2-40B4-BE49-F238E27FC236}">
                <a16:creationId xmlns:a16="http://schemas.microsoft.com/office/drawing/2014/main" id="{26730D40-7FE5-4C43-964D-D99EE33CE84D}"/>
              </a:ext>
            </a:extLst>
          </p:cNvPr>
          <p:cNvSpPr>
            <a:spLocks noGrp="1"/>
          </p:cNvSpPr>
          <p:nvPr/>
        </p:nvSpPr>
        <p:spPr>
          <a:xfrm>
            <a:off x="9810750" y="6470650"/>
            <a:ext cx="3181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Notification triggers</a:t>
            </a:r>
          </a:p>
        </p:txBody>
      </p:sp>
      <p:sp>
        <p:nvSpPr>
          <p:cNvPr id="36" name="bullet-dot-3">
            <a:extLst>
              <a:ext uri="{FF2B5EF4-FFF2-40B4-BE49-F238E27FC236}">
                <a16:creationId xmlns:a16="http://schemas.microsoft.com/office/drawing/2014/main" id="{B78910C7-F9C7-4F7B-A3B8-CA23FCCD2D9B}"/>
              </a:ext>
            </a:extLst>
          </p:cNvPr>
          <p:cNvSpPr>
            <a:spLocks noGrp="1"/>
          </p:cNvSpPr>
          <p:nvPr/>
        </p:nvSpPr>
        <p:spPr>
          <a:xfrm>
            <a:off x="9544050" y="70231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37" name="bullet-3">
            <a:extLst>
              <a:ext uri="{FF2B5EF4-FFF2-40B4-BE49-F238E27FC236}">
                <a16:creationId xmlns:a16="http://schemas.microsoft.com/office/drawing/2014/main" id="{7A735D74-B417-4644-A33D-2329CFE5971F}"/>
              </a:ext>
            </a:extLst>
          </p:cNvPr>
          <p:cNvSpPr>
            <a:spLocks noGrp="1"/>
          </p:cNvSpPr>
          <p:nvPr/>
        </p:nvSpPr>
        <p:spPr>
          <a:xfrm>
            <a:off x="9810750" y="6927850"/>
            <a:ext cx="3181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Custom transformer research</a:t>
            </a:r>
          </a:p>
        </p:txBody>
      </p:sp>
      <p:sp>
        <p:nvSpPr>
          <p:cNvPr id="38" name="tech-future">
            <a:extLst>
              <a:ext uri="{FF2B5EF4-FFF2-40B4-BE49-F238E27FC236}">
                <a16:creationId xmlns:a16="http://schemas.microsoft.com/office/drawing/2014/main" id="{00045946-6D3A-460F-97F9-A6EE1965CAD2}"/>
              </a:ext>
            </a:extLst>
          </p:cNvPr>
          <p:cNvSpPr>
            <a:spLocks noGrp="1"/>
          </p:cNvSpPr>
          <p:nvPr/>
        </p:nvSpPr>
        <p:spPr>
          <a:xfrm>
            <a:off x="13482638" y="4664710"/>
            <a:ext cx="4024313" cy="3323590"/>
          </a:xfrm>
          <a:prstGeom prst="roundRect">
            <a:avLst>
              <a:gd name="adj" fmla="val 2840"/>
            </a:avLst>
          </a:prstGeom>
          <a:solidFill>
            <a:srgbClr val="111217"/>
          </a:solidFill>
        </p:spPr>
      </p:sp>
      <p:sp>
        <p:nvSpPr>
          <p:cNvPr id="39" name="future">
            <a:extLst>
              <a:ext uri="{FF2B5EF4-FFF2-40B4-BE49-F238E27FC236}">
                <a16:creationId xmlns:a16="http://schemas.microsoft.com/office/drawing/2014/main" id="{6EE8BE81-0BC5-40D6-B18E-0390C4A1B79B}"/>
              </a:ext>
            </a:extLst>
          </p:cNvPr>
          <p:cNvSpPr>
            <a:spLocks noGrp="1"/>
          </p:cNvSpPr>
          <p:nvPr/>
        </p:nvSpPr>
        <p:spPr>
          <a:xfrm>
            <a:off x="13773150" y="4908550"/>
            <a:ext cx="34480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Future</a:t>
            </a:r>
          </a:p>
        </p:txBody>
      </p:sp>
      <p:sp>
        <p:nvSpPr>
          <p:cNvPr id="40" name="bullet-dot-0">
            <a:extLst>
              <a:ext uri="{FF2B5EF4-FFF2-40B4-BE49-F238E27FC236}">
                <a16:creationId xmlns:a16="http://schemas.microsoft.com/office/drawing/2014/main" id="{B6DA9A40-3122-4F61-88DC-051A967AB1A4}"/>
              </a:ext>
            </a:extLst>
          </p:cNvPr>
          <p:cNvSpPr>
            <a:spLocks noGrp="1"/>
          </p:cNvSpPr>
          <p:nvPr/>
        </p:nvSpPr>
        <p:spPr>
          <a:xfrm>
            <a:off x="13773150" y="56515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41" name="bullet-0">
            <a:extLst>
              <a:ext uri="{FF2B5EF4-FFF2-40B4-BE49-F238E27FC236}">
                <a16:creationId xmlns:a16="http://schemas.microsoft.com/office/drawing/2014/main" id="{18740D30-8A0F-4BBF-A2FB-23F00A6C24C5}"/>
              </a:ext>
            </a:extLst>
          </p:cNvPr>
          <p:cNvSpPr>
            <a:spLocks noGrp="1"/>
          </p:cNvSpPr>
          <p:nvPr/>
        </p:nvSpPr>
        <p:spPr>
          <a:xfrm>
            <a:off x="14039850" y="5556250"/>
            <a:ext cx="3181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C++ inference</a:t>
            </a:r>
          </a:p>
        </p:txBody>
      </p:sp>
      <p:sp>
        <p:nvSpPr>
          <p:cNvPr id="42" name="bullet-dot-1">
            <a:extLst>
              <a:ext uri="{FF2B5EF4-FFF2-40B4-BE49-F238E27FC236}">
                <a16:creationId xmlns:a16="http://schemas.microsoft.com/office/drawing/2014/main" id="{62F77E3C-5B2A-4305-99E8-6694871EE982}"/>
              </a:ext>
            </a:extLst>
          </p:cNvPr>
          <p:cNvSpPr>
            <a:spLocks noGrp="1"/>
          </p:cNvSpPr>
          <p:nvPr/>
        </p:nvSpPr>
        <p:spPr>
          <a:xfrm>
            <a:off x="13773150" y="61087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43" name="bullet-1">
            <a:extLst>
              <a:ext uri="{FF2B5EF4-FFF2-40B4-BE49-F238E27FC236}">
                <a16:creationId xmlns:a16="http://schemas.microsoft.com/office/drawing/2014/main" id="{EC21A912-B537-463A-810D-EF8FFA05C4B9}"/>
              </a:ext>
            </a:extLst>
          </p:cNvPr>
          <p:cNvSpPr>
            <a:spLocks noGrp="1"/>
          </p:cNvSpPr>
          <p:nvPr/>
        </p:nvSpPr>
        <p:spPr>
          <a:xfrm>
            <a:off x="14039850" y="6013450"/>
            <a:ext cx="3181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Wearables</a:t>
            </a:r>
          </a:p>
        </p:txBody>
      </p:sp>
      <p:sp>
        <p:nvSpPr>
          <p:cNvPr id="44" name="bullet-dot-2">
            <a:extLst>
              <a:ext uri="{FF2B5EF4-FFF2-40B4-BE49-F238E27FC236}">
                <a16:creationId xmlns:a16="http://schemas.microsoft.com/office/drawing/2014/main" id="{2A7BFAF9-89EC-4EB6-A40B-81F91A77EBA2}"/>
              </a:ext>
            </a:extLst>
          </p:cNvPr>
          <p:cNvSpPr>
            <a:spLocks noGrp="1"/>
          </p:cNvSpPr>
          <p:nvPr/>
        </p:nvSpPr>
        <p:spPr>
          <a:xfrm>
            <a:off x="13773150" y="65659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45" name="bullet-2">
            <a:extLst>
              <a:ext uri="{FF2B5EF4-FFF2-40B4-BE49-F238E27FC236}">
                <a16:creationId xmlns:a16="http://schemas.microsoft.com/office/drawing/2014/main" id="{48E481CB-D331-4538-BA0F-C4F3DD08D0CC}"/>
              </a:ext>
            </a:extLst>
          </p:cNvPr>
          <p:cNvSpPr>
            <a:spLocks noGrp="1"/>
          </p:cNvSpPr>
          <p:nvPr/>
        </p:nvSpPr>
        <p:spPr>
          <a:xfrm>
            <a:off x="14039850" y="6470650"/>
            <a:ext cx="3181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AI video generation</a:t>
            </a:r>
          </a:p>
        </p:txBody>
      </p:sp>
      <p:sp>
        <p:nvSpPr>
          <p:cNvPr id="46" name="bullet-dot-3">
            <a:extLst>
              <a:ext uri="{FF2B5EF4-FFF2-40B4-BE49-F238E27FC236}">
                <a16:creationId xmlns:a16="http://schemas.microsoft.com/office/drawing/2014/main" id="{C682FF44-27FD-4629-BC53-1EDC38390798}"/>
              </a:ext>
            </a:extLst>
          </p:cNvPr>
          <p:cNvSpPr>
            <a:spLocks noGrp="1"/>
          </p:cNvSpPr>
          <p:nvPr/>
        </p:nvSpPr>
        <p:spPr>
          <a:xfrm>
            <a:off x="13773150" y="70231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47" name="bullet-3">
            <a:extLst>
              <a:ext uri="{FF2B5EF4-FFF2-40B4-BE49-F238E27FC236}">
                <a16:creationId xmlns:a16="http://schemas.microsoft.com/office/drawing/2014/main" id="{EA62E798-F749-4CFF-BBCE-99B7C08DF3C3}"/>
              </a:ext>
            </a:extLst>
          </p:cNvPr>
          <p:cNvSpPr>
            <a:spLocks noGrp="1"/>
          </p:cNvSpPr>
          <p:nvPr/>
        </p:nvSpPr>
        <p:spPr>
          <a:xfrm>
            <a:off x="14039850" y="6927850"/>
            <a:ext cx="3181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Institutional GPU training</a:t>
            </a:r>
          </a:p>
        </p:txBody>
      </p:sp>
    </p:spTree>
    <p:extLst>
      <p:ext uri="{BB962C8B-B14F-4D97-AF65-F5344CB8AC3E}">
        <p14:creationId xmlns:p14="http://schemas.microsoft.com/office/powerpoint/2010/main" val="600681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g">
            <a:extLst>
              <a:ext uri="{FF2B5EF4-FFF2-40B4-BE49-F238E27FC236}">
                <a16:creationId xmlns:a16="http://schemas.microsoft.com/office/drawing/2014/main" id="{6159441C-3407-45EA-B7C6-5F91C23059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06"/>
          </a:solidFill>
        </p:spPr>
      </p:sp>
      <p:sp>
        <p:nvSpPr>
          <p:cNvPr id="2" name="top-glow">
            <a:extLst>
              <a:ext uri="{FF2B5EF4-FFF2-40B4-BE49-F238E27FC236}">
                <a16:creationId xmlns:a16="http://schemas.microsoft.com/office/drawing/2014/main" id="{BC7C635D-CEDF-4E86-915F-D499881F49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14350"/>
          </a:xfrm>
          <a:prstGeom prst="rect">
            <a:avLst/>
          </a:prstGeom>
          <a:solidFill>
            <a:srgbClr val="55070B"/>
          </a:solidFill>
        </p:spPr>
      </p:sp>
      <p:sp>
        <p:nvSpPr>
          <p:cNvPr id="3" name="bottom-line">
            <a:extLst>
              <a:ext uri="{FF2B5EF4-FFF2-40B4-BE49-F238E27FC236}">
                <a16:creationId xmlns:a16="http://schemas.microsoft.com/office/drawing/2014/main" id="{27788DE1-E7B5-443E-92CB-5C7E01466F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4D1920FB-5804-4B14-B771-80D0AA468BF8}"/>
              </a:ext>
            </a:extLst>
          </p:cNvPr>
          <p:cNvSpPr>
            <a:spLocks noGrp="1"/>
          </p:cNvSpPr>
          <p:nvPr/>
        </p:nvSpPr>
        <p:spPr>
          <a:xfrm>
            <a:off x="781050" y="857250"/>
            <a:ext cx="666750" cy="47625"/>
          </a:xfrm>
          <a:prstGeom prst="rect">
            <a:avLst/>
          </a:prstGeom>
          <a:solidFill>
            <a:srgbClr val="E50914"/>
          </a:solidFill>
          <a:ln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7277934E-6AC2-49FA-A1BF-A83CBFF9F8E4}"/>
              </a:ext>
            </a:extLst>
          </p:cNvPr>
          <p:cNvSpPr>
            <a:spLocks noGrp="1"/>
          </p:cNvSpPr>
          <p:nvPr/>
        </p:nvSpPr>
        <p:spPr>
          <a:xfrm>
            <a:off x="1581150" y="666750"/>
            <a:ext cx="16954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MARKET OPPORTUNITY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36A534A5-CA09-4046-9CE3-B63F7D28536E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10401300" cy="1333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AI + digital health + fitness is converging now.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E78A7103-DB86-4115-9EA3-534C8C9F839C}"/>
              </a:ext>
            </a:extLst>
          </p:cNvPr>
          <p:cNvSpPr>
            <a:spLocks noGrp="1"/>
          </p:cNvSpPr>
          <p:nvPr/>
        </p:nvSpPr>
        <p:spPr>
          <a:xfrm>
            <a:off x="781050" y="2705100"/>
            <a:ext cx="105346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GrindHaus sits at the intersection of personalized AI, wellness apps, digital health, and youth fitness behavior.</a:t>
            </a:r>
          </a:p>
        </p:txBody>
      </p:sp>
      <p:sp>
        <p:nvSpPr>
          <p:cNvPr id="8" name="market-m1">
            <a:extLst>
              <a:ext uri="{FF2B5EF4-FFF2-40B4-BE49-F238E27FC236}">
                <a16:creationId xmlns:a16="http://schemas.microsoft.com/office/drawing/2014/main" id="{9D57795B-A2B1-4FF6-AC59-5F4CF85E22AA}"/>
              </a:ext>
            </a:extLst>
          </p:cNvPr>
          <p:cNvSpPr>
            <a:spLocks noGrp="1"/>
          </p:cNvSpPr>
          <p:nvPr/>
        </p:nvSpPr>
        <p:spPr>
          <a:xfrm>
            <a:off x="781050" y="3604260"/>
            <a:ext cx="7700486" cy="1828800"/>
          </a:xfrm>
          <a:prstGeom prst="roundRect">
            <a:avLst>
              <a:gd name="adj" fmla="val 6250"/>
            </a:avLst>
          </a:prstGeom>
          <a:solidFill>
            <a:srgbClr val="111217"/>
          </a:solidFill>
        </p:spPr>
      </p:sp>
      <p:sp>
        <p:nvSpPr>
          <p:cNvPr id="9" name="-106-97b">
            <a:extLst>
              <a:ext uri="{FF2B5EF4-FFF2-40B4-BE49-F238E27FC236}">
                <a16:creationId xmlns:a16="http://schemas.microsoft.com/office/drawing/2014/main" id="{DBD7BEC8-85F8-4D48-90BC-37649EE56614}"/>
              </a:ext>
            </a:extLst>
          </p:cNvPr>
          <p:cNvSpPr>
            <a:spLocks noGrp="1"/>
          </p:cNvSpPr>
          <p:nvPr/>
        </p:nvSpPr>
        <p:spPr>
          <a:xfrm>
            <a:off x="1066800" y="3848100"/>
            <a:ext cx="24892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 i="0">
                <a:solidFill>
                  <a:srgbClr val="8BFFB8"/>
                </a:solidFill>
              </a:defRPr>
            </a:pPr>
            <a:r>
              <a:rPr sz="4650" b="1" i="0" dirty="0">
                <a:solidFill>
                  <a:srgbClr val="8BFFB8"/>
                </a:solidFill>
              </a:rPr>
              <a:t>$106.97B</a:t>
            </a:r>
          </a:p>
        </p:txBody>
      </p:sp>
      <p:sp>
        <p:nvSpPr>
          <p:cNvPr id="10" name="india-digital-health-market-by-2033">
            <a:extLst>
              <a:ext uri="{FF2B5EF4-FFF2-40B4-BE49-F238E27FC236}">
                <a16:creationId xmlns:a16="http://schemas.microsoft.com/office/drawing/2014/main" id="{719149CA-84F3-4D3D-8BB9-57F5EE2A6ABA}"/>
              </a:ext>
            </a:extLst>
          </p:cNvPr>
          <p:cNvSpPr>
            <a:spLocks noGrp="1"/>
          </p:cNvSpPr>
          <p:nvPr/>
        </p:nvSpPr>
        <p:spPr>
          <a:xfrm>
            <a:off x="1066800" y="4629150"/>
            <a:ext cx="3028950" cy="3086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 dirty="0">
                <a:solidFill>
                  <a:srgbClr val="F8F5EF"/>
                </a:solidFill>
              </a:rPr>
              <a:t>India digital health market by 2033</a:t>
            </a:r>
          </a:p>
        </p:txBody>
      </p:sp>
      <p:sp>
        <p:nvSpPr>
          <p:cNvPr id="11" name="grand-view-research-projection">
            <a:extLst>
              <a:ext uri="{FF2B5EF4-FFF2-40B4-BE49-F238E27FC236}">
                <a16:creationId xmlns:a16="http://schemas.microsoft.com/office/drawing/2014/main" id="{6183872A-C71B-4935-8CE3-426A4C1ED51B}"/>
              </a:ext>
            </a:extLst>
          </p:cNvPr>
          <p:cNvSpPr>
            <a:spLocks noGrp="1"/>
          </p:cNvSpPr>
          <p:nvPr/>
        </p:nvSpPr>
        <p:spPr>
          <a:xfrm>
            <a:off x="1104900" y="4916805"/>
            <a:ext cx="23241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 dirty="0">
                <a:solidFill>
                  <a:srgbClr val="8D8990"/>
                </a:solidFill>
              </a:rPr>
              <a:t>Grand View Research projection</a:t>
            </a:r>
          </a:p>
        </p:txBody>
      </p:sp>
      <p:sp>
        <p:nvSpPr>
          <p:cNvPr id="12" name="market-m2">
            <a:extLst>
              <a:ext uri="{FF2B5EF4-FFF2-40B4-BE49-F238E27FC236}">
                <a16:creationId xmlns:a16="http://schemas.microsoft.com/office/drawing/2014/main" id="{99F9C152-2987-4D7F-A761-CDCEB41D4F11}"/>
              </a:ext>
            </a:extLst>
          </p:cNvPr>
          <p:cNvSpPr>
            <a:spLocks noGrp="1"/>
          </p:cNvSpPr>
          <p:nvPr/>
        </p:nvSpPr>
        <p:spPr>
          <a:xfrm>
            <a:off x="781050" y="5585460"/>
            <a:ext cx="7700486" cy="1828800"/>
          </a:xfrm>
          <a:prstGeom prst="roundRect">
            <a:avLst>
              <a:gd name="adj" fmla="val 6250"/>
            </a:avLst>
          </a:prstGeom>
          <a:solidFill>
            <a:srgbClr val="111217"/>
          </a:solidFill>
        </p:spPr>
      </p:sp>
      <p:sp>
        <p:nvSpPr>
          <p:cNvPr id="13" name="14-1-">
            <a:extLst>
              <a:ext uri="{FF2B5EF4-FFF2-40B4-BE49-F238E27FC236}">
                <a16:creationId xmlns:a16="http://schemas.microsoft.com/office/drawing/2014/main" id="{50BE9415-9C36-4920-A02E-089E80C55EA2}"/>
              </a:ext>
            </a:extLst>
          </p:cNvPr>
          <p:cNvSpPr>
            <a:spLocks noGrp="1"/>
          </p:cNvSpPr>
          <p:nvPr/>
        </p:nvSpPr>
        <p:spPr>
          <a:xfrm>
            <a:off x="1066800" y="5829300"/>
            <a:ext cx="164592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 i="0">
                <a:solidFill>
                  <a:srgbClr val="54E4FF"/>
                </a:solidFill>
              </a:defRPr>
            </a:pPr>
            <a:r>
              <a:rPr sz="4650" b="1" i="0" dirty="0">
                <a:solidFill>
                  <a:srgbClr val="54E4FF"/>
                </a:solidFill>
              </a:rPr>
              <a:t>14.1%</a:t>
            </a:r>
          </a:p>
        </p:txBody>
      </p:sp>
      <p:sp>
        <p:nvSpPr>
          <p:cNvPr id="14" name="fitness-mhealth-apps-cagr">
            <a:extLst>
              <a:ext uri="{FF2B5EF4-FFF2-40B4-BE49-F238E27FC236}">
                <a16:creationId xmlns:a16="http://schemas.microsoft.com/office/drawing/2014/main" id="{9AC112B9-7A7A-489F-B28A-B43AE52DC41D}"/>
              </a:ext>
            </a:extLst>
          </p:cNvPr>
          <p:cNvSpPr>
            <a:spLocks noGrp="1"/>
          </p:cNvSpPr>
          <p:nvPr/>
        </p:nvSpPr>
        <p:spPr>
          <a:xfrm>
            <a:off x="1066800" y="6610350"/>
            <a:ext cx="2489200" cy="32194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 dirty="0">
                <a:solidFill>
                  <a:srgbClr val="F8F5EF"/>
                </a:solidFill>
              </a:rPr>
              <a:t>fitness mHealth apps CAGR</a:t>
            </a:r>
          </a:p>
        </p:txBody>
      </p:sp>
      <p:sp>
        <p:nvSpPr>
          <p:cNvPr id="15" name="global-2024-2030-estimate">
            <a:extLst>
              <a:ext uri="{FF2B5EF4-FFF2-40B4-BE49-F238E27FC236}">
                <a16:creationId xmlns:a16="http://schemas.microsoft.com/office/drawing/2014/main" id="{DCA17C10-F4ED-4698-9CCA-A1422C5E0D7C}"/>
              </a:ext>
            </a:extLst>
          </p:cNvPr>
          <p:cNvSpPr>
            <a:spLocks noGrp="1"/>
          </p:cNvSpPr>
          <p:nvPr/>
        </p:nvSpPr>
        <p:spPr>
          <a:xfrm>
            <a:off x="1066800" y="6865620"/>
            <a:ext cx="2026920" cy="2133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 dirty="0">
                <a:solidFill>
                  <a:srgbClr val="8D8990"/>
                </a:solidFill>
              </a:rPr>
              <a:t>Global 2024-2030 estimate</a:t>
            </a:r>
          </a:p>
        </p:txBody>
      </p:sp>
      <p:sp>
        <p:nvSpPr>
          <p:cNvPr id="16" name="market-m3">
            <a:extLst>
              <a:ext uri="{FF2B5EF4-FFF2-40B4-BE49-F238E27FC236}">
                <a16:creationId xmlns:a16="http://schemas.microsoft.com/office/drawing/2014/main" id="{B285D137-30F1-4415-931F-E6FCAF83C731}"/>
              </a:ext>
            </a:extLst>
          </p:cNvPr>
          <p:cNvSpPr>
            <a:spLocks noGrp="1"/>
          </p:cNvSpPr>
          <p:nvPr/>
        </p:nvSpPr>
        <p:spPr>
          <a:xfrm>
            <a:off x="781050" y="7566660"/>
            <a:ext cx="7700486" cy="1828800"/>
          </a:xfrm>
          <a:prstGeom prst="roundRect">
            <a:avLst>
              <a:gd name="adj" fmla="val 6250"/>
            </a:avLst>
          </a:prstGeom>
          <a:solidFill>
            <a:srgbClr val="111217"/>
          </a:solidFill>
        </p:spPr>
      </p:sp>
      <p:sp>
        <p:nvSpPr>
          <p:cNvPr id="17" name="-10-300cr-">
            <a:extLst>
              <a:ext uri="{FF2B5EF4-FFF2-40B4-BE49-F238E27FC236}">
                <a16:creationId xmlns:a16="http://schemas.microsoft.com/office/drawing/2014/main" id="{AA5C255C-21CB-49FF-AFDD-4E5B80E39B6B}"/>
              </a:ext>
            </a:extLst>
          </p:cNvPr>
          <p:cNvSpPr>
            <a:spLocks noGrp="1"/>
          </p:cNvSpPr>
          <p:nvPr/>
        </p:nvSpPr>
        <p:spPr>
          <a:xfrm>
            <a:off x="1066800" y="7810500"/>
            <a:ext cx="288798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 i="0">
                <a:solidFill>
                  <a:srgbClr val="FF2E3A"/>
                </a:solidFill>
              </a:defRPr>
            </a:pPr>
            <a:r>
              <a:rPr sz="4650" b="1" i="0" dirty="0">
                <a:solidFill>
                  <a:srgbClr val="FF2E3A"/>
                </a:solidFill>
              </a:rPr>
              <a:t>₹10,300Cr+</a:t>
            </a:r>
          </a:p>
        </p:txBody>
      </p:sp>
      <p:sp>
        <p:nvSpPr>
          <p:cNvPr id="18" name="indiaai-mission-outlay">
            <a:extLst>
              <a:ext uri="{FF2B5EF4-FFF2-40B4-BE49-F238E27FC236}">
                <a16:creationId xmlns:a16="http://schemas.microsoft.com/office/drawing/2014/main" id="{4519CC04-D2EB-4666-B696-77942F67E00F}"/>
              </a:ext>
            </a:extLst>
          </p:cNvPr>
          <p:cNvSpPr>
            <a:spLocks noGrp="1"/>
          </p:cNvSpPr>
          <p:nvPr/>
        </p:nvSpPr>
        <p:spPr>
          <a:xfrm>
            <a:off x="1066800" y="8591550"/>
            <a:ext cx="19431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IndiaAI Mission outlay</a:t>
            </a:r>
          </a:p>
        </p:txBody>
      </p:sp>
      <p:sp>
        <p:nvSpPr>
          <p:cNvPr id="19" name="national-push-for-ai-compute-and-startups">
            <a:extLst>
              <a:ext uri="{FF2B5EF4-FFF2-40B4-BE49-F238E27FC236}">
                <a16:creationId xmlns:a16="http://schemas.microsoft.com/office/drawing/2014/main" id="{5123D48F-A548-4457-9917-1AC82FACB58E}"/>
              </a:ext>
            </a:extLst>
          </p:cNvPr>
          <p:cNvSpPr>
            <a:spLocks noGrp="1"/>
          </p:cNvSpPr>
          <p:nvPr/>
        </p:nvSpPr>
        <p:spPr>
          <a:xfrm>
            <a:off x="1066800" y="8903970"/>
            <a:ext cx="3028950" cy="20193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 dirty="0">
                <a:solidFill>
                  <a:srgbClr val="8D8990"/>
                </a:solidFill>
              </a:rPr>
              <a:t>National push for AI compute and startups</a:t>
            </a:r>
          </a:p>
        </p:txBody>
      </p:sp>
      <p:sp>
        <p:nvSpPr>
          <p:cNvPr id="20" name="market-chart-panel">
            <a:extLst>
              <a:ext uri="{FF2B5EF4-FFF2-40B4-BE49-F238E27FC236}">
                <a16:creationId xmlns:a16="http://schemas.microsoft.com/office/drawing/2014/main" id="{2558A9F9-9041-46B3-A53E-EFFAC49553FF}"/>
              </a:ext>
            </a:extLst>
          </p:cNvPr>
          <p:cNvSpPr>
            <a:spLocks noGrp="1"/>
          </p:cNvSpPr>
          <p:nvPr/>
        </p:nvSpPr>
        <p:spPr>
          <a:xfrm>
            <a:off x="8995886" y="3604260"/>
            <a:ext cx="8511064" cy="6015990"/>
          </a:xfrm>
          <a:prstGeom prst="roundRect">
            <a:avLst>
              <a:gd name="adj" fmla="val 1900"/>
            </a:avLst>
          </a:prstGeom>
          <a:solidFill>
            <a:srgbClr val="111217"/>
          </a:solidFill>
        </p:spPr>
      </p:sp>
      <p:sp>
        <p:nvSpPr>
          <p:cNvPr id="21" name="market-expansion-signals">
            <a:extLst>
              <a:ext uri="{FF2B5EF4-FFF2-40B4-BE49-F238E27FC236}">
                <a16:creationId xmlns:a16="http://schemas.microsoft.com/office/drawing/2014/main" id="{AF373A91-B7AE-43F9-BE3B-1ACE2043C18C}"/>
              </a:ext>
            </a:extLst>
          </p:cNvPr>
          <p:cNvSpPr>
            <a:spLocks noGrp="1"/>
          </p:cNvSpPr>
          <p:nvPr/>
        </p:nvSpPr>
        <p:spPr>
          <a:xfrm>
            <a:off x="9315450" y="3886200"/>
            <a:ext cx="78676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Market expansion signals</a:t>
            </a:r>
          </a:p>
        </p:txBody>
      </p:sp>
      <p:graphicFrame>
        <p:nvGraphicFramePr>
          <p:cNvPr id="22" name="market-chart-main"/>
          <p:cNvGraphicFramePr/>
          <p:nvPr/>
        </p:nvGraphicFramePr>
        <p:xfrm>
          <a:off x="9319736" y="4431030"/>
          <a:ext cx="7863364" cy="4579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ources-who-grand-view-research-pib-indiaai-m">
            <a:extLst>
              <a:ext uri="{FF2B5EF4-FFF2-40B4-BE49-F238E27FC236}">
                <a16:creationId xmlns:a16="http://schemas.microsoft.com/office/drawing/2014/main" id="{96C093A9-CB73-406E-A284-40D63BDDF674}"/>
              </a:ext>
            </a:extLst>
          </p:cNvPr>
          <p:cNvSpPr>
            <a:spLocks noGrp="1"/>
          </p:cNvSpPr>
          <p:nvPr/>
        </p:nvSpPr>
        <p:spPr>
          <a:xfrm>
            <a:off x="9315450" y="9163050"/>
            <a:ext cx="78676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8D8990"/>
                </a:solidFill>
              </a:defRPr>
            </a:pPr>
            <a:r>
              <a:rPr sz="1125" b="0" i="0">
                <a:solidFill>
                  <a:srgbClr val="8D8990"/>
                </a:solidFill>
              </a:rPr>
              <a:t>Sources: WHO, Grand View Research, PIB IndiaAI Mission.</a:t>
            </a:r>
          </a:p>
        </p:txBody>
      </p:sp>
    </p:spTree>
    <p:extLst>
      <p:ext uri="{BB962C8B-B14F-4D97-AF65-F5344CB8AC3E}">
        <p14:creationId xmlns:p14="http://schemas.microsoft.com/office/powerpoint/2010/main" val="1827083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g">
            <a:extLst>
              <a:ext uri="{FF2B5EF4-FFF2-40B4-BE49-F238E27FC236}">
                <a16:creationId xmlns:a16="http://schemas.microsoft.com/office/drawing/2014/main" id="{B4CE14F6-B407-4B6C-ABF8-4F29F7A491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06"/>
          </a:solidFill>
        </p:spPr>
      </p:sp>
      <p:sp>
        <p:nvSpPr>
          <p:cNvPr id="2" name="top-glow">
            <a:extLst>
              <a:ext uri="{FF2B5EF4-FFF2-40B4-BE49-F238E27FC236}">
                <a16:creationId xmlns:a16="http://schemas.microsoft.com/office/drawing/2014/main" id="{6A64EA5C-C61D-490D-ADC6-FA922868E6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14350"/>
          </a:xfrm>
          <a:prstGeom prst="rect">
            <a:avLst/>
          </a:prstGeom>
          <a:solidFill>
            <a:srgbClr val="55070B"/>
          </a:solidFill>
        </p:spPr>
      </p:sp>
      <p:sp>
        <p:nvSpPr>
          <p:cNvPr id="3" name="bottom-line">
            <a:extLst>
              <a:ext uri="{FF2B5EF4-FFF2-40B4-BE49-F238E27FC236}">
                <a16:creationId xmlns:a16="http://schemas.microsoft.com/office/drawing/2014/main" id="{46A23FA2-1615-4327-8F2E-61C5F5430A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CBAF3881-8ECB-4507-B586-CD4194DB5B7B}"/>
              </a:ext>
            </a:extLst>
          </p:cNvPr>
          <p:cNvSpPr>
            <a:spLocks noGrp="1"/>
          </p:cNvSpPr>
          <p:nvPr/>
        </p:nvSpPr>
        <p:spPr>
          <a:xfrm>
            <a:off x="781050" y="2678430"/>
            <a:ext cx="666750" cy="47625"/>
          </a:xfrm>
          <a:prstGeom prst="rect">
            <a:avLst/>
          </a:prstGeom>
          <a:solidFill>
            <a:srgbClr val="E50914"/>
          </a:solidFill>
          <a:ln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992AD1EB-61CF-448B-9650-10236E714262}"/>
              </a:ext>
            </a:extLst>
          </p:cNvPr>
          <p:cNvSpPr>
            <a:spLocks noGrp="1"/>
          </p:cNvSpPr>
          <p:nvPr/>
        </p:nvSpPr>
        <p:spPr>
          <a:xfrm>
            <a:off x="1581150" y="2602230"/>
            <a:ext cx="781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WHY NOW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71DDEC15-2811-4A83-937D-FE1B14B116D4}"/>
              </a:ext>
            </a:extLst>
          </p:cNvPr>
          <p:cNvSpPr>
            <a:spLocks noGrp="1"/>
          </p:cNvSpPr>
          <p:nvPr/>
        </p:nvSpPr>
        <p:spPr>
          <a:xfrm>
            <a:off x="781050" y="2964180"/>
            <a:ext cx="129921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 dirty="0">
                <a:solidFill>
                  <a:srgbClr val="F8F5EF"/>
                </a:solidFill>
              </a:rPr>
              <a:t>The infrastructure finally exists for personal AI wellness.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09992D5E-7B2A-44F8-A821-B1DDE0B365C9}"/>
              </a:ext>
            </a:extLst>
          </p:cNvPr>
          <p:cNvSpPr>
            <a:spLocks noGrp="1"/>
          </p:cNvSpPr>
          <p:nvPr/>
        </p:nvSpPr>
        <p:spPr>
          <a:xfrm>
            <a:off x="781050" y="3783330"/>
            <a:ext cx="9601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next generation of health products will not be passive trackers. They will be active companions.</a:t>
            </a:r>
          </a:p>
        </p:txBody>
      </p:sp>
      <p:sp>
        <p:nvSpPr>
          <p:cNvPr id="8" name="why-ai">
            <a:extLst>
              <a:ext uri="{FF2B5EF4-FFF2-40B4-BE49-F238E27FC236}">
                <a16:creationId xmlns:a16="http://schemas.microsoft.com/office/drawing/2014/main" id="{8A956F05-BF80-4E98-A7E3-D60FB96E9E4C}"/>
              </a:ext>
            </a:extLst>
          </p:cNvPr>
          <p:cNvSpPr>
            <a:spLocks noGrp="1"/>
          </p:cNvSpPr>
          <p:nvPr/>
        </p:nvSpPr>
        <p:spPr>
          <a:xfrm>
            <a:off x="781050" y="4499610"/>
            <a:ext cx="4024313" cy="2983230"/>
          </a:xfrm>
          <a:prstGeom prst="roundRect">
            <a:avLst>
              <a:gd name="adj" fmla="val 2840"/>
            </a:avLst>
          </a:prstGeom>
          <a:solidFill>
            <a:srgbClr val="111217"/>
          </a:solidFill>
        </p:spPr>
      </p:sp>
      <p:sp>
        <p:nvSpPr>
          <p:cNvPr id="9" name="ai-adoption">
            <a:extLst>
              <a:ext uri="{FF2B5EF4-FFF2-40B4-BE49-F238E27FC236}">
                <a16:creationId xmlns:a16="http://schemas.microsoft.com/office/drawing/2014/main" id="{2A3EFE30-0DF5-4760-8356-48A6F09C2535}"/>
              </a:ext>
            </a:extLst>
          </p:cNvPr>
          <p:cNvSpPr>
            <a:spLocks noGrp="1"/>
          </p:cNvSpPr>
          <p:nvPr/>
        </p:nvSpPr>
        <p:spPr>
          <a:xfrm>
            <a:off x="1066800" y="4754880"/>
            <a:ext cx="34480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AI adoption</a:t>
            </a:r>
          </a:p>
        </p:txBody>
      </p:sp>
      <p:sp>
        <p:nvSpPr>
          <p:cNvPr id="10" name="users-now-understand-ai-assistants-and-expect">
            <a:extLst>
              <a:ext uri="{FF2B5EF4-FFF2-40B4-BE49-F238E27FC236}">
                <a16:creationId xmlns:a16="http://schemas.microsoft.com/office/drawing/2014/main" id="{74FAB998-27A1-489D-BFE5-1502760B9514}"/>
              </a:ext>
            </a:extLst>
          </p:cNvPr>
          <p:cNvSpPr>
            <a:spLocks noGrp="1"/>
          </p:cNvSpPr>
          <p:nvPr/>
        </p:nvSpPr>
        <p:spPr>
          <a:xfrm>
            <a:off x="1066800" y="5326380"/>
            <a:ext cx="34480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Users now understand AI assistants and expect personalization.</a:t>
            </a:r>
          </a:p>
        </p:txBody>
      </p:sp>
      <p:sp>
        <p:nvSpPr>
          <p:cNvPr id="11" name="why-health">
            <a:extLst>
              <a:ext uri="{FF2B5EF4-FFF2-40B4-BE49-F238E27FC236}">
                <a16:creationId xmlns:a16="http://schemas.microsoft.com/office/drawing/2014/main" id="{BF08F316-B478-4D1A-80EA-3F44297A2D83}"/>
              </a:ext>
            </a:extLst>
          </p:cNvPr>
          <p:cNvSpPr>
            <a:spLocks noGrp="1"/>
          </p:cNvSpPr>
          <p:nvPr/>
        </p:nvSpPr>
        <p:spPr>
          <a:xfrm>
            <a:off x="5014913" y="4499610"/>
            <a:ext cx="4024313" cy="2983230"/>
          </a:xfrm>
          <a:prstGeom prst="roundRect">
            <a:avLst>
              <a:gd name="adj" fmla="val 2840"/>
            </a:avLst>
          </a:prstGeom>
          <a:solidFill>
            <a:srgbClr val="111217"/>
          </a:solidFill>
        </p:spPr>
      </p:sp>
      <p:sp>
        <p:nvSpPr>
          <p:cNvPr id="12" name="health-urgency">
            <a:extLst>
              <a:ext uri="{FF2B5EF4-FFF2-40B4-BE49-F238E27FC236}">
                <a16:creationId xmlns:a16="http://schemas.microsoft.com/office/drawing/2014/main" id="{B26D24F3-A933-4A4B-B343-FD0DA79A61A6}"/>
              </a:ext>
            </a:extLst>
          </p:cNvPr>
          <p:cNvSpPr>
            <a:spLocks noGrp="1"/>
          </p:cNvSpPr>
          <p:nvPr/>
        </p:nvSpPr>
        <p:spPr>
          <a:xfrm>
            <a:off x="5295900" y="4754880"/>
            <a:ext cx="34480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Health urgency</a:t>
            </a:r>
          </a:p>
        </p:txBody>
      </p:sp>
      <p:sp>
        <p:nvSpPr>
          <p:cNvPr id="13" name="physical-inactivity-and-lifestyle-diseases-cr">
            <a:extLst>
              <a:ext uri="{FF2B5EF4-FFF2-40B4-BE49-F238E27FC236}">
                <a16:creationId xmlns:a16="http://schemas.microsoft.com/office/drawing/2014/main" id="{09ADD08F-5C8E-43AA-8E23-0BCA767E8073}"/>
              </a:ext>
            </a:extLst>
          </p:cNvPr>
          <p:cNvSpPr>
            <a:spLocks noGrp="1"/>
          </p:cNvSpPr>
          <p:nvPr/>
        </p:nvSpPr>
        <p:spPr>
          <a:xfrm>
            <a:off x="5295900" y="5326380"/>
            <a:ext cx="34480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Physical inactivity and lifestyle diseases create public health pressure.</a:t>
            </a:r>
          </a:p>
        </p:txBody>
      </p:sp>
      <p:sp>
        <p:nvSpPr>
          <p:cNvPr id="14" name="why-wearables">
            <a:extLst>
              <a:ext uri="{FF2B5EF4-FFF2-40B4-BE49-F238E27FC236}">
                <a16:creationId xmlns:a16="http://schemas.microsoft.com/office/drawing/2014/main" id="{48C6ADE6-71D5-4D01-B445-F1B3A5047EED}"/>
              </a:ext>
            </a:extLst>
          </p:cNvPr>
          <p:cNvSpPr>
            <a:spLocks noGrp="1"/>
          </p:cNvSpPr>
          <p:nvPr/>
        </p:nvSpPr>
        <p:spPr>
          <a:xfrm>
            <a:off x="9248775" y="4499610"/>
            <a:ext cx="4024313" cy="2983230"/>
          </a:xfrm>
          <a:prstGeom prst="roundRect">
            <a:avLst>
              <a:gd name="adj" fmla="val 2840"/>
            </a:avLst>
          </a:prstGeom>
          <a:solidFill>
            <a:srgbClr val="111217"/>
          </a:solidFill>
        </p:spPr>
      </p:sp>
      <p:sp>
        <p:nvSpPr>
          <p:cNvPr id="15" name="wearable-data">
            <a:extLst>
              <a:ext uri="{FF2B5EF4-FFF2-40B4-BE49-F238E27FC236}">
                <a16:creationId xmlns:a16="http://schemas.microsoft.com/office/drawing/2014/main" id="{89B0813F-7282-44C7-92DC-EF088A064D06}"/>
              </a:ext>
            </a:extLst>
          </p:cNvPr>
          <p:cNvSpPr>
            <a:spLocks noGrp="1"/>
          </p:cNvSpPr>
          <p:nvPr/>
        </p:nvSpPr>
        <p:spPr>
          <a:xfrm>
            <a:off x="9544050" y="4754880"/>
            <a:ext cx="34480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Wearable data</a:t>
            </a:r>
          </a:p>
        </p:txBody>
      </p:sp>
      <p:sp>
        <p:nvSpPr>
          <p:cNvPr id="16" name="more-users-generate-signals-that-can-power-ad">
            <a:extLst>
              <a:ext uri="{FF2B5EF4-FFF2-40B4-BE49-F238E27FC236}">
                <a16:creationId xmlns:a16="http://schemas.microsoft.com/office/drawing/2014/main" id="{252F5406-F65D-4CFA-88E9-34405887DB40}"/>
              </a:ext>
            </a:extLst>
          </p:cNvPr>
          <p:cNvSpPr>
            <a:spLocks noGrp="1"/>
          </p:cNvSpPr>
          <p:nvPr/>
        </p:nvSpPr>
        <p:spPr>
          <a:xfrm>
            <a:off x="9544050" y="5326380"/>
            <a:ext cx="34480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More users generate signals that can power adaptive recommendations.</a:t>
            </a:r>
          </a:p>
        </p:txBody>
      </p:sp>
      <p:sp>
        <p:nvSpPr>
          <p:cNvPr id="17" name="why-india">
            <a:extLst>
              <a:ext uri="{FF2B5EF4-FFF2-40B4-BE49-F238E27FC236}">
                <a16:creationId xmlns:a16="http://schemas.microsoft.com/office/drawing/2014/main" id="{F08122A5-70BF-48A9-ACB1-F92DEF6A87E6}"/>
              </a:ext>
            </a:extLst>
          </p:cNvPr>
          <p:cNvSpPr>
            <a:spLocks noGrp="1"/>
          </p:cNvSpPr>
          <p:nvPr/>
        </p:nvSpPr>
        <p:spPr>
          <a:xfrm>
            <a:off x="13482638" y="4499610"/>
            <a:ext cx="4024313" cy="2983230"/>
          </a:xfrm>
          <a:prstGeom prst="roundRect">
            <a:avLst>
              <a:gd name="adj" fmla="val 2840"/>
            </a:avLst>
          </a:prstGeom>
          <a:solidFill>
            <a:srgbClr val="111217"/>
          </a:solidFill>
        </p:spPr>
      </p:sp>
      <p:sp>
        <p:nvSpPr>
          <p:cNvPr id="18" name="india-ai-mission">
            <a:extLst>
              <a:ext uri="{FF2B5EF4-FFF2-40B4-BE49-F238E27FC236}">
                <a16:creationId xmlns:a16="http://schemas.microsoft.com/office/drawing/2014/main" id="{10C375F6-EE40-4212-B291-6BEE6086566F}"/>
              </a:ext>
            </a:extLst>
          </p:cNvPr>
          <p:cNvSpPr>
            <a:spLocks noGrp="1"/>
          </p:cNvSpPr>
          <p:nvPr/>
        </p:nvSpPr>
        <p:spPr>
          <a:xfrm>
            <a:off x="13773150" y="4754880"/>
            <a:ext cx="34480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India AI mission</a:t>
            </a:r>
          </a:p>
        </p:txBody>
      </p:sp>
      <p:sp>
        <p:nvSpPr>
          <p:cNvPr id="19" name="government-compute-datasets-skilling-and-star">
            <a:extLst>
              <a:ext uri="{FF2B5EF4-FFF2-40B4-BE49-F238E27FC236}">
                <a16:creationId xmlns:a16="http://schemas.microsoft.com/office/drawing/2014/main" id="{95A86B4D-31FE-4A80-B7BE-CBA38B8B5355}"/>
              </a:ext>
            </a:extLst>
          </p:cNvPr>
          <p:cNvSpPr>
            <a:spLocks noGrp="1"/>
          </p:cNvSpPr>
          <p:nvPr/>
        </p:nvSpPr>
        <p:spPr>
          <a:xfrm>
            <a:off x="13773150" y="5326380"/>
            <a:ext cx="34480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Government compute, datasets, skilling, and startup financing align with this build.</a:t>
            </a:r>
          </a:p>
        </p:txBody>
      </p:sp>
    </p:spTree>
    <p:extLst>
      <p:ext uri="{BB962C8B-B14F-4D97-AF65-F5344CB8AC3E}">
        <p14:creationId xmlns:p14="http://schemas.microsoft.com/office/powerpoint/2010/main" val="908340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bg">
            <a:extLst>
              <a:ext uri="{FF2B5EF4-FFF2-40B4-BE49-F238E27FC236}">
                <a16:creationId xmlns:a16="http://schemas.microsoft.com/office/drawing/2014/main" id="{C1C6CFEB-DE67-4DC1-8592-15AF65DC43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06"/>
          </a:solidFill>
        </p:spPr>
      </p:sp>
      <p:sp>
        <p:nvSpPr>
          <p:cNvPr id="2" name="top-glow">
            <a:extLst>
              <a:ext uri="{FF2B5EF4-FFF2-40B4-BE49-F238E27FC236}">
                <a16:creationId xmlns:a16="http://schemas.microsoft.com/office/drawing/2014/main" id="{12B9D015-49DA-4A40-B4F7-88A7B9AD63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14350"/>
          </a:xfrm>
          <a:prstGeom prst="rect">
            <a:avLst/>
          </a:prstGeom>
          <a:solidFill>
            <a:srgbClr val="55070B"/>
          </a:solidFill>
        </p:spPr>
      </p:sp>
      <p:sp>
        <p:nvSpPr>
          <p:cNvPr id="3" name="bottom-line">
            <a:extLst>
              <a:ext uri="{FF2B5EF4-FFF2-40B4-BE49-F238E27FC236}">
                <a16:creationId xmlns:a16="http://schemas.microsoft.com/office/drawing/2014/main" id="{D6C2EDA7-A13B-4003-9295-5479C0A456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0B527B57-5BF1-4059-9FEF-FAD586F320E9}"/>
              </a:ext>
            </a:extLst>
          </p:cNvPr>
          <p:cNvSpPr>
            <a:spLocks noGrp="1"/>
          </p:cNvSpPr>
          <p:nvPr/>
        </p:nvSpPr>
        <p:spPr>
          <a:xfrm>
            <a:off x="781050" y="742950"/>
            <a:ext cx="666750" cy="47625"/>
          </a:xfrm>
          <a:prstGeom prst="rect">
            <a:avLst/>
          </a:prstGeom>
          <a:solidFill>
            <a:srgbClr val="E50914"/>
          </a:solidFill>
          <a:ln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B3725174-5A40-4961-BA31-54630D7C4715}"/>
              </a:ext>
            </a:extLst>
          </p:cNvPr>
          <p:cNvSpPr>
            <a:spLocks noGrp="1"/>
          </p:cNvSpPr>
          <p:nvPr/>
        </p:nvSpPr>
        <p:spPr>
          <a:xfrm>
            <a:off x="1581150" y="666750"/>
            <a:ext cx="1981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COMPETITOR COMPARISON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D4A393EA-330E-43EA-88D0-4D9B6924C2DA}"/>
              </a:ext>
            </a:extLst>
          </p:cNvPr>
          <p:cNvSpPr>
            <a:spLocks noGrp="1"/>
          </p:cNvSpPr>
          <p:nvPr/>
        </p:nvSpPr>
        <p:spPr>
          <a:xfrm>
            <a:off x="781050" y="1028700"/>
            <a:ext cx="12649200" cy="1333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The gap is not content. The gap is adaptive intelligence.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5EEE33A4-A8B8-4A57-8845-8A31E3593BB4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75057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GrindHaus combines specialization, memory, behavior, and ecosystem design.</a:t>
            </a:r>
          </a:p>
        </p:txBody>
      </p:sp>
      <p:sp>
        <p:nvSpPr>
          <p:cNvPr id="8" name="comparison-table">
            <a:extLst>
              <a:ext uri="{FF2B5EF4-FFF2-40B4-BE49-F238E27FC236}">
                <a16:creationId xmlns:a16="http://schemas.microsoft.com/office/drawing/2014/main" id="{9E95A2AC-EB59-4747-8CB8-A8797C3D8A58}"/>
              </a:ext>
            </a:extLst>
          </p:cNvPr>
          <p:cNvSpPr>
            <a:spLocks noGrp="1"/>
          </p:cNvSpPr>
          <p:nvPr/>
        </p:nvSpPr>
        <p:spPr>
          <a:xfrm>
            <a:off x="781050" y="3436620"/>
            <a:ext cx="16725900" cy="6183630"/>
          </a:xfrm>
          <a:prstGeom prst="roundRect">
            <a:avLst>
              <a:gd name="adj" fmla="val 1848"/>
            </a:avLst>
          </a:prstGeom>
          <a:solidFill>
            <a:srgbClr val="111217"/>
          </a:solidFill>
        </p:spPr>
      </p:sp>
      <p:sp>
        <p:nvSpPr>
          <p:cNvPr id="9" name="cell-0-0">
            <a:extLst>
              <a:ext uri="{FF2B5EF4-FFF2-40B4-BE49-F238E27FC236}">
                <a16:creationId xmlns:a16="http://schemas.microsoft.com/office/drawing/2014/main" id="{F48C7755-E76A-4A8F-B424-3D0ACA66512A}"/>
              </a:ext>
            </a:extLst>
          </p:cNvPr>
          <p:cNvSpPr>
            <a:spLocks noGrp="1"/>
          </p:cNvSpPr>
          <p:nvPr/>
        </p:nvSpPr>
        <p:spPr>
          <a:xfrm>
            <a:off x="1047750" y="3703320"/>
            <a:ext cx="4252784" cy="590550"/>
          </a:xfrm>
          <a:prstGeom prst="roundRect">
            <a:avLst>
              <a:gd name="adj" fmla="val 12903"/>
            </a:avLst>
          </a:prstGeom>
          <a:solidFill>
            <a:srgbClr val="E50914"/>
          </a:solidFill>
        </p:spPr>
      </p:sp>
      <p:sp>
        <p:nvSpPr>
          <p:cNvPr id="10" name="capability">
            <a:extLst>
              <a:ext uri="{FF2B5EF4-FFF2-40B4-BE49-F238E27FC236}">
                <a16:creationId xmlns:a16="http://schemas.microsoft.com/office/drawing/2014/main" id="{894ECE8D-7098-44DE-B880-C69CC1561FBC}"/>
              </a:ext>
            </a:extLst>
          </p:cNvPr>
          <p:cNvSpPr>
            <a:spLocks noGrp="1"/>
          </p:cNvSpPr>
          <p:nvPr/>
        </p:nvSpPr>
        <p:spPr>
          <a:xfrm>
            <a:off x="1200150" y="3829050"/>
            <a:ext cx="39433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Capability</a:t>
            </a:r>
          </a:p>
        </p:txBody>
      </p:sp>
      <p:sp>
        <p:nvSpPr>
          <p:cNvPr id="11" name="cell-0-1">
            <a:extLst>
              <a:ext uri="{FF2B5EF4-FFF2-40B4-BE49-F238E27FC236}">
                <a16:creationId xmlns:a16="http://schemas.microsoft.com/office/drawing/2014/main" id="{3258D08B-C46C-4BE4-9997-C28EF2D1B915}"/>
              </a:ext>
            </a:extLst>
          </p:cNvPr>
          <p:cNvSpPr>
            <a:spLocks noGrp="1"/>
          </p:cNvSpPr>
          <p:nvPr/>
        </p:nvSpPr>
        <p:spPr>
          <a:xfrm>
            <a:off x="5414834" y="3703320"/>
            <a:ext cx="2835189" cy="590550"/>
          </a:xfrm>
          <a:prstGeom prst="roundRect">
            <a:avLst>
              <a:gd name="adj" fmla="val 12903"/>
            </a:avLst>
          </a:prstGeom>
          <a:solidFill>
            <a:srgbClr val="E50914"/>
          </a:solidFill>
        </p:spPr>
      </p:sp>
      <p:sp>
        <p:nvSpPr>
          <p:cNvPr id="12" name="fitness-apps">
            <a:extLst>
              <a:ext uri="{FF2B5EF4-FFF2-40B4-BE49-F238E27FC236}">
                <a16:creationId xmlns:a16="http://schemas.microsoft.com/office/drawing/2014/main" id="{1C6E0702-3E46-467B-881A-6E004729854C}"/>
              </a:ext>
            </a:extLst>
          </p:cNvPr>
          <p:cNvSpPr>
            <a:spLocks noGrp="1"/>
          </p:cNvSpPr>
          <p:nvPr/>
        </p:nvSpPr>
        <p:spPr>
          <a:xfrm>
            <a:off x="5562600" y="3829050"/>
            <a:ext cx="2533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Fitness Apps</a:t>
            </a:r>
          </a:p>
        </p:txBody>
      </p:sp>
      <p:sp>
        <p:nvSpPr>
          <p:cNvPr id="13" name="cell-0-2">
            <a:extLst>
              <a:ext uri="{FF2B5EF4-FFF2-40B4-BE49-F238E27FC236}">
                <a16:creationId xmlns:a16="http://schemas.microsoft.com/office/drawing/2014/main" id="{8F590109-3C83-43FA-911E-1CABDC33E9D7}"/>
              </a:ext>
            </a:extLst>
          </p:cNvPr>
          <p:cNvSpPr>
            <a:spLocks noGrp="1"/>
          </p:cNvSpPr>
          <p:nvPr/>
        </p:nvSpPr>
        <p:spPr>
          <a:xfrm>
            <a:off x="8364323" y="3703320"/>
            <a:ext cx="2835189" cy="590550"/>
          </a:xfrm>
          <a:prstGeom prst="roundRect">
            <a:avLst>
              <a:gd name="adj" fmla="val 12903"/>
            </a:avLst>
          </a:prstGeom>
          <a:solidFill>
            <a:srgbClr val="E50914"/>
          </a:solidFill>
        </p:spPr>
      </p:sp>
      <p:sp>
        <p:nvSpPr>
          <p:cNvPr id="14" name="chatgpt">
            <a:extLst>
              <a:ext uri="{FF2B5EF4-FFF2-40B4-BE49-F238E27FC236}">
                <a16:creationId xmlns:a16="http://schemas.microsoft.com/office/drawing/2014/main" id="{67FFDAEF-3AFA-4B89-B5A0-76D2264EB725}"/>
              </a:ext>
            </a:extLst>
          </p:cNvPr>
          <p:cNvSpPr>
            <a:spLocks noGrp="1"/>
          </p:cNvSpPr>
          <p:nvPr/>
        </p:nvSpPr>
        <p:spPr>
          <a:xfrm>
            <a:off x="8515350" y="3829050"/>
            <a:ext cx="2533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ChatGPT</a:t>
            </a:r>
          </a:p>
        </p:txBody>
      </p:sp>
      <p:sp>
        <p:nvSpPr>
          <p:cNvPr id="15" name="cell-0-3">
            <a:extLst>
              <a:ext uri="{FF2B5EF4-FFF2-40B4-BE49-F238E27FC236}">
                <a16:creationId xmlns:a16="http://schemas.microsoft.com/office/drawing/2014/main" id="{897450C5-ED21-40EB-ACAB-BAF5B8C8FC80}"/>
              </a:ext>
            </a:extLst>
          </p:cNvPr>
          <p:cNvSpPr>
            <a:spLocks noGrp="1"/>
          </p:cNvSpPr>
          <p:nvPr/>
        </p:nvSpPr>
        <p:spPr>
          <a:xfrm>
            <a:off x="11313812" y="3703320"/>
            <a:ext cx="2835189" cy="590550"/>
          </a:xfrm>
          <a:prstGeom prst="roundRect">
            <a:avLst>
              <a:gd name="adj" fmla="val 12903"/>
            </a:avLst>
          </a:prstGeom>
          <a:solidFill>
            <a:srgbClr val="E50914"/>
          </a:solidFill>
        </p:spPr>
      </p:sp>
      <p:sp>
        <p:nvSpPr>
          <p:cNvPr id="16" name="generic-ai">
            <a:extLst>
              <a:ext uri="{FF2B5EF4-FFF2-40B4-BE49-F238E27FC236}">
                <a16:creationId xmlns:a16="http://schemas.microsoft.com/office/drawing/2014/main" id="{DC5671C5-86D0-4673-9801-9BA1BF95858B}"/>
              </a:ext>
            </a:extLst>
          </p:cNvPr>
          <p:cNvSpPr>
            <a:spLocks noGrp="1"/>
          </p:cNvSpPr>
          <p:nvPr/>
        </p:nvSpPr>
        <p:spPr>
          <a:xfrm>
            <a:off x="11468100" y="3829050"/>
            <a:ext cx="2533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Generic AI</a:t>
            </a:r>
          </a:p>
        </p:txBody>
      </p:sp>
      <p:sp>
        <p:nvSpPr>
          <p:cNvPr id="17" name="cell-0-4">
            <a:extLst>
              <a:ext uri="{FF2B5EF4-FFF2-40B4-BE49-F238E27FC236}">
                <a16:creationId xmlns:a16="http://schemas.microsoft.com/office/drawing/2014/main" id="{4E9043C9-653F-4CDB-B81B-AEE2F866A9AD}"/>
              </a:ext>
            </a:extLst>
          </p:cNvPr>
          <p:cNvSpPr>
            <a:spLocks noGrp="1"/>
          </p:cNvSpPr>
          <p:nvPr/>
        </p:nvSpPr>
        <p:spPr>
          <a:xfrm>
            <a:off x="14263301" y="3703320"/>
            <a:ext cx="2976949" cy="590550"/>
          </a:xfrm>
          <a:prstGeom prst="roundRect">
            <a:avLst>
              <a:gd name="adj" fmla="val 12903"/>
            </a:avLst>
          </a:prstGeom>
          <a:solidFill>
            <a:srgbClr val="E50914"/>
          </a:solidFill>
        </p:spPr>
      </p:sp>
      <p:sp>
        <p:nvSpPr>
          <p:cNvPr id="18" name="grindhaus-ai">
            <a:extLst>
              <a:ext uri="{FF2B5EF4-FFF2-40B4-BE49-F238E27FC236}">
                <a16:creationId xmlns:a16="http://schemas.microsoft.com/office/drawing/2014/main" id="{438C7F49-B0F4-44C3-A202-A31190ADFD75}"/>
              </a:ext>
            </a:extLst>
          </p:cNvPr>
          <p:cNvSpPr>
            <a:spLocks noGrp="1"/>
          </p:cNvSpPr>
          <p:nvPr/>
        </p:nvSpPr>
        <p:spPr>
          <a:xfrm>
            <a:off x="14420850" y="3829050"/>
            <a:ext cx="2667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GrindHaus AI</a:t>
            </a:r>
          </a:p>
        </p:txBody>
      </p:sp>
      <p:sp>
        <p:nvSpPr>
          <p:cNvPr id="19" name="cell-1-0">
            <a:extLst>
              <a:ext uri="{FF2B5EF4-FFF2-40B4-BE49-F238E27FC236}">
                <a16:creationId xmlns:a16="http://schemas.microsoft.com/office/drawing/2014/main" id="{2C367B40-C164-4434-9CB5-44037D0D94B2}"/>
              </a:ext>
            </a:extLst>
          </p:cNvPr>
          <p:cNvSpPr>
            <a:spLocks noGrp="1"/>
          </p:cNvSpPr>
          <p:nvPr/>
        </p:nvSpPr>
        <p:spPr>
          <a:xfrm>
            <a:off x="1047750" y="4568825"/>
            <a:ext cx="4252784" cy="704850"/>
          </a:xfrm>
          <a:prstGeom prst="roundRect">
            <a:avLst>
              <a:gd name="adj" fmla="val 10811"/>
            </a:avLst>
          </a:prstGeom>
          <a:solidFill>
            <a:srgbClr val="101116"/>
          </a:solidFill>
        </p:spPr>
      </p:sp>
      <p:sp>
        <p:nvSpPr>
          <p:cNvPr id="20" name="fitness-specialization">
            <a:extLst>
              <a:ext uri="{FF2B5EF4-FFF2-40B4-BE49-F238E27FC236}">
                <a16:creationId xmlns:a16="http://schemas.microsoft.com/office/drawing/2014/main" id="{DB1C4267-E4E8-4CB1-8781-BE0F6DFE58A2}"/>
              </a:ext>
            </a:extLst>
          </p:cNvPr>
          <p:cNvSpPr>
            <a:spLocks noGrp="1"/>
          </p:cNvSpPr>
          <p:nvPr/>
        </p:nvSpPr>
        <p:spPr>
          <a:xfrm>
            <a:off x="1200150" y="4686300"/>
            <a:ext cx="3943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Fitness specialization</a:t>
            </a:r>
          </a:p>
        </p:txBody>
      </p:sp>
      <p:sp>
        <p:nvSpPr>
          <p:cNvPr id="21" name="cell-1-1">
            <a:extLst>
              <a:ext uri="{FF2B5EF4-FFF2-40B4-BE49-F238E27FC236}">
                <a16:creationId xmlns:a16="http://schemas.microsoft.com/office/drawing/2014/main" id="{8E14C833-43EB-4D2B-AE80-24122C48ECAD}"/>
              </a:ext>
            </a:extLst>
          </p:cNvPr>
          <p:cNvSpPr>
            <a:spLocks noGrp="1"/>
          </p:cNvSpPr>
          <p:nvPr/>
        </p:nvSpPr>
        <p:spPr>
          <a:xfrm>
            <a:off x="5414834" y="4568825"/>
            <a:ext cx="2835189" cy="704850"/>
          </a:xfrm>
          <a:prstGeom prst="roundRect">
            <a:avLst>
              <a:gd name="adj" fmla="val 10811"/>
            </a:avLst>
          </a:prstGeom>
          <a:solidFill>
            <a:srgbClr val="101116"/>
          </a:solidFill>
        </p:spPr>
      </p:sp>
      <p:sp>
        <p:nvSpPr>
          <p:cNvPr id="22" name="medium">
            <a:extLst>
              <a:ext uri="{FF2B5EF4-FFF2-40B4-BE49-F238E27FC236}">
                <a16:creationId xmlns:a16="http://schemas.microsoft.com/office/drawing/2014/main" id="{A47920E8-CBD9-462B-B3E2-9ED0C758AD8C}"/>
              </a:ext>
            </a:extLst>
          </p:cNvPr>
          <p:cNvSpPr>
            <a:spLocks noGrp="1"/>
          </p:cNvSpPr>
          <p:nvPr/>
        </p:nvSpPr>
        <p:spPr>
          <a:xfrm>
            <a:off x="5562600" y="4686300"/>
            <a:ext cx="2533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23" name="cell-1-2">
            <a:extLst>
              <a:ext uri="{FF2B5EF4-FFF2-40B4-BE49-F238E27FC236}">
                <a16:creationId xmlns:a16="http://schemas.microsoft.com/office/drawing/2014/main" id="{0B4A83AC-DC16-4DA7-8EA4-8149107D109B}"/>
              </a:ext>
            </a:extLst>
          </p:cNvPr>
          <p:cNvSpPr>
            <a:spLocks noGrp="1"/>
          </p:cNvSpPr>
          <p:nvPr/>
        </p:nvSpPr>
        <p:spPr>
          <a:xfrm>
            <a:off x="8364323" y="4568825"/>
            <a:ext cx="2835189" cy="704850"/>
          </a:xfrm>
          <a:prstGeom prst="roundRect">
            <a:avLst>
              <a:gd name="adj" fmla="val 10811"/>
            </a:avLst>
          </a:prstGeom>
          <a:solidFill>
            <a:srgbClr val="101116"/>
          </a:solidFill>
        </p:spPr>
      </p:sp>
      <p:sp>
        <p:nvSpPr>
          <p:cNvPr id="24" name="low">
            <a:extLst>
              <a:ext uri="{FF2B5EF4-FFF2-40B4-BE49-F238E27FC236}">
                <a16:creationId xmlns:a16="http://schemas.microsoft.com/office/drawing/2014/main" id="{9562830F-82DC-4693-ADBB-08D2F69008C1}"/>
              </a:ext>
            </a:extLst>
          </p:cNvPr>
          <p:cNvSpPr>
            <a:spLocks noGrp="1"/>
          </p:cNvSpPr>
          <p:nvPr/>
        </p:nvSpPr>
        <p:spPr>
          <a:xfrm>
            <a:off x="8515350" y="4686300"/>
            <a:ext cx="2533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25" name="cell-1-3">
            <a:extLst>
              <a:ext uri="{FF2B5EF4-FFF2-40B4-BE49-F238E27FC236}">
                <a16:creationId xmlns:a16="http://schemas.microsoft.com/office/drawing/2014/main" id="{31053E61-E131-4FEB-84D0-A7A1FD1C004A}"/>
              </a:ext>
            </a:extLst>
          </p:cNvPr>
          <p:cNvSpPr>
            <a:spLocks noGrp="1"/>
          </p:cNvSpPr>
          <p:nvPr/>
        </p:nvSpPr>
        <p:spPr>
          <a:xfrm>
            <a:off x="11313812" y="4568825"/>
            <a:ext cx="2835189" cy="704850"/>
          </a:xfrm>
          <a:prstGeom prst="roundRect">
            <a:avLst>
              <a:gd name="adj" fmla="val 10811"/>
            </a:avLst>
          </a:prstGeom>
          <a:solidFill>
            <a:srgbClr val="101116"/>
          </a:solidFill>
        </p:spPr>
      </p:sp>
      <p:sp>
        <p:nvSpPr>
          <p:cNvPr id="26" name="low">
            <a:extLst>
              <a:ext uri="{FF2B5EF4-FFF2-40B4-BE49-F238E27FC236}">
                <a16:creationId xmlns:a16="http://schemas.microsoft.com/office/drawing/2014/main" id="{0FC70A8D-ADA6-44C7-832B-A17964AA3E02}"/>
              </a:ext>
            </a:extLst>
          </p:cNvPr>
          <p:cNvSpPr>
            <a:spLocks noGrp="1"/>
          </p:cNvSpPr>
          <p:nvPr/>
        </p:nvSpPr>
        <p:spPr>
          <a:xfrm>
            <a:off x="11468100" y="4686300"/>
            <a:ext cx="2533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27" name="cell-1-4">
            <a:extLst>
              <a:ext uri="{FF2B5EF4-FFF2-40B4-BE49-F238E27FC236}">
                <a16:creationId xmlns:a16="http://schemas.microsoft.com/office/drawing/2014/main" id="{02079AEF-F50A-4407-B12D-A3A2D400A951}"/>
              </a:ext>
            </a:extLst>
          </p:cNvPr>
          <p:cNvSpPr>
            <a:spLocks noGrp="1"/>
          </p:cNvSpPr>
          <p:nvPr/>
        </p:nvSpPr>
        <p:spPr>
          <a:xfrm>
            <a:off x="14263301" y="4568825"/>
            <a:ext cx="2976949" cy="704850"/>
          </a:xfrm>
          <a:prstGeom prst="roundRect">
            <a:avLst>
              <a:gd name="adj" fmla="val 10811"/>
            </a:avLst>
          </a:prstGeom>
          <a:solidFill>
            <a:srgbClr val="1B0D10"/>
          </a:solidFill>
        </p:spPr>
      </p:sp>
      <p:sp>
        <p:nvSpPr>
          <p:cNvPr id="28" name="high">
            <a:extLst>
              <a:ext uri="{FF2B5EF4-FFF2-40B4-BE49-F238E27FC236}">
                <a16:creationId xmlns:a16="http://schemas.microsoft.com/office/drawing/2014/main" id="{5D166170-05A5-43E8-BF79-3A8F156FF9F9}"/>
              </a:ext>
            </a:extLst>
          </p:cNvPr>
          <p:cNvSpPr>
            <a:spLocks noGrp="1"/>
          </p:cNvSpPr>
          <p:nvPr/>
        </p:nvSpPr>
        <p:spPr>
          <a:xfrm>
            <a:off x="14420850" y="4686300"/>
            <a:ext cx="2667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  <p:sp>
        <p:nvSpPr>
          <p:cNvPr id="29" name="cell-2-0">
            <a:extLst>
              <a:ext uri="{FF2B5EF4-FFF2-40B4-BE49-F238E27FC236}">
                <a16:creationId xmlns:a16="http://schemas.microsoft.com/office/drawing/2014/main" id="{62092B5E-7DA8-41CB-966D-70EF3DC90288}"/>
              </a:ext>
            </a:extLst>
          </p:cNvPr>
          <p:cNvSpPr>
            <a:spLocks noGrp="1"/>
          </p:cNvSpPr>
          <p:nvPr/>
        </p:nvSpPr>
        <p:spPr>
          <a:xfrm>
            <a:off x="1047750" y="5548630"/>
            <a:ext cx="4252784" cy="704850"/>
          </a:xfrm>
          <a:prstGeom prst="roundRect">
            <a:avLst>
              <a:gd name="adj" fmla="val 10811"/>
            </a:avLst>
          </a:prstGeom>
          <a:solidFill>
            <a:srgbClr val="101116"/>
          </a:solidFill>
        </p:spPr>
      </p:sp>
      <p:sp>
        <p:nvSpPr>
          <p:cNvPr id="30" name="persistent-fitness-memory">
            <a:extLst>
              <a:ext uri="{FF2B5EF4-FFF2-40B4-BE49-F238E27FC236}">
                <a16:creationId xmlns:a16="http://schemas.microsoft.com/office/drawing/2014/main" id="{972CE819-8492-4D0A-8F06-CD2B544CF4B6}"/>
              </a:ext>
            </a:extLst>
          </p:cNvPr>
          <p:cNvSpPr>
            <a:spLocks noGrp="1"/>
          </p:cNvSpPr>
          <p:nvPr/>
        </p:nvSpPr>
        <p:spPr>
          <a:xfrm>
            <a:off x="1200150" y="5676900"/>
            <a:ext cx="3943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Persistent fitness memory</a:t>
            </a:r>
          </a:p>
        </p:txBody>
      </p:sp>
      <p:sp>
        <p:nvSpPr>
          <p:cNvPr id="31" name="cell-2-1">
            <a:extLst>
              <a:ext uri="{FF2B5EF4-FFF2-40B4-BE49-F238E27FC236}">
                <a16:creationId xmlns:a16="http://schemas.microsoft.com/office/drawing/2014/main" id="{7962D24C-70B6-473E-A6CF-D14B7C4637FC}"/>
              </a:ext>
            </a:extLst>
          </p:cNvPr>
          <p:cNvSpPr>
            <a:spLocks noGrp="1"/>
          </p:cNvSpPr>
          <p:nvPr/>
        </p:nvSpPr>
        <p:spPr>
          <a:xfrm>
            <a:off x="5414834" y="5548630"/>
            <a:ext cx="2835189" cy="704850"/>
          </a:xfrm>
          <a:prstGeom prst="roundRect">
            <a:avLst>
              <a:gd name="adj" fmla="val 10811"/>
            </a:avLst>
          </a:prstGeom>
          <a:solidFill>
            <a:srgbClr val="101116"/>
          </a:solidFill>
        </p:spPr>
      </p:sp>
      <p:sp>
        <p:nvSpPr>
          <p:cNvPr id="32" name="low">
            <a:extLst>
              <a:ext uri="{FF2B5EF4-FFF2-40B4-BE49-F238E27FC236}">
                <a16:creationId xmlns:a16="http://schemas.microsoft.com/office/drawing/2014/main" id="{8FA00194-F47A-4D40-83D8-CB73FE031198}"/>
              </a:ext>
            </a:extLst>
          </p:cNvPr>
          <p:cNvSpPr>
            <a:spLocks noGrp="1"/>
          </p:cNvSpPr>
          <p:nvPr/>
        </p:nvSpPr>
        <p:spPr>
          <a:xfrm>
            <a:off x="5562600" y="5676900"/>
            <a:ext cx="2533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33" name="cell-2-2">
            <a:extLst>
              <a:ext uri="{FF2B5EF4-FFF2-40B4-BE49-F238E27FC236}">
                <a16:creationId xmlns:a16="http://schemas.microsoft.com/office/drawing/2014/main" id="{5C2065EC-051F-42E3-B61F-DC73A115112A}"/>
              </a:ext>
            </a:extLst>
          </p:cNvPr>
          <p:cNvSpPr>
            <a:spLocks noGrp="1"/>
          </p:cNvSpPr>
          <p:nvPr/>
        </p:nvSpPr>
        <p:spPr>
          <a:xfrm>
            <a:off x="8364323" y="5548630"/>
            <a:ext cx="2835189" cy="704850"/>
          </a:xfrm>
          <a:prstGeom prst="roundRect">
            <a:avLst>
              <a:gd name="adj" fmla="val 10811"/>
            </a:avLst>
          </a:prstGeom>
          <a:solidFill>
            <a:srgbClr val="101116"/>
          </a:solidFill>
        </p:spPr>
      </p:sp>
      <p:sp>
        <p:nvSpPr>
          <p:cNvPr id="34" name="low">
            <a:extLst>
              <a:ext uri="{FF2B5EF4-FFF2-40B4-BE49-F238E27FC236}">
                <a16:creationId xmlns:a16="http://schemas.microsoft.com/office/drawing/2014/main" id="{5945D64C-D697-43C2-9BC5-C9F188860AA9}"/>
              </a:ext>
            </a:extLst>
          </p:cNvPr>
          <p:cNvSpPr>
            <a:spLocks noGrp="1"/>
          </p:cNvSpPr>
          <p:nvPr/>
        </p:nvSpPr>
        <p:spPr>
          <a:xfrm>
            <a:off x="8515350" y="5676900"/>
            <a:ext cx="2533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35" name="cell-2-3">
            <a:extLst>
              <a:ext uri="{FF2B5EF4-FFF2-40B4-BE49-F238E27FC236}">
                <a16:creationId xmlns:a16="http://schemas.microsoft.com/office/drawing/2014/main" id="{4DB92A62-5873-49B3-8050-DF0C2B26FE23}"/>
              </a:ext>
            </a:extLst>
          </p:cNvPr>
          <p:cNvSpPr>
            <a:spLocks noGrp="1"/>
          </p:cNvSpPr>
          <p:nvPr/>
        </p:nvSpPr>
        <p:spPr>
          <a:xfrm>
            <a:off x="11313812" y="5548630"/>
            <a:ext cx="2835189" cy="704850"/>
          </a:xfrm>
          <a:prstGeom prst="roundRect">
            <a:avLst>
              <a:gd name="adj" fmla="val 10811"/>
            </a:avLst>
          </a:prstGeom>
          <a:solidFill>
            <a:srgbClr val="101116"/>
          </a:solidFill>
        </p:spPr>
      </p:sp>
      <p:sp>
        <p:nvSpPr>
          <p:cNvPr id="36" name="medium">
            <a:extLst>
              <a:ext uri="{FF2B5EF4-FFF2-40B4-BE49-F238E27FC236}">
                <a16:creationId xmlns:a16="http://schemas.microsoft.com/office/drawing/2014/main" id="{D931E956-F17F-4835-940D-63CA95AE79FB}"/>
              </a:ext>
            </a:extLst>
          </p:cNvPr>
          <p:cNvSpPr>
            <a:spLocks noGrp="1"/>
          </p:cNvSpPr>
          <p:nvPr/>
        </p:nvSpPr>
        <p:spPr>
          <a:xfrm>
            <a:off x="11468100" y="5676900"/>
            <a:ext cx="2533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37" name="cell-2-4">
            <a:extLst>
              <a:ext uri="{FF2B5EF4-FFF2-40B4-BE49-F238E27FC236}">
                <a16:creationId xmlns:a16="http://schemas.microsoft.com/office/drawing/2014/main" id="{19069233-7F4C-4C32-B1B8-384689DF87CA}"/>
              </a:ext>
            </a:extLst>
          </p:cNvPr>
          <p:cNvSpPr>
            <a:spLocks noGrp="1"/>
          </p:cNvSpPr>
          <p:nvPr/>
        </p:nvSpPr>
        <p:spPr>
          <a:xfrm>
            <a:off x="14263301" y="5548630"/>
            <a:ext cx="2976949" cy="704850"/>
          </a:xfrm>
          <a:prstGeom prst="roundRect">
            <a:avLst>
              <a:gd name="adj" fmla="val 10811"/>
            </a:avLst>
          </a:prstGeom>
          <a:solidFill>
            <a:srgbClr val="1B0D10"/>
          </a:solidFill>
        </p:spPr>
      </p:sp>
      <p:sp>
        <p:nvSpPr>
          <p:cNvPr id="38" name="high">
            <a:extLst>
              <a:ext uri="{FF2B5EF4-FFF2-40B4-BE49-F238E27FC236}">
                <a16:creationId xmlns:a16="http://schemas.microsoft.com/office/drawing/2014/main" id="{18870CCA-D2F1-4E1D-A256-FCF2C6E9A32C}"/>
              </a:ext>
            </a:extLst>
          </p:cNvPr>
          <p:cNvSpPr>
            <a:spLocks noGrp="1"/>
          </p:cNvSpPr>
          <p:nvPr/>
        </p:nvSpPr>
        <p:spPr>
          <a:xfrm>
            <a:off x="14420850" y="5676900"/>
            <a:ext cx="2667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  <p:sp>
        <p:nvSpPr>
          <p:cNvPr id="39" name="cell-3-0">
            <a:extLst>
              <a:ext uri="{FF2B5EF4-FFF2-40B4-BE49-F238E27FC236}">
                <a16:creationId xmlns:a16="http://schemas.microsoft.com/office/drawing/2014/main" id="{5EBC8925-04C8-4E56-AD47-C2132DCCDAEB}"/>
              </a:ext>
            </a:extLst>
          </p:cNvPr>
          <p:cNvSpPr>
            <a:spLocks noGrp="1"/>
          </p:cNvSpPr>
          <p:nvPr/>
        </p:nvSpPr>
        <p:spPr>
          <a:xfrm>
            <a:off x="1047750" y="6528435"/>
            <a:ext cx="4252784" cy="704850"/>
          </a:xfrm>
          <a:prstGeom prst="roundRect">
            <a:avLst>
              <a:gd name="adj" fmla="val 10811"/>
            </a:avLst>
          </a:prstGeom>
          <a:solidFill>
            <a:srgbClr val="101116"/>
          </a:solidFill>
        </p:spPr>
      </p:sp>
      <p:sp>
        <p:nvSpPr>
          <p:cNvPr id="40" name="emotional-accountability">
            <a:extLst>
              <a:ext uri="{FF2B5EF4-FFF2-40B4-BE49-F238E27FC236}">
                <a16:creationId xmlns:a16="http://schemas.microsoft.com/office/drawing/2014/main" id="{0B14E828-FC62-4039-AC20-F3D70D5FC897}"/>
              </a:ext>
            </a:extLst>
          </p:cNvPr>
          <p:cNvSpPr>
            <a:spLocks noGrp="1"/>
          </p:cNvSpPr>
          <p:nvPr/>
        </p:nvSpPr>
        <p:spPr>
          <a:xfrm>
            <a:off x="1200150" y="6648450"/>
            <a:ext cx="3943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Emotional accountability</a:t>
            </a:r>
          </a:p>
        </p:txBody>
      </p:sp>
      <p:sp>
        <p:nvSpPr>
          <p:cNvPr id="41" name="cell-3-1">
            <a:extLst>
              <a:ext uri="{FF2B5EF4-FFF2-40B4-BE49-F238E27FC236}">
                <a16:creationId xmlns:a16="http://schemas.microsoft.com/office/drawing/2014/main" id="{4C2D7FF5-C563-4233-89A7-06993D122687}"/>
              </a:ext>
            </a:extLst>
          </p:cNvPr>
          <p:cNvSpPr>
            <a:spLocks noGrp="1"/>
          </p:cNvSpPr>
          <p:nvPr/>
        </p:nvSpPr>
        <p:spPr>
          <a:xfrm>
            <a:off x="5414834" y="6528435"/>
            <a:ext cx="2835189" cy="704850"/>
          </a:xfrm>
          <a:prstGeom prst="roundRect">
            <a:avLst>
              <a:gd name="adj" fmla="val 10811"/>
            </a:avLst>
          </a:prstGeom>
          <a:solidFill>
            <a:srgbClr val="101116"/>
          </a:solidFill>
        </p:spPr>
      </p:sp>
      <p:sp>
        <p:nvSpPr>
          <p:cNvPr id="42" name="low">
            <a:extLst>
              <a:ext uri="{FF2B5EF4-FFF2-40B4-BE49-F238E27FC236}">
                <a16:creationId xmlns:a16="http://schemas.microsoft.com/office/drawing/2014/main" id="{FFCD8400-35F8-494A-B528-B0E15CA76AED}"/>
              </a:ext>
            </a:extLst>
          </p:cNvPr>
          <p:cNvSpPr>
            <a:spLocks noGrp="1"/>
          </p:cNvSpPr>
          <p:nvPr/>
        </p:nvSpPr>
        <p:spPr>
          <a:xfrm>
            <a:off x="5562600" y="6648450"/>
            <a:ext cx="2533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43" name="cell-3-2">
            <a:extLst>
              <a:ext uri="{FF2B5EF4-FFF2-40B4-BE49-F238E27FC236}">
                <a16:creationId xmlns:a16="http://schemas.microsoft.com/office/drawing/2014/main" id="{10195470-2183-4C45-BB6F-CC4BEDFC7284}"/>
              </a:ext>
            </a:extLst>
          </p:cNvPr>
          <p:cNvSpPr>
            <a:spLocks noGrp="1"/>
          </p:cNvSpPr>
          <p:nvPr/>
        </p:nvSpPr>
        <p:spPr>
          <a:xfrm>
            <a:off x="8364323" y="6528435"/>
            <a:ext cx="2835189" cy="704850"/>
          </a:xfrm>
          <a:prstGeom prst="roundRect">
            <a:avLst>
              <a:gd name="adj" fmla="val 10811"/>
            </a:avLst>
          </a:prstGeom>
          <a:solidFill>
            <a:srgbClr val="101116"/>
          </a:solidFill>
        </p:spPr>
      </p:sp>
      <p:sp>
        <p:nvSpPr>
          <p:cNvPr id="44" name="medium">
            <a:extLst>
              <a:ext uri="{FF2B5EF4-FFF2-40B4-BE49-F238E27FC236}">
                <a16:creationId xmlns:a16="http://schemas.microsoft.com/office/drawing/2014/main" id="{D5DF5E98-37E2-418D-BA0D-16E6DC182331}"/>
              </a:ext>
            </a:extLst>
          </p:cNvPr>
          <p:cNvSpPr>
            <a:spLocks noGrp="1"/>
          </p:cNvSpPr>
          <p:nvPr/>
        </p:nvSpPr>
        <p:spPr>
          <a:xfrm>
            <a:off x="8515350" y="6648450"/>
            <a:ext cx="2533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45" name="cell-3-3">
            <a:extLst>
              <a:ext uri="{FF2B5EF4-FFF2-40B4-BE49-F238E27FC236}">
                <a16:creationId xmlns:a16="http://schemas.microsoft.com/office/drawing/2014/main" id="{79CCC43F-9258-4233-8112-FDEA3D7F6E46}"/>
              </a:ext>
            </a:extLst>
          </p:cNvPr>
          <p:cNvSpPr>
            <a:spLocks noGrp="1"/>
          </p:cNvSpPr>
          <p:nvPr/>
        </p:nvSpPr>
        <p:spPr>
          <a:xfrm>
            <a:off x="11313812" y="6528435"/>
            <a:ext cx="2835189" cy="704850"/>
          </a:xfrm>
          <a:prstGeom prst="roundRect">
            <a:avLst>
              <a:gd name="adj" fmla="val 10811"/>
            </a:avLst>
          </a:prstGeom>
          <a:solidFill>
            <a:srgbClr val="101116"/>
          </a:solidFill>
        </p:spPr>
      </p:sp>
      <p:sp>
        <p:nvSpPr>
          <p:cNvPr id="46" name="medium">
            <a:extLst>
              <a:ext uri="{FF2B5EF4-FFF2-40B4-BE49-F238E27FC236}">
                <a16:creationId xmlns:a16="http://schemas.microsoft.com/office/drawing/2014/main" id="{1AC90C9C-747C-4CC7-A836-9B03EB917DBC}"/>
              </a:ext>
            </a:extLst>
          </p:cNvPr>
          <p:cNvSpPr>
            <a:spLocks noGrp="1"/>
          </p:cNvSpPr>
          <p:nvPr/>
        </p:nvSpPr>
        <p:spPr>
          <a:xfrm>
            <a:off x="11468100" y="6648450"/>
            <a:ext cx="2533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47" name="cell-3-4">
            <a:extLst>
              <a:ext uri="{FF2B5EF4-FFF2-40B4-BE49-F238E27FC236}">
                <a16:creationId xmlns:a16="http://schemas.microsoft.com/office/drawing/2014/main" id="{D9564FC3-1B2A-493C-974A-E9BBBFDAF582}"/>
              </a:ext>
            </a:extLst>
          </p:cNvPr>
          <p:cNvSpPr>
            <a:spLocks noGrp="1"/>
          </p:cNvSpPr>
          <p:nvPr/>
        </p:nvSpPr>
        <p:spPr>
          <a:xfrm>
            <a:off x="14263301" y="6528435"/>
            <a:ext cx="2976949" cy="704850"/>
          </a:xfrm>
          <a:prstGeom prst="roundRect">
            <a:avLst>
              <a:gd name="adj" fmla="val 10811"/>
            </a:avLst>
          </a:prstGeom>
          <a:solidFill>
            <a:srgbClr val="1B0D10"/>
          </a:solidFill>
        </p:spPr>
      </p:sp>
      <p:sp>
        <p:nvSpPr>
          <p:cNvPr id="48" name="high">
            <a:extLst>
              <a:ext uri="{FF2B5EF4-FFF2-40B4-BE49-F238E27FC236}">
                <a16:creationId xmlns:a16="http://schemas.microsoft.com/office/drawing/2014/main" id="{9F361A23-3F6F-4774-8FAA-9C25A87AB491}"/>
              </a:ext>
            </a:extLst>
          </p:cNvPr>
          <p:cNvSpPr>
            <a:spLocks noGrp="1"/>
          </p:cNvSpPr>
          <p:nvPr/>
        </p:nvSpPr>
        <p:spPr>
          <a:xfrm>
            <a:off x="14420850" y="6648450"/>
            <a:ext cx="2667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  <p:sp>
        <p:nvSpPr>
          <p:cNvPr id="49" name="cell-4-0">
            <a:extLst>
              <a:ext uri="{FF2B5EF4-FFF2-40B4-BE49-F238E27FC236}">
                <a16:creationId xmlns:a16="http://schemas.microsoft.com/office/drawing/2014/main" id="{DAE454B3-39B5-465E-AE20-47E85532867F}"/>
              </a:ext>
            </a:extLst>
          </p:cNvPr>
          <p:cNvSpPr>
            <a:spLocks noGrp="1"/>
          </p:cNvSpPr>
          <p:nvPr/>
        </p:nvSpPr>
        <p:spPr>
          <a:xfrm>
            <a:off x="1047750" y="7508240"/>
            <a:ext cx="4252784" cy="704850"/>
          </a:xfrm>
          <a:prstGeom prst="roundRect">
            <a:avLst>
              <a:gd name="adj" fmla="val 10811"/>
            </a:avLst>
          </a:prstGeom>
          <a:solidFill>
            <a:srgbClr val="101116"/>
          </a:solidFill>
        </p:spPr>
      </p:sp>
      <p:sp>
        <p:nvSpPr>
          <p:cNvPr id="50" name="community-loop">
            <a:extLst>
              <a:ext uri="{FF2B5EF4-FFF2-40B4-BE49-F238E27FC236}">
                <a16:creationId xmlns:a16="http://schemas.microsoft.com/office/drawing/2014/main" id="{FB4CD6C6-0BA4-4F04-BDDB-9F91F9616AB0}"/>
              </a:ext>
            </a:extLst>
          </p:cNvPr>
          <p:cNvSpPr>
            <a:spLocks noGrp="1"/>
          </p:cNvSpPr>
          <p:nvPr/>
        </p:nvSpPr>
        <p:spPr>
          <a:xfrm>
            <a:off x="1200150" y="7639050"/>
            <a:ext cx="3943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Community loop</a:t>
            </a:r>
          </a:p>
        </p:txBody>
      </p:sp>
      <p:sp>
        <p:nvSpPr>
          <p:cNvPr id="51" name="cell-4-1">
            <a:extLst>
              <a:ext uri="{FF2B5EF4-FFF2-40B4-BE49-F238E27FC236}">
                <a16:creationId xmlns:a16="http://schemas.microsoft.com/office/drawing/2014/main" id="{FB15E775-A888-40C2-8677-134E854B1E52}"/>
              </a:ext>
            </a:extLst>
          </p:cNvPr>
          <p:cNvSpPr>
            <a:spLocks noGrp="1"/>
          </p:cNvSpPr>
          <p:nvPr/>
        </p:nvSpPr>
        <p:spPr>
          <a:xfrm>
            <a:off x="5414834" y="7508240"/>
            <a:ext cx="2835189" cy="704850"/>
          </a:xfrm>
          <a:prstGeom prst="roundRect">
            <a:avLst>
              <a:gd name="adj" fmla="val 10811"/>
            </a:avLst>
          </a:prstGeom>
          <a:solidFill>
            <a:srgbClr val="101116"/>
          </a:solidFill>
        </p:spPr>
      </p:sp>
      <p:sp>
        <p:nvSpPr>
          <p:cNvPr id="52" name="medium">
            <a:extLst>
              <a:ext uri="{FF2B5EF4-FFF2-40B4-BE49-F238E27FC236}">
                <a16:creationId xmlns:a16="http://schemas.microsoft.com/office/drawing/2014/main" id="{5335AF3D-BE23-4570-BAF6-570DAD7012F4}"/>
              </a:ext>
            </a:extLst>
          </p:cNvPr>
          <p:cNvSpPr>
            <a:spLocks noGrp="1"/>
          </p:cNvSpPr>
          <p:nvPr/>
        </p:nvSpPr>
        <p:spPr>
          <a:xfrm>
            <a:off x="5562600" y="7639050"/>
            <a:ext cx="2533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53" name="cell-4-2">
            <a:extLst>
              <a:ext uri="{FF2B5EF4-FFF2-40B4-BE49-F238E27FC236}">
                <a16:creationId xmlns:a16="http://schemas.microsoft.com/office/drawing/2014/main" id="{61870192-8621-4C40-9060-5448A5E736AB}"/>
              </a:ext>
            </a:extLst>
          </p:cNvPr>
          <p:cNvSpPr>
            <a:spLocks noGrp="1"/>
          </p:cNvSpPr>
          <p:nvPr/>
        </p:nvSpPr>
        <p:spPr>
          <a:xfrm>
            <a:off x="8364323" y="7508240"/>
            <a:ext cx="2835189" cy="704850"/>
          </a:xfrm>
          <a:prstGeom prst="roundRect">
            <a:avLst>
              <a:gd name="adj" fmla="val 10811"/>
            </a:avLst>
          </a:prstGeom>
          <a:solidFill>
            <a:srgbClr val="101116"/>
          </a:solidFill>
        </p:spPr>
      </p:sp>
      <p:sp>
        <p:nvSpPr>
          <p:cNvPr id="54" name="none">
            <a:extLst>
              <a:ext uri="{FF2B5EF4-FFF2-40B4-BE49-F238E27FC236}">
                <a16:creationId xmlns:a16="http://schemas.microsoft.com/office/drawing/2014/main" id="{5526B917-589D-4D9A-BE18-CC80AB74C5DD}"/>
              </a:ext>
            </a:extLst>
          </p:cNvPr>
          <p:cNvSpPr>
            <a:spLocks noGrp="1"/>
          </p:cNvSpPr>
          <p:nvPr/>
        </p:nvSpPr>
        <p:spPr>
          <a:xfrm>
            <a:off x="8515350" y="7639050"/>
            <a:ext cx="2533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None</a:t>
            </a:r>
          </a:p>
        </p:txBody>
      </p:sp>
      <p:sp>
        <p:nvSpPr>
          <p:cNvPr id="55" name="cell-4-3">
            <a:extLst>
              <a:ext uri="{FF2B5EF4-FFF2-40B4-BE49-F238E27FC236}">
                <a16:creationId xmlns:a16="http://schemas.microsoft.com/office/drawing/2014/main" id="{EDB86026-352B-46E8-995A-DFFF316F42C4}"/>
              </a:ext>
            </a:extLst>
          </p:cNvPr>
          <p:cNvSpPr>
            <a:spLocks noGrp="1"/>
          </p:cNvSpPr>
          <p:nvPr/>
        </p:nvSpPr>
        <p:spPr>
          <a:xfrm>
            <a:off x="11313812" y="7508240"/>
            <a:ext cx="2835189" cy="704850"/>
          </a:xfrm>
          <a:prstGeom prst="roundRect">
            <a:avLst>
              <a:gd name="adj" fmla="val 10811"/>
            </a:avLst>
          </a:prstGeom>
          <a:solidFill>
            <a:srgbClr val="101116"/>
          </a:solidFill>
        </p:spPr>
      </p:sp>
      <p:sp>
        <p:nvSpPr>
          <p:cNvPr id="56" name="low">
            <a:extLst>
              <a:ext uri="{FF2B5EF4-FFF2-40B4-BE49-F238E27FC236}">
                <a16:creationId xmlns:a16="http://schemas.microsoft.com/office/drawing/2014/main" id="{8EC77C1B-1C1B-428C-AD39-117473F62B2D}"/>
              </a:ext>
            </a:extLst>
          </p:cNvPr>
          <p:cNvSpPr>
            <a:spLocks noGrp="1"/>
          </p:cNvSpPr>
          <p:nvPr/>
        </p:nvSpPr>
        <p:spPr>
          <a:xfrm>
            <a:off x="11468100" y="7639050"/>
            <a:ext cx="2533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57" name="cell-4-4">
            <a:extLst>
              <a:ext uri="{FF2B5EF4-FFF2-40B4-BE49-F238E27FC236}">
                <a16:creationId xmlns:a16="http://schemas.microsoft.com/office/drawing/2014/main" id="{17C4424D-A5E0-47F9-BB2A-DF3C421D61B6}"/>
              </a:ext>
            </a:extLst>
          </p:cNvPr>
          <p:cNvSpPr>
            <a:spLocks noGrp="1"/>
          </p:cNvSpPr>
          <p:nvPr/>
        </p:nvSpPr>
        <p:spPr>
          <a:xfrm>
            <a:off x="14263301" y="7508240"/>
            <a:ext cx="2976949" cy="704850"/>
          </a:xfrm>
          <a:prstGeom prst="roundRect">
            <a:avLst>
              <a:gd name="adj" fmla="val 10811"/>
            </a:avLst>
          </a:prstGeom>
          <a:solidFill>
            <a:srgbClr val="1B0D10"/>
          </a:solidFill>
        </p:spPr>
      </p:sp>
      <p:sp>
        <p:nvSpPr>
          <p:cNvPr id="58" name="high">
            <a:extLst>
              <a:ext uri="{FF2B5EF4-FFF2-40B4-BE49-F238E27FC236}">
                <a16:creationId xmlns:a16="http://schemas.microsoft.com/office/drawing/2014/main" id="{75B367C6-12D2-4C71-B96A-75CD5999ABD1}"/>
              </a:ext>
            </a:extLst>
          </p:cNvPr>
          <p:cNvSpPr>
            <a:spLocks noGrp="1"/>
          </p:cNvSpPr>
          <p:nvPr/>
        </p:nvSpPr>
        <p:spPr>
          <a:xfrm>
            <a:off x="14420850" y="7639050"/>
            <a:ext cx="2667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  <p:sp>
        <p:nvSpPr>
          <p:cNvPr id="59" name="cell-5-0">
            <a:extLst>
              <a:ext uri="{FF2B5EF4-FFF2-40B4-BE49-F238E27FC236}">
                <a16:creationId xmlns:a16="http://schemas.microsoft.com/office/drawing/2014/main" id="{2FFDA60C-A7F2-4D3B-B25B-F03E1C938E3D}"/>
              </a:ext>
            </a:extLst>
          </p:cNvPr>
          <p:cNvSpPr>
            <a:spLocks noGrp="1"/>
          </p:cNvSpPr>
          <p:nvPr/>
        </p:nvSpPr>
        <p:spPr>
          <a:xfrm>
            <a:off x="1047750" y="8488045"/>
            <a:ext cx="4252784" cy="704850"/>
          </a:xfrm>
          <a:prstGeom prst="roundRect">
            <a:avLst>
              <a:gd name="adj" fmla="val 10811"/>
            </a:avLst>
          </a:prstGeom>
          <a:solidFill>
            <a:srgbClr val="101116"/>
          </a:solidFill>
        </p:spPr>
      </p:sp>
      <p:sp>
        <p:nvSpPr>
          <p:cNvPr id="60" name="custom-ai-roadmap">
            <a:extLst>
              <a:ext uri="{FF2B5EF4-FFF2-40B4-BE49-F238E27FC236}">
                <a16:creationId xmlns:a16="http://schemas.microsoft.com/office/drawing/2014/main" id="{6CFEF652-A203-47CE-9809-46E6D360B169}"/>
              </a:ext>
            </a:extLst>
          </p:cNvPr>
          <p:cNvSpPr>
            <a:spLocks noGrp="1"/>
          </p:cNvSpPr>
          <p:nvPr/>
        </p:nvSpPr>
        <p:spPr>
          <a:xfrm>
            <a:off x="1200150" y="8610600"/>
            <a:ext cx="3943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Custom AI roadmap</a:t>
            </a:r>
          </a:p>
        </p:txBody>
      </p:sp>
      <p:sp>
        <p:nvSpPr>
          <p:cNvPr id="61" name="cell-5-1">
            <a:extLst>
              <a:ext uri="{FF2B5EF4-FFF2-40B4-BE49-F238E27FC236}">
                <a16:creationId xmlns:a16="http://schemas.microsoft.com/office/drawing/2014/main" id="{5740693B-C75E-4EFD-8639-7C3EC0EF96B7}"/>
              </a:ext>
            </a:extLst>
          </p:cNvPr>
          <p:cNvSpPr>
            <a:spLocks noGrp="1"/>
          </p:cNvSpPr>
          <p:nvPr/>
        </p:nvSpPr>
        <p:spPr>
          <a:xfrm>
            <a:off x="5414834" y="8488045"/>
            <a:ext cx="2835189" cy="704850"/>
          </a:xfrm>
          <a:prstGeom prst="roundRect">
            <a:avLst>
              <a:gd name="adj" fmla="val 10811"/>
            </a:avLst>
          </a:prstGeom>
          <a:solidFill>
            <a:srgbClr val="101116"/>
          </a:solidFill>
        </p:spPr>
      </p:sp>
      <p:sp>
        <p:nvSpPr>
          <p:cNvPr id="62" name="low">
            <a:extLst>
              <a:ext uri="{FF2B5EF4-FFF2-40B4-BE49-F238E27FC236}">
                <a16:creationId xmlns:a16="http://schemas.microsoft.com/office/drawing/2014/main" id="{6C367E94-7713-495C-92D0-4586ED81120B}"/>
              </a:ext>
            </a:extLst>
          </p:cNvPr>
          <p:cNvSpPr>
            <a:spLocks noGrp="1"/>
          </p:cNvSpPr>
          <p:nvPr/>
        </p:nvSpPr>
        <p:spPr>
          <a:xfrm>
            <a:off x="5562600" y="8610600"/>
            <a:ext cx="2533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63" name="cell-5-2">
            <a:extLst>
              <a:ext uri="{FF2B5EF4-FFF2-40B4-BE49-F238E27FC236}">
                <a16:creationId xmlns:a16="http://schemas.microsoft.com/office/drawing/2014/main" id="{7151A008-E682-4B29-843B-27C5363BD39C}"/>
              </a:ext>
            </a:extLst>
          </p:cNvPr>
          <p:cNvSpPr>
            <a:spLocks noGrp="1"/>
          </p:cNvSpPr>
          <p:nvPr/>
        </p:nvSpPr>
        <p:spPr>
          <a:xfrm>
            <a:off x="8364323" y="8488045"/>
            <a:ext cx="2835189" cy="704850"/>
          </a:xfrm>
          <a:prstGeom prst="roundRect">
            <a:avLst>
              <a:gd name="adj" fmla="val 10811"/>
            </a:avLst>
          </a:prstGeom>
          <a:solidFill>
            <a:srgbClr val="101116"/>
          </a:solidFill>
        </p:spPr>
      </p:sp>
      <p:sp>
        <p:nvSpPr>
          <p:cNvPr id="64" name="none">
            <a:extLst>
              <a:ext uri="{FF2B5EF4-FFF2-40B4-BE49-F238E27FC236}">
                <a16:creationId xmlns:a16="http://schemas.microsoft.com/office/drawing/2014/main" id="{34FE621D-B932-49A2-B91A-49C3FBAE3E74}"/>
              </a:ext>
            </a:extLst>
          </p:cNvPr>
          <p:cNvSpPr>
            <a:spLocks noGrp="1"/>
          </p:cNvSpPr>
          <p:nvPr/>
        </p:nvSpPr>
        <p:spPr>
          <a:xfrm>
            <a:off x="8515350" y="8610600"/>
            <a:ext cx="2533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None</a:t>
            </a:r>
          </a:p>
        </p:txBody>
      </p:sp>
      <p:sp>
        <p:nvSpPr>
          <p:cNvPr id="65" name="cell-5-3">
            <a:extLst>
              <a:ext uri="{FF2B5EF4-FFF2-40B4-BE49-F238E27FC236}">
                <a16:creationId xmlns:a16="http://schemas.microsoft.com/office/drawing/2014/main" id="{67C91F25-9B5B-43EF-A4F9-20744A1A0211}"/>
              </a:ext>
            </a:extLst>
          </p:cNvPr>
          <p:cNvSpPr>
            <a:spLocks noGrp="1"/>
          </p:cNvSpPr>
          <p:nvPr/>
        </p:nvSpPr>
        <p:spPr>
          <a:xfrm>
            <a:off x="11313812" y="8488045"/>
            <a:ext cx="2835189" cy="704850"/>
          </a:xfrm>
          <a:prstGeom prst="roundRect">
            <a:avLst>
              <a:gd name="adj" fmla="val 10811"/>
            </a:avLst>
          </a:prstGeom>
          <a:solidFill>
            <a:srgbClr val="101116"/>
          </a:solidFill>
        </p:spPr>
      </p:sp>
      <p:sp>
        <p:nvSpPr>
          <p:cNvPr id="66" name="medium">
            <a:extLst>
              <a:ext uri="{FF2B5EF4-FFF2-40B4-BE49-F238E27FC236}">
                <a16:creationId xmlns:a16="http://schemas.microsoft.com/office/drawing/2014/main" id="{C0476D18-8431-4CFB-A0BC-5B6A67FAE54F}"/>
              </a:ext>
            </a:extLst>
          </p:cNvPr>
          <p:cNvSpPr>
            <a:spLocks noGrp="1"/>
          </p:cNvSpPr>
          <p:nvPr/>
        </p:nvSpPr>
        <p:spPr>
          <a:xfrm>
            <a:off x="11468100" y="8610600"/>
            <a:ext cx="2533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67" name="cell-5-4">
            <a:extLst>
              <a:ext uri="{FF2B5EF4-FFF2-40B4-BE49-F238E27FC236}">
                <a16:creationId xmlns:a16="http://schemas.microsoft.com/office/drawing/2014/main" id="{E5643870-2A7A-4C08-83B0-8723EAA3BFC1}"/>
              </a:ext>
            </a:extLst>
          </p:cNvPr>
          <p:cNvSpPr>
            <a:spLocks noGrp="1"/>
          </p:cNvSpPr>
          <p:nvPr/>
        </p:nvSpPr>
        <p:spPr>
          <a:xfrm>
            <a:off x="14263301" y="8488045"/>
            <a:ext cx="2976949" cy="704850"/>
          </a:xfrm>
          <a:prstGeom prst="roundRect">
            <a:avLst>
              <a:gd name="adj" fmla="val 10811"/>
            </a:avLst>
          </a:prstGeom>
          <a:solidFill>
            <a:srgbClr val="1B0D10"/>
          </a:solidFill>
        </p:spPr>
      </p:sp>
      <p:sp>
        <p:nvSpPr>
          <p:cNvPr id="68" name="high">
            <a:extLst>
              <a:ext uri="{FF2B5EF4-FFF2-40B4-BE49-F238E27FC236}">
                <a16:creationId xmlns:a16="http://schemas.microsoft.com/office/drawing/2014/main" id="{2142C4A6-9841-4012-8D8F-01E8D053F2D2}"/>
              </a:ext>
            </a:extLst>
          </p:cNvPr>
          <p:cNvSpPr>
            <a:spLocks noGrp="1"/>
          </p:cNvSpPr>
          <p:nvPr/>
        </p:nvSpPr>
        <p:spPr>
          <a:xfrm>
            <a:off x="14420850" y="8610600"/>
            <a:ext cx="2667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1011878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g">
            <a:extLst>
              <a:ext uri="{FF2B5EF4-FFF2-40B4-BE49-F238E27FC236}">
                <a16:creationId xmlns:a16="http://schemas.microsoft.com/office/drawing/2014/main" id="{B5CE0769-C6A9-45B0-B7A2-8B5E1FA3A5F8}"/>
              </a:ext>
            </a:extLst>
          </p:cNvPr>
          <p:cNvSpPr>
            <a:spLocks noGrp="1"/>
          </p:cNvSpPr>
          <p:nvPr/>
        </p:nvSpPr>
        <p:spPr>
          <a:xfrm>
            <a:off x="0" y="-12700"/>
            <a:ext cx="18288000" cy="10287000"/>
          </a:xfrm>
          <a:prstGeom prst="rect">
            <a:avLst/>
          </a:prstGeom>
          <a:solidFill>
            <a:srgbClr val="050506"/>
          </a:solidFill>
        </p:spPr>
      </p:sp>
      <p:sp>
        <p:nvSpPr>
          <p:cNvPr id="2" name="top-glow">
            <a:extLst>
              <a:ext uri="{FF2B5EF4-FFF2-40B4-BE49-F238E27FC236}">
                <a16:creationId xmlns:a16="http://schemas.microsoft.com/office/drawing/2014/main" id="{DB6F603B-C387-4DA6-A0EF-E248222465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14350"/>
          </a:xfrm>
          <a:prstGeom prst="rect">
            <a:avLst/>
          </a:prstGeom>
          <a:solidFill>
            <a:srgbClr val="55070B"/>
          </a:solidFill>
        </p:spPr>
      </p:sp>
      <p:sp>
        <p:nvSpPr>
          <p:cNvPr id="3" name="bottom-line">
            <a:extLst>
              <a:ext uri="{FF2B5EF4-FFF2-40B4-BE49-F238E27FC236}">
                <a16:creationId xmlns:a16="http://schemas.microsoft.com/office/drawing/2014/main" id="{A00BBE32-6A65-4E86-B95B-1981941370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057B5BB5-A617-47B9-8DAD-BA0B45BC542A}"/>
              </a:ext>
            </a:extLst>
          </p:cNvPr>
          <p:cNvSpPr>
            <a:spLocks noGrp="1"/>
          </p:cNvSpPr>
          <p:nvPr/>
        </p:nvSpPr>
        <p:spPr>
          <a:xfrm>
            <a:off x="781050" y="2769870"/>
            <a:ext cx="666750" cy="47625"/>
          </a:xfrm>
          <a:prstGeom prst="rect">
            <a:avLst/>
          </a:prstGeom>
          <a:solidFill>
            <a:srgbClr val="E50914"/>
          </a:solidFill>
          <a:ln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33B29CF5-E1D4-4468-A108-C3FBD17B4ECC}"/>
              </a:ext>
            </a:extLst>
          </p:cNvPr>
          <p:cNvSpPr>
            <a:spLocks noGrp="1"/>
          </p:cNvSpPr>
          <p:nvPr/>
        </p:nvSpPr>
        <p:spPr>
          <a:xfrm>
            <a:off x="1581150" y="2693670"/>
            <a:ext cx="133731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 dirty="0">
                <a:solidFill>
                  <a:srgbClr val="FF2E3A"/>
                </a:solidFill>
              </a:rPr>
              <a:t>BUSINESS MODEL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65A9955C-6040-4FD4-8BD5-3D5BAE0F4FB2}"/>
              </a:ext>
            </a:extLst>
          </p:cNvPr>
          <p:cNvSpPr>
            <a:spLocks noGrp="1"/>
          </p:cNvSpPr>
          <p:nvPr/>
        </p:nvSpPr>
        <p:spPr>
          <a:xfrm>
            <a:off x="781050" y="3055620"/>
            <a:ext cx="12701588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 dirty="0">
                <a:solidFill>
                  <a:srgbClr val="F8F5EF"/>
                </a:solidFill>
              </a:rPr>
              <a:t>Accessible core guidance. Scalable ecosystem revenue.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3B068080-E3FE-4CB5-8B4B-EBFE1181F92E}"/>
              </a:ext>
            </a:extLst>
          </p:cNvPr>
          <p:cNvSpPr>
            <a:spLocks noGrp="1"/>
          </p:cNvSpPr>
          <p:nvPr/>
        </p:nvSpPr>
        <p:spPr>
          <a:xfrm>
            <a:off x="781050" y="3874770"/>
            <a:ext cx="12020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model avoids aggressive paywalls while still creating durable revenue through premium, partner, and institutional layers.</a:t>
            </a:r>
          </a:p>
        </p:txBody>
      </p:sp>
      <p:sp>
        <p:nvSpPr>
          <p:cNvPr id="8" name="biz-free">
            <a:extLst>
              <a:ext uri="{FF2B5EF4-FFF2-40B4-BE49-F238E27FC236}">
                <a16:creationId xmlns:a16="http://schemas.microsoft.com/office/drawing/2014/main" id="{C6444F52-2C7B-4AF6-8512-9EFC316E5982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4024313" cy="2617470"/>
          </a:xfrm>
          <a:prstGeom prst="roundRect">
            <a:avLst>
              <a:gd name="adj" fmla="val 2840"/>
            </a:avLst>
          </a:prstGeom>
          <a:solidFill>
            <a:srgbClr val="111217"/>
          </a:solidFill>
        </p:spPr>
      </p:sp>
      <p:sp>
        <p:nvSpPr>
          <p:cNvPr id="9" name="free-core">
            <a:extLst>
              <a:ext uri="{FF2B5EF4-FFF2-40B4-BE49-F238E27FC236}">
                <a16:creationId xmlns:a16="http://schemas.microsoft.com/office/drawing/2014/main" id="{4652E999-5C70-4CA5-9797-C94997560372}"/>
              </a:ext>
            </a:extLst>
          </p:cNvPr>
          <p:cNvSpPr>
            <a:spLocks noGrp="1"/>
          </p:cNvSpPr>
          <p:nvPr/>
        </p:nvSpPr>
        <p:spPr>
          <a:xfrm>
            <a:off x="1066800" y="4808220"/>
            <a:ext cx="34480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 i="0">
                <a:solidFill>
                  <a:srgbClr val="8BFFB8"/>
                </a:solidFill>
              </a:defRPr>
            </a:pPr>
            <a:r>
              <a:rPr sz="2700" b="1" i="0">
                <a:solidFill>
                  <a:srgbClr val="8BFFB8"/>
                </a:solidFill>
              </a:rPr>
              <a:t>Free Core</a:t>
            </a:r>
          </a:p>
        </p:txBody>
      </p:sp>
      <p:sp>
        <p:nvSpPr>
          <p:cNvPr id="10" name="basic-workouts-health-guidance-community-acce">
            <a:extLst>
              <a:ext uri="{FF2B5EF4-FFF2-40B4-BE49-F238E27FC236}">
                <a16:creationId xmlns:a16="http://schemas.microsoft.com/office/drawing/2014/main" id="{70F339AA-B992-47C4-9A21-78CE739B6CF3}"/>
              </a:ext>
            </a:extLst>
          </p:cNvPr>
          <p:cNvSpPr>
            <a:spLocks noGrp="1"/>
          </p:cNvSpPr>
          <p:nvPr/>
        </p:nvSpPr>
        <p:spPr>
          <a:xfrm>
            <a:off x="1066800" y="5379720"/>
            <a:ext cx="344805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Basic workouts, health guidance, community access, and lightweight AI support.</a:t>
            </a:r>
          </a:p>
        </p:txBody>
      </p:sp>
      <p:sp>
        <p:nvSpPr>
          <p:cNvPr id="11" name="biz-premium">
            <a:extLst>
              <a:ext uri="{FF2B5EF4-FFF2-40B4-BE49-F238E27FC236}">
                <a16:creationId xmlns:a16="http://schemas.microsoft.com/office/drawing/2014/main" id="{AB1020F6-E01F-4365-8B4A-BB2712FBDD89}"/>
              </a:ext>
            </a:extLst>
          </p:cNvPr>
          <p:cNvSpPr>
            <a:spLocks noGrp="1"/>
          </p:cNvSpPr>
          <p:nvPr/>
        </p:nvSpPr>
        <p:spPr>
          <a:xfrm>
            <a:off x="5014913" y="4552950"/>
            <a:ext cx="4024313" cy="2617470"/>
          </a:xfrm>
          <a:prstGeom prst="roundRect">
            <a:avLst>
              <a:gd name="adj" fmla="val 2840"/>
            </a:avLst>
          </a:prstGeom>
          <a:solidFill>
            <a:srgbClr val="111217"/>
          </a:solidFill>
        </p:spPr>
      </p:sp>
      <p:sp>
        <p:nvSpPr>
          <p:cNvPr id="12" name="premium-ai">
            <a:extLst>
              <a:ext uri="{FF2B5EF4-FFF2-40B4-BE49-F238E27FC236}">
                <a16:creationId xmlns:a16="http://schemas.microsoft.com/office/drawing/2014/main" id="{755B59B7-D909-4615-A7EC-7A9EC81EB2C4}"/>
              </a:ext>
            </a:extLst>
          </p:cNvPr>
          <p:cNvSpPr>
            <a:spLocks noGrp="1"/>
          </p:cNvSpPr>
          <p:nvPr/>
        </p:nvSpPr>
        <p:spPr>
          <a:xfrm>
            <a:off x="5295900" y="4808220"/>
            <a:ext cx="34480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Premium AI</a:t>
            </a:r>
          </a:p>
        </p:txBody>
      </p:sp>
      <p:sp>
        <p:nvSpPr>
          <p:cNvPr id="13" name="advanced-coaching-personalization-plan-genera">
            <a:extLst>
              <a:ext uri="{FF2B5EF4-FFF2-40B4-BE49-F238E27FC236}">
                <a16:creationId xmlns:a16="http://schemas.microsoft.com/office/drawing/2014/main" id="{2AC0366E-80F1-46BD-B5F0-CCBE3581E57D}"/>
              </a:ext>
            </a:extLst>
          </p:cNvPr>
          <p:cNvSpPr>
            <a:spLocks noGrp="1"/>
          </p:cNvSpPr>
          <p:nvPr/>
        </p:nvSpPr>
        <p:spPr>
          <a:xfrm>
            <a:off x="5295900" y="5379720"/>
            <a:ext cx="344805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Advanced coaching, personalization, plan generation, habit analytics, and deeper memory.</a:t>
            </a:r>
          </a:p>
        </p:txBody>
      </p:sp>
      <p:sp>
        <p:nvSpPr>
          <p:cNvPr id="14" name="biz-b2b">
            <a:extLst>
              <a:ext uri="{FF2B5EF4-FFF2-40B4-BE49-F238E27FC236}">
                <a16:creationId xmlns:a16="http://schemas.microsoft.com/office/drawing/2014/main" id="{44FDC771-D1DC-4C2F-87F8-E4E6CF054ED2}"/>
              </a:ext>
            </a:extLst>
          </p:cNvPr>
          <p:cNvSpPr>
            <a:spLocks noGrp="1"/>
          </p:cNvSpPr>
          <p:nvPr/>
        </p:nvSpPr>
        <p:spPr>
          <a:xfrm>
            <a:off x="9248775" y="4552950"/>
            <a:ext cx="4024313" cy="2617470"/>
          </a:xfrm>
          <a:prstGeom prst="roundRect">
            <a:avLst>
              <a:gd name="adj" fmla="val 2840"/>
            </a:avLst>
          </a:prstGeom>
          <a:solidFill>
            <a:srgbClr val="111217"/>
          </a:solidFill>
        </p:spPr>
      </p:sp>
      <p:sp>
        <p:nvSpPr>
          <p:cNvPr id="15" name="b2b-gyms">
            <a:extLst>
              <a:ext uri="{FF2B5EF4-FFF2-40B4-BE49-F238E27FC236}">
                <a16:creationId xmlns:a16="http://schemas.microsoft.com/office/drawing/2014/main" id="{AC70BB18-F9B3-4849-BD34-C843611B240E}"/>
              </a:ext>
            </a:extLst>
          </p:cNvPr>
          <p:cNvSpPr>
            <a:spLocks noGrp="1"/>
          </p:cNvSpPr>
          <p:nvPr/>
        </p:nvSpPr>
        <p:spPr>
          <a:xfrm>
            <a:off x="9544050" y="4808220"/>
            <a:ext cx="34480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 i="0">
                <a:solidFill>
                  <a:srgbClr val="54E4FF"/>
                </a:solidFill>
              </a:defRPr>
            </a:pPr>
            <a:r>
              <a:rPr sz="2700" b="1" i="0">
                <a:solidFill>
                  <a:srgbClr val="54E4FF"/>
                </a:solidFill>
              </a:rPr>
              <a:t>B2B / Gyms</a:t>
            </a:r>
          </a:p>
        </p:txBody>
      </p:sp>
      <p:sp>
        <p:nvSpPr>
          <p:cNvPr id="16" name="gym-dashboards-trainer-tools-student-fitness-">
            <a:extLst>
              <a:ext uri="{FF2B5EF4-FFF2-40B4-BE49-F238E27FC236}">
                <a16:creationId xmlns:a16="http://schemas.microsoft.com/office/drawing/2014/main" id="{E835CCE8-4873-44DF-BC7E-574DEC7876EB}"/>
              </a:ext>
            </a:extLst>
          </p:cNvPr>
          <p:cNvSpPr>
            <a:spLocks noGrp="1"/>
          </p:cNvSpPr>
          <p:nvPr/>
        </p:nvSpPr>
        <p:spPr>
          <a:xfrm>
            <a:off x="9544050" y="5379720"/>
            <a:ext cx="344805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Gym dashboards, trainer tools, student fitness programs, and institutional wellness.</a:t>
            </a:r>
          </a:p>
        </p:txBody>
      </p:sp>
      <p:sp>
        <p:nvSpPr>
          <p:cNvPr id="17" name="biz-ecosystem">
            <a:extLst>
              <a:ext uri="{FF2B5EF4-FFF2-40B4-BE49-F238E27FC236}">
                <a16:creationId xmlns:a16="http://schemas.microsoft.com/office/drawing/2014/main" id="{1E684071-B6B6-4078-8D0A-977070EC548C}"/>
              </a:ext>
            </a:extLst>
          </p:cNvPr>
          <p:cNvSpPr>
            <a:spLocks noGrp="1"/>
          </p:cNvSpPr>
          <p:nvPr/>
        </p:nvSpPr>
        <p:spPr>
          <a:xfrm>
            <a:off x="13482638" y="4552950"/>
            <a:ext cx="4024313" cy="2617470"/>
          </a:xfrm>
          <a:prstGeom prst="roundRect">
            <a:avLst>
              <a:gd name="adj" fmla="val 2840"/>
            </a:avLst>
          </a:prstGeom>
          <a:solidFill>
            <a:srgbClr val="111217"/>
          </a:solidFill>
        </p:spPr>
      </p:sp>
      <p:sp>
        <p:nvSpPr>
          <p:cNvPr id="18" name="ai-ecosystem">
            <a:extLst>
              <a:ext uri="{FF2B5EF4-FFF2-40B4-BE49-F238E27FC236}">
                <a16:creationId xmlns:a16="http://schemas.microsoft.com/office/drawing/2014/main" id="{820C8D27-2A37-49A0-877D-0C5F79DD72B8}"/>
              </a:ext>
            </a:extLst>
          </p:cNvPr>
          <p:cNvSpPr>
            <a:spLocks noGrp="1"/>
          </p:cNvSpPr>
          <p:nvPr/>
        </p:nvSpPr>
        <p:spPr>
          <a:xfrm>
            <a:off x="13773150" y="4808220"/>
            <a:ext cx="34480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 i="0">
                <a:solidFill>
                  <a:srgbClr val="FFCE73"/>
                </a:solidFill>
              </a:defRPr>
            </a:pPr>
            <a:r>
              <a:rPr sz="2700" b="1" i="0">
                <a:solidFill>
                  <a:srgbClr val="FFCE73"/>
                </a:solidFill>
              </a:rPr>
              <a:t>AI Ecosystem</a:t>
            </a:r>
          </a:p>
        </p:txBody>
      </p:sp>
      <p:sp>
        <p:nvSpPr>
          <p:cNvPr id="19" name="creator-programs-wearable-integrations-ai-gen">
            <a:extLst>
              <a:ext uri="{FF2B5EF4-FFF2-40B4-BE49-F238E27FC236}">
                <a16:creationId xmlns:a16="http://schemas.microsoft.com/office/drawing/2014/main" id="{18B365F8-59BF-47EE-99D4-7B356F57BD60}"/>
              </a:ext>
            </a:extLst>
          </p:cNvPr>
          <p:cNvSpPr>
            <a:spLocks noGrp="1"/>
          </p:cNvSpPr>
          <p:nvPr/>
        </p:nvSpPr>
        <p:spPr>
          <a:xfrm>
            <a:off x="13773150" y="5379720"/>
            <a:ext cx="344805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Creator programs, wearable integrations, AI-generated content, and technical licensing.</a:t>
            </a:r>
          </a:p>
        </p:txBody>
      </p:sp>
    </p:spTree>
    <p:extLst>
      <p:ext uri="{BB962C8B-B14F-4D97-AF65-F5344CB8AC3E}">
        <p14:creationId xmlns:p14="http://schemas.microsoft.com/office/powerpoint/2010/main" val="1488399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g">
            <a:extLst>
              <a:ext uri="{FF2B5EF4-FFF2-40B4-BE49-F238E27FC236}">
                <a16:creationId xmlns:a16="http://schemas.microsoft.com/office/drawing/2014/main" id="{523B3D74-561B-46D7-B5AF-099DA678F5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06"/>
          </a:solidFill>
        </p:spPr>
      </p:sp>
      <p:sp>
        <p:nvSpPr>
          <p:cNvPr id="2" name="top-glow">
            <a:extLst>
              <a:ext uri="{FF2B5EF4-FFF2-40B4-BE49-F238E27FC236}">
                <a16:creationId xmlns:a16="http://schemas.microsoft.com/office/drawing/2014/main" id="{341D6577-B24B-46E3-89FA-923F004E18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14350"/>
          </a:xfrm>
          <a:prstGeom prst="rect">
            <a:avLst/>
          </a:prstGeom>
          <a:solidFill>
            <a:srgbClr val="55070B"/>
          </a:solidFill>
        </p:spPr>
      </p:sp>
      <p:sp>
        <p:nvSpPr>
          <p:cNvPr id="3" name="bottom-line">
            <a:extLst>
              <a:ext uri="{FF2B5EF4-FFF2-40B4-BE49-F238E27FC236}">
                <a16:creationId xmlns:a16="http://schemas.microsoft.com/office/drawing/2014/main" id="{752A2A8C-70E8-47D0-987A-6BB9DDED4B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4" name="chip-dedicated-philosophy">
            <a:extLst>
              <a:ext uri="{FF2B5EF4-FFF2-40B4-BE49-F238E27FC236}">
                <a16:creationId xmlns:a16="http://schemas.microsoft.com/office/drawing/2014/main" id="{E0B375CA-1971-435F-A401-008119721E21}"/>
              </a:ext>
            </a:extLst>
          </p:cNvPr>
          <p:cNvSpPr>
            <a:spLocks noGrp="1"/>
          </p:cNvSpPr>
          <p:nvPr/>
        </p:nvSpPr>
        <p:spPr>
          <a:xfrm>
            <a:off x="914400" y="685800"/>
            <a:ext cx="3219450" cy="396240"/>
          </a:xfrm>
          <a:prstGeom prst="roundRect">
            <a:avLst>
              <a:gd name="adj" fmla="val 50000"/>
            </a:avLst>
          </a:prstGeom>
          <a:solidFill>
            <a:srgbClr val="14151A"/>
          </a:solidFill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61C120-60D6-4A1E-A1EA-BCAD47F4A854}"/>
              </a:ext>
            </a:extLst>
          </p:cNvPr>
          <p:cNvSpPr>
            <a:spLocks noGrp="1"/>
          </p:cNvSpPr>
          <p:nvPr/>
        </p:nvSpPr>
        <p:spPr>
          <a:xfrm>
            <a:off x="1123950" y="781050"/>
            <a:ext cx="28003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F2E3A"/>
                </a:solidFill>
              </a:defRPr>
            </a:pPr>
            <a:r>
              <a:rPr sz="1350" b="1">
                <a:solidFill>
                  <a:srgbClr val="FF2E3A"/>
                </a:solidFill>
              </a:rPr>
              <a:t>Dedicated Philosophy</a:t>
            </a:r>
          </a:p>
        </p:txBody>
      </p:sp>
      <p:sp>
        <p:nvSpPr>
          <p:cNvPr id="6" name="accessible-ai-philosophy">
            <a:extLst>
              <a:ext uri="{FF2B5EF4-FFF2-40B4-BE49-F238E27FC236}">
                <a16:creationId xmlns:a16="http://schemas.microsoft.com/office/drawing/2014/main" id="{5E3CA5EE-1E91-49E8-B5FB-61FDB53C5FD3}"/>
              </a:ext>
            </a:extLst>
          </p:cNvPr>
          <p:cNvSpPr>
            <a:spLocks noGrp="1"/>
          </p:cNvSpPr>
          <p:nvPr/>
        </p:nvSpPr>
        <p:spPr>
          <a:xfrm>
            <a:off x="914400" y="1333500"/>
            <a:ext cx="6381750" cy="1428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950" b="1" i="0">
                <a:solidFill>
                  <a:srgbClr val="F8F5EF"/>
                </a:solidFill>
              </a:defRPr>
            </a:pPr>
            <a:r>
              <a:rPr sz="4950" b="1" i="0">
                <a:solidFill>
                  <a:srgbClr val="F8F5EF"/>
                </a:solidFill>
              </a:rPr>
              <a:t>Accessible AI Philosophy</a:t>
            </a:r>
          </a:p>
        </p:txBody>
      </p:sp>
      <p:sp>
        <p:nvSpPr>
          <p:cNvPr id="7" name="ai-for-human-improvement-not-ai-for-exploitat">
            <a:extLst>
              <a:ext uri="{FF2B5EF4-FFF2-40B4-BE49-F238E27FC236}">
                <a16:creationId xmlns:a16="http://schemas.microsoft.com/office/drawing/2014/main" id="{B013D4EA-8AE0-4770-AD74-5E939D758430}"/>
              </a:ext>
            </a:extLst>
          </p:cNvPr>
          <p:cNvSpPr>
            <a:spLocks noGrp="1"/>
          </p:cNvSpPr>
          <p:nvPr/>
        </p:nvSpPr>
        <p:spPr>
          <a:xfrm>
            <a:off x="914400" y="3009900"/>
            <a:ext cx="7715250" cy="971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AI for human improvement. Not AI for exploitation.</a:t>
            </a:r>
          </a:p>
        </p:txBody>
      </p:sp>
      <p:sp>
        <p:nvSpPr>
          <p:cNvPr id="8" name="access-1">
            <a:extLst>
              <a:ext uri="{FF2B5EF4-FFF2-40B4-BE49-F238E27FC236}">
                <a16:creationId xmlns:a16="http://schemas.microsoft.com/office/drawing/2014/main" id="{871CE236-CC4C-4EB0-8208-27EF1EE6257E}"/>
              </a:ext>
            </a:extLst>
          </p:cNvPr>
          <p:cNvSpPr>
            <a:spLocks noGrp="1"/>
          </p:cNvSpPr>
          <p:nvPr/>
        </p:nvSpPr>
        <p:spPr>
          <a:xfrm>
            <a:off x="914400" y="4225290"/>
            <a:ext cx="5321300" cy="1447800"/>
          </a:xfrm>
          <a:prstGeom prst="roundRect">
            <a:avLst>
              <a:gd name="adj" fmla="val 7895"/>
            </a:avLst>
          </a:prstGeom>
          <a:solidFill>
            <a:srgbClr val="111217"/>
          </a:solidFill>
        </p:spPr>
      </p:sp>
      <p:sp>
        <p:nvSpPr>
          <p:cNvPr id="9" name="core-health-guidance-should-remain-accessible">
            <a:extLst>
              <a:ext uri="{FF2B5EF4-FFF2-40B4-BE49-F238E27FC236}">
                <a16:creationId xmlns:a16="http://schemas.microsoft.com/office/drawing/2014/main" id="{78C114EE-7AA0-4759-B46D-968FEAB74C7B}"/>
              </a:ext>
            </a:extLst>
          </p:cNvPr>
          <p:cNvSpPr>
            <a:spLocks noGrp="1"/>
          </p:cNvSpPr>
          <p:nvPr/>
        </p:nvSpPr>
        <p:spPr>
          <a:xfrm>
            <a:off x="1200150" y="4476750"/>
            <a:ext cx="47434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 i="0">
                <a:solidFill>
                  <a:srgbClr val="F8F5EF"/>
                </a:solidFill>
              </a:defRPr>
            </a:pPr>
            <a:r>
              <a:rPr sz="2025" b="1" i="0">
                <a:solidFill>
                  <a:srgbClr val="F8F5EF"/>
                </a:solidFill>
              </a:rPr>
              <a:t>Core health guidance should remain accessible.</a:t>
            </a:r>
          </a:p>
        </p:txBody>
      </p:sp>
      <p:sp>
        <p:nvSpPr>
          <p:cNvPr id="10" name="access-2">
            <a:extLst>
              <a:ext uri="{FF2B5EF4-FFF2-40B4-BE49-F238E27FC236}">
                <a16:creationId xmlns:a16="http://schemas.microsoft.com/office/drawing/2014/main" id="{0CE2EAF8-D8B1-4290-A54B-D84B3FD9662F}"/>
              </a:ext>
            </a:extLst>
          </p:cNvPr>
          <p:cNvSpPr>
            <a:spLocks noGrp="1"/>
          </p:cNvSpPr>
          <p:nvPr/>
        </p:nvSpPr>
        <p:spPr>
          <a:xfrm>
            <a:off x="6483350" y="4225290"/>
            <a:ext cx="5321300" cy="1447800"/>
          </a:xfrm>
          <a:prstGeom prst="roundRect">
            <a:avLst>
              <a:gd name="adj" fmla="val 7895"/>
            </a:avLst>
          </a:prstGeom>
          <a:solidFill>
            <a:srgbClr val="111217"/>
          </a:solidFill>
        </p:spPr>
      </p:sp>
      <p:sp>
        <p:nvSpPr>
          <p:cNvPr id="11" name="ai-wellness-systems-should-not-be-hidden-behi">
            <a:extLst>
              <a:ext uri="{FF2B5EF4-FFF2-40B4-BE49-F238E27FC236}">
                <a16:creationId xmlns:a16="http://schemas.microsoft.com/office/drawing/2014/main" id="{8D3369EC-5621-4727-9CD6-5E98812E1D5F}"/>
              </a:ext>
            </a:extLst>
          </p:cNvPr>
          <p:cNvSpPr>
            <a:spLocks noGrp="1"/>
          </p:cNvSpPr>
          <p:nvPr/>
        </p:nvSpPr>
        <p:spPr>
          <a:xfrm>
            <a:off x="6762750" y="4476750"/>
            <a:ext cx="47434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 i="0">
                <a:solidFill>
                  <a:srgbClr val="F8F5EF"/>
                </a:solidFill>
              </a:defRPr>
            </a:pPr>
            <a:r>
              <a:rPr sz="2025" b="1" i="0">
                <a:solidFill>
                  <a:srgbClr val="F8F5EF"/>
                </a:solidFill>
              </a:rPr>
              <a:t>AI wellness systems should not be hidden behind aggressive subscriptions.</a:t>
            </a:r>
          </a:p>
        </p:txBody>
      </p:sp>
      <p:sp>
        <p:nvSpPr>
          <p:cNvPr id="12" name="access-3">
            <a:extLst>
              <a:ext uri="{FF2B5EF4-FFF2-40B4-BE49-F238E27FC236}">
                <a16:creationId xmlns:a16="http://schemas.microsoft.com/office/drawing/2014/main" id="{3C132982-7CF3-41B8-898C-1C6C85629FAE}"/>
              </a:ext>
            </a:extLst>
          </p:cNvPr>
          <p:cNvSpPr>
            <a:spLocks noGrp="1"/>
          </p:cNvSpPr>
          <p:nvPr/>
        </p:nvSpPr>
        <p:spPr>
          <a:xfrm>
            <a:off x="12052300" y="4225290"/>
            <a:ext cx="5321300" cy="1447800"/>
          </a:xfrm>
          <a:prstGeom prst="roundRect">
            <a:avLst>
              <a:gd name="adj" fmla="val 7895"/>
            </a:avLst>
          </a:prstGeom>
          <a:solidFill>
            <a:srgbClr val="111217"/>
          </a:solidFill>
        </p:spPr>
      </p:sp>
      <p:sp>
        <p:nvSpPr>
          <p:cNvPr id="13" name="scale-should-come-from-partnerships-innovatio">
            <a:extLst>
              <a:ext uri="{FF2B5EF4-FFF2-40B4-BE49-F238E27FC236}">
                <a16:creationId xmlns:a16="http://schemas.microsoft.com/office/drawing/2014/main" id="{A3487D62-F284-48E2-8F68-D3B6101CA04D}"/>
              </a:ext>
            </a:extLst>
          </p:cNvPr>
          <p:cNvSpPr>
            <a:spLocks noGrp="1"/>
          </p:cNvSpPr>
          <p:nvPr/>
        </p:nvSpPr>
        <p:spPr>
          <a:xfrm>
            <a:off x="12344400" y="4476750"/>
            <a:ext cx="47434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 i="0">
                <a:solidFill>
                  <a:srgbClr val="F8F5EF"/>
                </a:solidFill>
              </a:defRPr>
            </a:pPr>
            <a:r>
              <a:rPr sz="2025" b="1" i="0">
                <a:solidFill>
                  <a:srgbClr val="F8F5EF"/>
                </a:solidFill>
              </a:rPr>
              <a:t>Scale should come from partnerships, innovation, infrastructure, and institutions.</a:t>
            </a:r>
          </a:p>
        </p:txBody>
      </p:sp>
      <p:sp>
        <p:nvSpPr>
          <p:cNvPr id="14" name="grindhaus-ai-aims-to-grow-through-ecosystem-p">
            <a:extLst>
              <a:ext uri="{FF2B5EF4-FFF2-40B4-BE49-F238E27FC236}">
                <a16:creationId xmlns:a16="http://schemas.microsoft.com/office/drawing/2014/main" id="{66D37114-FCEE-416D-9D58-9D94DD1A41D0}"/>
              </a:ext>
            </a:extLst>
          </p:cNvPr>
          <p:cNvSpPr>
            <a:spLocks noGrp="1"/>
          </p:cNvSpPr>
          <p:nvPr/>
        </p:nvSpPr>
        <p:spPr>
          <a:xfrm>
            <a:off x="914400" y="5924550"/>
            <a:ext cx="1381125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 i="0">
                <a:solidFill>
                  <a:srgbClr val="C8C2B8"/>
                </a:solidFill>
              </a:defRPr>
            </a:pPr>
            <a:r>
              <a:rPr sz="2100" b="0" i="0">
                <a:solidFill>
                  <a:srgbClr val="C8C2B8"/>
                </a:solidFill>
              </a:rPr>
              <a:t>GrindHaus AI aims to grow through ecosystem partnerships, technical infrastructure, institutional collaboration, and responsible innovation.</a:t>
            </a:r>
          </a:p>
        </p:txBody>
      </p:sp>
    </p:spTree>
    <p:extLst>
      <p:ext uri="{BB962C8B-B14F-4D97-AF65-F5344CB8AC3E}">
        <p14:creationId xmlns:p14="http://schemas.microsoft.com/office/powerpoint/2010/main" val="1381515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bg">
            <a:extLst>
              <a:ext uri="{FF2B5EF4-FFF2-40B4-BE49-F238E27FC236}">
                <a16:creationId xmlns:a16="http://schemas.microsoft.com/office/drawing/2014/main" id="{3F042FCD-7BB5-4E4A-A590-F074BA772F06}"/>
              </a:ext>
            </a:extLst>
          </p:cNvPr>
          <p:cNvSpPr>
            <a:spLocks noGrp="1"/>
          </p:cNvSpPr>
          <p:nvPr/>
        </p:nvSpPr>
        <p:spPr>
          <a:xfrm>
            <a:off x="0" y="38100"/>
            <a:ext cx="18288000" cy="10287000"/>
          </a:xfrm>
          <a:prstGeom prst="rect">
            <a:avLst/>
          </a:prstGeom>
          <a:solidFill>
            <a:srgbClr val="050506"/>
          </a:solidFill>
        </p:spPr>
      </p:sp>
      <p:sp>
        <p:nvSpPr>
          <p:cNvPr id="2" name="top-glow">
            <a:extLst>
              <a:ext uri="{FF2B5EF4-FFF2-40B4-BE49-F238E27FC236}">
                <a16:creationId xmlns:a16="http://schemas.microsoft.com/office/drawing/2014/main" id="{97F9958F-A022-48DC-A84E-446A7E2E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14350"/>
          </a:xfrm>
          <a:prstGeom prst="rect">
            <a:avLst/>
          </a:prstGeom>
          <a:solidFill>
            <a:srgbClr val="55070B"/>
          </a:solidFill>
        </p:spPr>
      </p:sp>
      <p:sp>
        <p:nvSpPr>
          <p:cNvPr id="3" name="bottom-line">
            <a:extLst>
              <a:ext uri="{FF2B5EF4-FFF2-40B4-BE49-F238E27FC236}">
                <a16:creationId xmlns:a16="http://schemas.microsoft.com/office/drawing/2014/main" id="{BDC63B7D-D5F6-48C7-9013-1A764220CF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1347FEFD-62DB-4F3C-B493-631E468E20E7}"/>
              </a:ext>
            </a:extLst>
          </p:cNvPr>
          <p:cNvSpPr>
            <a:spLocks noGrp="1"/>
          </p:cNvSpPr>
          <p:nvPr/>
        </p:nvSpPr>
        <p:spPr>
          <a:xfrm>
            <a:off x="781050" y="742950"/>
            <a:ext cx="666750" cy="47625"/>
          </a:xfrm>
          <a:prstGeom prst="rect">
            <a:avLst/>
          </a:prstGeom>
          <a:solidFill>
            <a:srgbClr val="E50914"/>
          </a:solidFill>
          <a:ln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2F75BAF3-AEEE-4613-A51C-65B6957D2B8B}"/>
              </a:ext>
            </a:extLst>
          </p:cNvPr>
          <p:cNvSpPr>
            <a:spLocks noGrp="1"/>
          </p:cNvSpPr>
          <p:nvPr/>
        </p:nvSpPr>
        <p:spPr>
          <a:xfrm>
            <a:off x="1581150" y="666750"/>
            <a:ext cx="102870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 dirty="0">
                <a:solidFill>
                  <a:srgbClr val="FF2E3A"/>
                </a:solidFill>
              </a:rPr>
              <a:t>ROADMAP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6A7AF875-8D95-45ED-AC13-B7164B83088D}"/>
              </a:ext>
            </a:extLst>
          </p:cNvPr>
          <p:cNvSpPr>
            <a:spLocks noGrp="1"/>
          </p:cNvSpPr>
          <p:nvPr/>
        </p:nvSpPr>
        <p:spPr>
          <a:xfrm>
            <a:off x="781050" y="1028700"/>
            <a:ext cx="9772650" cy="1333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 realistic path from MVP to AI ecosystem.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726A517B-75DF-4674-9BFB-ED4ED2A7A97C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82486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Each phase increases technical depth, user value, and institutional research potential.</a:t>
            </a:r>
          </a:p>
        </p:txBody>
      </p:sp>
      <p:sp>
        <p:nvSpPr>
          <p:cNvPr id="8" name="phase-chip-0">
            <a:extLst>
              <a:ext uri="{FF2B5EF4-FFF2-40B4-BE49-F238E27FC236}">
                <a16:creationId xmlns:a16="http://schemas.microsoft.com/office/drawing/2014/main" id="{7E66232A-04D7-4C75-B5E0-3FDE88A02389}"/>
              </a:ext>
            </a:extLst>
          </p:cNvPr>
          <p:cNvSpPr>
            <a:spLocks noGrp="1"/>
          </p:cNvSpPr>
          <p:nvPr/>
        </p:nvSpPr>
        <p:spPr>
          <a:xfrm>
            <a:off x="781050" y="3848100"/>
            <a:ext cx="1428750" cy="742950"/>
          </a:xfrm>
          <a:prstGeom prst="roundRect">
            <a:avLst>
              <a:gd name="adj" fmla="val 50000"/>
            </a:avLst>
          </a:prstGeom>
          <a:solidFill>
            <a:srgbClr val="E50914"/>
          </a:solidFill>
        </p:spPr>
      </p:sp>
      <p:sp>
        <p:nvSpPr>
          <p:cNvPr id="9" name="phase-1">
            <a:extLst>
              <a:ext uri="{FF2B5EF4-FFF2-40B4-BE49-F238E27FC236}">
                <a16:creationId xmlns:a16="http://schemas.microsoft.com/office/drawing/2014/main" id="{2EFABED7-356C-4F8E-8538-E5FA920CB9B0}"/>
              </a:ext>
            </a:extLst>
          </p:cNvPr>
          <p:cNvSpPr>
            <a:spLocks noGrp="1"/>
          </p:cNvSpPr>
          <p:nvPr/>
        </p:nvSpPr>
        <p:spPr>
          <a:xfrm>
            <a:off x="990600" y="4019550"/>
            <a:ext cx="1009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1</a:t>
            </a:r>
          </a:p>
        </p:txBody>
      </p:sp>
      <p:sp>
        <p:nvSpPr>
          <p:cNvPr id="10" name="phase-card-0">
            <a:extLst>
              <a:ext uri="{FF2B5EF4-FFF2-40B4-BE49-F238E27FC236}">
                <a16:creationId xmlns:a16="http://schemas.microsoft.com/office/drawing/2014/main" id="{1D92071E-5E6F-45D1-B4B7-A4A58E655ED0}"/>
              </a:ext>
            </a:extLst>
          </p:cNvPr>
          <p:cNvSpPr>
            <a:spLocks noGrp="1"/>
          </p:cNvSpPr>
          <p:nvPr/>
        </p:nvSpPr>
        <p:spPr>
          <a:xfrm>
            <a:off x="2381250" y="3790950"/>
            <a:ext cx="15125700" cy="876300"/>
          </a:xfrm>
          <a:prstGeom prst="roundRect">
            <a:avLst>
              <a:gd name="adj" fmla="val 13043"/>
            </a:avLst>
          </a:prstGeom>
          <a:solidFill>
            <a:srgbClr val="160B0D"/>
          </a:solidFill>
        </p:spPr>
      </p:sp>
      <p:sp>
        <p:nvSpPr>
          <p:cNvPr id="11" name="frontend-platform">
            <a:extLst>
              <a:ext uri="{FF2B5EF4-FFF2-40B4-BE49-F238E27FC236}">
                <a16:creationId xmlns:a16="http://schemas.microsoft.com/office/drawing/2014/main" id="{23F62555-74E3-451B-ADAF-06A0AA52C559}"/>
              </a:ext>
            </a:extLst>
          </p:cNvPr>
          <p:cNvSpPr>
            <a:spLocks noGrp="1"/>
          </p:cNvSpPr>
          <p:nvPr/>
        </p:nvSpPr>
        <p:spPr>
          <a:xfrm>
            <a:off x="2609850" y="4038600"/>
            <a:ext cx="40957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Frontend Platform</a:t>
            </a:r>
          </a:p>
        </p:txBody>
      </p:sp>
      <p:sp>
        <p:nvSpPr>
          <p:cNvPr id="12" name="landing-routes-workout-nutrition-community-ui">
            <a:extLst>
              <a:ext uri="{FF2B5EF4-FFF2-40B4-BE49-F238E27FC236}">
                <a16:creationId xmlns:a16="http://schemas.microsoft.com/office/drawing/2014/main" id="{FBBCA150-7110-4179-BE25-5BB820B98AE3}"/>
              </a:ext>
            </a:extLst>
          </p:cNvPr>
          <p:cNvSpPr>
            <a:spLocks noGrp="1"/>
          </p:cNvSpPr>
          <p:nvPr/>
        </p:nvSpPr>
        <p:spPr>
          <a:xfrm>
            <a:off x="6972300" y="4095750"/>
            <a:ext cx="6591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Landing, routes, workout/nutrition/community UI, auth-ready product.</a:t>
            </a:r>
          </a:p>
        </p:txBody>
      </p:sp>
      <p:sp>
        <p:nvSpPr>
          <p:cNvPr id="13" name="phase-chip-1">
            <a:extLst>
              <a:ext uri="{FF2B5EF4-FFF2-40B4-BE49-F238E27FC236}">
                <a16:creationId xmlns:a16="http://schemas.microsoft.com/office/drawing/2014/main" id="{2CE8185F-0090-4E63-8E88-F15CF23667BD}"/>
              </a:ext>
            </a:extLst>
          </p:cNvPr>
          <p:cNvSpPr>
            <a:spLocks noGrp="1"/>
          </p:cNvSpPr>
          <p:nvPr/>
        </p:nvSpPr>
        <p:spPr>
          <a:xfrm>
            <a:off x="781050" y="5010150"/>
            <a:ext cx="1428750" cy="742950"/>
          </a:xfrm>
          <a:prstGeom prst="roundRect">
            <a:avLst>
              <a:gd name="adj" fmla="val 50000"/>
            </a:avLst>
          </a:prstGeom>
          <a:solidFill>
            <a:srgbClr val="E50914"/>
          </a:solidFill>
        </p:spPr>
      </p:sp>
      <p:sp>
        <p:nvSpPr>
          <p:cNvPr id="14" name="phase-2">
            <a:extLst>
              <a:ext uri="{FF2B5EF4-FFF2-40B4-BE49-F238E27FC236}">
                <a16:creationId xmlns:a16="http://schemas.microsoft.com/office/drawing/2014/main" id="{D395BF10-B82B-4076-B050-D397CF011CC4}"/>
              </a:ext>
            </a:extLst>
          </p:cNvPr>
          <p:cNvSpPr>
            <a:spLocks noGrp="1"/>
          </p:cNvSpPr>
          <p:nvPr/>
        </p:nvSpPr>
        <p:spPr>
          <a:xfrm>
            <a:off x="990600" y="5181600"/>
            <a:ext cx="1009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2</a:t>
            </a:r>
          </a:p>
        </p:txBody>
      </p:sp>
      <p:sp>
        <p:nvSpPr>
          <p:cNvPr id="15" name="phase-card-1">
            <a:extLst>
              <a:ext uri="{FF2B5EF4-FFF2-40B4-BE49-F238E27FC236}">
                <a16:creationId xmlns:a16="http://schemas.microsoft.com/office/drawing/2014/main" id="{3EF0FFB4-7F88-42BF-9E10-40ECCF3C2F8E}"/>
              </a:ext>
            </a:extLst>
          </p:cNvPr>
          <p:cNvSpPr>
            <a:spLocks noGrp="1"/>
          </p:cNvSpPr>
          <p:nvPr/>
        </p:nvSpPr>
        <p:spPr>
          <a:xfrm>
            <a:off x="2381250" y="4953000"/>
            <a:ext cx="15125700" cy="876300"/>
          </a:xfrm>
          <a:prstGeom prst="roundRect">
            <a:avLst>
              <a:gd name="adj" fmla="val 13043"/>
            </a:avLst>
          </a:prstGeom>
          <a:solidFill>
            <a:srgbClr val="160B0D"/>
          </a:solidFill>
        </p:spPr>
      </p:sp>
      <p:sp>
        <p:nvSpPr>
          <p:cNvPr id="16" name="ai-companion">
            <a:extLst>
              <a:ext uri="{FF2B5EF4-FFF2-40B4-BE49-F238E27FC236}">
                <a16:creationId xmlns:a16="http://schemas.microsoft.com/office/drawing/2014/main" id="{8644D8F1-FE7E-48DF-A5CF-F7FD595554B7}"/>
              </a:ext>
            </a:extLst>
          </p:cNvPr>
          <p:cNvSpPr>
            <a:spLocks noGrp="1"/>
          </p:cNvSpPr>
          <p:nvPr/>
        </p:nvSpPr>
        <p:spPr>
          <a:xfrm>
            <a:off x="2609850" y="5200650"/>
            <a:ext cx="40957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AI Companion</a:t>
            </a:r>
          </a:p>
        </p:txBody>
      </p:sp>
      <p:sp>
        <p:nvSpPr>
          <p:cNvPr id="17" name="memory-chat-habit-tracking-reminders-dashboar">
            <a:extLst>
              <a:ext uri="{FF2B5EF4-FFF2-40B4-BE49-F238E27FC236}">
                <a16:creationId xmlns:a16="http://schemas.microsoft.com/office/drawing/2014/main" id="{3653C5B8-0C22-4CB9-91D8-7BCDF44F56FE}"/>
              </a:ext>
            </a:extLst>
          </p:cNvPr>
          <p:cNvSpPr>
            <a:spLocks noGrp="1"/>
          </p:cNvSpPr>
          <p:nvPr/>
        </p:nvSpPr>
        <p:spPr>
          <a:xfrm>
            <a:off x="6972300" y="5124450"/>
            <a:ext cx="63436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Memory, chat, habit tracking, reminders, dashboard personalization.</a:t>
            </a:r>
          </a:p>
        </p:txBody>
      </p:sp>
      <p:sp>
        <p:nvSpPr>
          <p:cNvPr id="18" name="phase-chip-2">
            <a:extLst>
              <a:ext uri="{FF2B5EF4-FFF2-40B4-BE49-F238E27FC236}">
                <a16:creationId xmlns:a16="http://schemas.microsoft.com/office/drawing/2014/main" id="{1CA6BFBB-A51E-405D-A98A-562BF0C0AA2C}"/>
              </a:ext>
            </a:extLst>
          </p:cNvPr>
          <p:cNvSpPr>
            <a:spLocks noGrp="1"/>
          </p:cNvSpPr>
          <p:nvPr/>
        </p:nvSpPr>
        <p:spPr>
          <a:xfrm>
            <a:off x="781050" y="6172200"/>
            <a:ext cx="1428750" cy="742950"/>
          </a:xfrm>
          <a:prstGeom prst="roundRect">
            <a:avLst>
              <a:gd name="adj" fmla="val 50000"/>
            </a:avLst>
          </a:prstGeom>
          <a:solidFill>
            <a:srgbClr val="17191F"/>
          </a:solidFill>
        </p:spPr>
      </p:sp>
      <p:sp>
        <p:nvSpPr>
          <p:cNvPr id="19" name="phase-3">
            <a:extLst>
              <a:ext uri="{FF2B5EF4-FFF2-40B4-BE49-F238E27FC236}">
                <a16:creationId xmlns:a16="http://schemas.microsoft.com/office/drawing/2014/main" id="{5043F073-6CFC-4BB3-BC9A-C4D422ABB558}"/>
              </a:ext>
            </a:extLst>
          </p:cNvPr>
          <p:cNvSpPr>
            <a:spLocks noGrp="1"/>
          </p:cNvSpPr>
          <p:nvPr/>
        </p:nvSpPr>
        <p:spPr>
          <a:xfrm>
            <a:off x="990600" y="6343650"/>
            <a:ext cx="1009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3</a:t>
            </a:r>
          </a:p>
        </p:txBody>
      </p:sp>
      <p:sp>
        <p:nvSpPr>
          <p:cNvPr id="20" name="phase-card-2">
            <a:extLst>
              <a:ext uri="{FF2B5EF4-FFF2-40B4-BE49-F238E27FC236}">
                <a16:creationId xmlns:a16="http://schemas.microsoft.com/office/drawing/2014/main" id="{72AF1C15-EB21-49AC-A56A-C355C333FCB6}"/>
              </a:ext>
            </a:extLst>
          </p:cNvPr>
          <p:cNvSpPr>
            <a:spLocks noGrp="1"/>
          </p:cNvSpPr>
          <p:nvPr/>
        </p:nvSpPr>
        <p:spPr>
          <a:xfrm>
            <a:off x="2381250" y="6115050"/>
            <a:ext cx="15125700" cy="876300"/>
          </a:xfrm>
          <a:prstGeom prst="roundRect">
            <a:avLst>
              <a:gd name="adj" fmla="val 13043"/>
            </a:avLst>
          </a:prstGeom>
          <a:solidFill>
            <a:srgbClr val="111217"/>
          </a:solidFill>
        </p:spPr>
      </p:sp>
      <p:sp>
        <p:nvSpPr>
          <p:cNvPr id="21" name="custom-model-research">
            <a:extLst>
              <a:ext uri="{FF2B5EF4-FFF2-40B4-BE49-F238E27FC236}">
                <a16:creationId xmlns:a16="http://schemas.microsoft.com/office/drawing/2014/main" id="{EE0662C4-8BDB-4928-BDE4-9AB0355C7365}"/>
              </a:ext>
            </a:extLst>
          </p:cNvPr>
          <p:cNvSpPr>
            <a:spLocks noGrp="1"/>
          </p:cNvSpPr>
          <p:nvPr/>
        </p:nvSpPr>
        <p:spPr>
          <a:xfrm>
            <a:off x="2609850" y="6362700"/>
            <a:ext cx="40957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Custom Model Research</a:t>
            </a:r>
          </a:p>
        </p:txBody>
      </p:sp>
      <p:sp>
        <p:nvSpPr>
          <p:cNvPr id="22" name="dataset-generation-dual-mode-routing-transfor">
            <a:extLst>
              <a:ext uri="{FF2B5EF4-FFF2-40B4-BE49-F238E27FC236}">
                <a16:creationId xmlns:a16="http://schemas.microsoft.com/office/drawing/2014/main" id="{5BCBD80A-A852-4A6A-8372-99696C659603}"/>
              </a:ext>
            </a:extLst>
          </p:cNvPr>
          <p:cNvSpPr>
            <a:spLocks noGrp="1"/>
          </p:cNvSpPr>
          <p:nvPr/>
        </p:nvSpPr>
        <p:spPr>
          <a:xfrm>
            <a:off x="6972300" y="6286500"/>
            <a:ext cx="68580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Dataset generation, dual-mode routing, transformer training experiments.</a:t>
            </a:r>
          </a:p>
        </p:txBody>
      </p:sp>
      <p:sp>
        <p:nvSpPr>
          <p:cNvPr id="23" name="phase-chip-3">
            <a:extLst>
              <a:ext uri="{FF2B5EF4-FFF2-40B4-BE49-F238E27FC236}">
                <a16:creationId xmlns:a16="http://schemas.microsoft.com/office/drawing/2014/main" id="{24F4ACCC-87A0-4E5C-8946-F877409C2DD5}"/>
              </a:ext>
            </a:extLst>
          </p:cNvPr>
          <p:cNvSpPr>
            <a:spLocks noGrp="1"/>
          </p:cNvSpPr>
          <p:nvPr/>
        </p:nvSpPr>
        <p:spPr>
          <a:xfrm>
            <a:off x="781050" y="7334250"/>
            <a:ext cx="1428750" cy="742950"/>
          </a:xfrm>
          <a:prstGeom prst="roundRect">
            <a:avLst>
              <a:gd name="adj" fmla="val 50000"/>
            </a:avLst>
          </a:prstGeom>
          <a:solidFill>
            <a:srgbClr val="17191F"/>
          </a:solidFill>
        </p:spPr>
      </p:sp>
      <p:sp>
        <p:nvSpPr>
          <p:cNvPr id="24" name="phase-4">
            <a:extLst>
              <a:ext uri="{FF2B5EF4-FFF2-40B4-BE49-F238E27FC236}">
                <a16:creationId xmlns:a16="http://schemas.microsoft.com/office/drawing/2014/main" id="{B2E569E9-B4E2-4492-8A4A-D82299A97186}"/>
              </a:ext>
            </a:extLst>
          </p:cNvPr>
          <p:cNvSpPr>
            <a:spLocks noGrp="1"/>
          </p:cNvSpPr>
          <p:nvPr/>
        </p:nvSpPr>
        <p:spPr>
          <a:xfrm>
            <a:off x="990600" y="7505700"/>
            <a:ext cx="1009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4</a:t>
            </a:r>
          </a:p>
        </p:txBody>
      </p:sp>
      <p:sp>
        <p:nvSpPr>
          <p:cNvPr id="25" name="phase-card-3">
            <a:extLst>
              <a:ext uri="{FF2B5EF4-FFF2-40B4-BE49-F238E27FC236}">
                <a16:creationId xmlns:a16="http://schemas.microsoft.com/office/drawing/2014/main" id="{A022629D-9AE3-4CF3-816E-52160A753568}"/>
              </a:ext>
            </a:extLst>
          </p:cNvPr>
          <p:cNvSpPr>
            <a:spLocks noGrp="1"/>
          </p:cNvSpPr>
          <p:nvPr/>
        </p:nvSpPr>
        <p:spPr>
          <a:xfrm>
            <a:off x="2381250" y="7277100"/>
            <a:ext cx="15125700" cy="876300"/>
          </a:xfrm>
          <a:prstGeom prst="roundRect">
            <a:avLst>
              <a:gd name="adj" fmla="val 13043"/>
            </a:avLst>
          </a:prstGeom>
          <a:solidFill>
            <a:srgbClr val="111217"/>
          </a:solidFill>
        </p:spPr>
      </p:sp>
      <p:sp>
        <p:nvSpPr>
          <p:cNvPr id="26" name="video-ai-wearables">
            <a:extLst>
              <a:ext uri="{FF2B5EF4-FFF2-40B4-BE49-F238E27FC236}">
                <a16:creationId xmlns:a16="http://schemas.microsoft.com/office/drawing/2014/main" id="{6FDC8743-ADDD-4B7F-9662-BFD83799311D}"/>
              </a:ext>
            </a:extLst>
          </p:cNvPr>
          <p:cNvSpPr>
            <a:spLocks noGrp="1"/>
          </p:cNvSpPr>
          <p:nvPr/>
        </p:nvSpPr>
        <p:spPr>
          <a:xfrm>
            <a:off x="2609850" y="7524750"/>
            <a:ext cx="40957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Video AI + Wearables</a:t>
            </a:r>
          </a:p>
        </p:txBody>
      </p:sp>
      <p:sp>
        <p:nvSpPr>
          <p:cNvPr id="27" name="form-analysis-generated-coaching-content-wear">
            <a:extLst>
              <a:ext uri="{FF2B5EF4-FFF2-40B4-BE49-F238E27FC236}">
                <a16:creationId xmlns:a16="http://schemas.microsoft.com/office/drawing/2014/main" id="{A070C1CF-A458-4CF2-BD62-51C09B5EC61C}"/>
              </a:ext>
            </a:extLst>
          </p:cNvPr>
          <p:cNvSpPr>
            <a:spLocks noGrp="1"/>
          </p:cNvSpPr>
          <p:nvPr/>
        </p:nvSpPr>
        <p:spPr>
          <a:xfrm>
            <a:off x="6972300" y="7581900"/>
            <a:ext cx="6648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Form analysis, generated coaching content, wearable notification loops.</a:t>
            </a:r>
          </a:p>
        </p:txBody>
      </p:sp>
      <p:sp>
        <p:nvSpPr>
          <p:cNvPr id="28" name="phase-chip-4">
            <a:extLst>
              <a:ext uri="{FF2B5EF4-FFF2-40B4-BE49-F238E27FC236}">
                <a16:creationId xmlns:a16="http://schemas.microsoft.com/office/drawing/2014/main" id="{974F5395-984D-442A-861E-7BDBD9428064}"/>
              </a:ext>
            </a:extLst>
          </p:cNvPr>
          <p:cNvSpPr>
            <a:spLocks noGrp="1"/>
          </p:cNvSpPr>
          <p:nvPr/>
        </p:nvSpPr>
        <p:spPr>
          <a:xfrm>
            <a:off x="781050" y="8496300"/>
            <a:ext cx="1428750" cy="742950"/>
          </a:xfrm>
          <a:prstGeom prst="roundRect">
            <a:avLst>
              <a:gd name="adj" fmla="val 50000"/>
            </a:avLst>
          </a:prstGeom>
          <a:solidFill>
            <a:srgbClr val="17191F"/>
          </a:solidFill>
        </p:spPr>
      </p:sp>
      <p:sp>
        <p:nvSpPr>
          <p:cNvPr id="29" name="phase-5">
            <a:extLst>
              <a:ext uri="{FF2B5EF4-FFF2-40B4-BE49-F238E27FC236}">
                <a16:creationId xmlns:a16="http://schemas.microsoft.com/office/drawing/2014/main" id="{19F68F20-87BB-4E4C-AB2D-E3C7331F2D59}"/>
              </a:ext>
            </a:extLst>
          </p:cNvPr>
          <p:cNvSpPr>
            <a:spLocks noGrp="1"/>
          </p:cNvSpPr>
          <p:nvPr/>
        </p:nvSpPr>
        <p:spPr>
          <a:xfrm>
            <a:off x="990600" y="8667750"/>
            <a:ext cx="1009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5</a:t>
            </a:r>
          </a:p>
        </p:txBody>
      </p:sp>
      <p:sp>
        <p:nvSpPr>
          <p:cNvPr id="30" name="phase-card-4">
            <a:extLst>
              <a:ext uri="{FF2B5EF4-FFF2-40B4-BE49-F238E27FC236}">
                <a16:creationId xmlns:a16="http://schemas.microsoft.com/office/drawing/2014/main" id="{800975E5-CD82-4219-B2AE-50B6D5699DB5}"/>
              </a:ext>
            </a:extLst>
          </p:cNvPr>
          <p:cNvSpPr>
            <a:spLocks noGrp="1"/>
          </p:cNvSpPr>
          <p:nvPr/>
        </p:nvSpPr>
        <p:spPr>
          <a:xfrm>
            <a:off x="2381250" y="8439150"/>
            <a:ext cx="15125700" cy="876300"/>
          </a:xfrm>
          <a:prstGeom prst="roundRect">
            <a:avLst>
              <a:gd name="adj" fmla="val 13043"/>
            </a:avLst>
          </a:prstGeom>
          <a:solidFill>
            <a:srgbClr val="111217"/>
          </a:solidFill>
        </p:spPr>
      </p:sp>
      <p:sp>
        <p:nvSpPr>
          <p:cNvPr id="31" name="global-ecosystem">
            <a:extLst>
              <a:ext uri="{FF2B5EF4-FFF2-40B4-BE49-F238E27FC236}">
                <a16:creationId xmlns:a16="http://schemas.microsoft.com/office/drawing/2014/main" id="{19147D1D-BDDE-429A-A9BB-EA8E169BB4AF}"/>
              </a:ext>
            </a:extLst>
          </p:cNvPr>
          <p:cNvSpPr>
            <a:spLocks noGrp="1"/>
          </p:cNvSpPr>
          <p:nvPr/>
        </p:nvSpPr>
        <p:spPr>
          <a:xfrm>
            <a:off x="2609850" y="8686800"/>
            <a:ext cx="40957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Global Ecosystem</a:t>
            </a:r>
          </a:p>
        </p:txBody>
      </p:sp>
      <p:sp>
        <p:nvSpPr>
          <p:cNvPr id="32" name="creator-marketplace-gym-partnerships-multilin">
            <a:extLst>
              <a:ext uri="{FF2B5EF4-FFF2-40B4-BE49-F238E27FC236}">
                <a16:creationId xmlns:a16="http://schemas.microsoft.com/office/drawing/2014/main" id="{835E2FA0-550C-4FCB-9AA2-4C288B766908}"/>
              </a:ext>
            </a:extLst>
          </p:cNvPr>
          <p:cNvSpPr>
            <a:spLocks noGrp="1"/>
          </p:cNvSpPr>
          <p:nvPr/>
        </p:nvSpPr>
        <p:spPr>
          <a:xfrm>
            <a:off x="6972300" y="8610600"/>
            <a:ext cx="67056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Creator marketplace, gym partnerships, multilingual AI, Indian AI export.</a:t>
            </a:r>
          </a:p>
        </p:txBody>
      </p:sp>
    </p:spTree>
    <p:extLst>
      <p:ext uri="{BB962C8B-B14F-4D97-AF65-F5344CB8AC3E}">
        <p14:creationId xmlns:p14="http://schemas.microsoft.com/office/powerpoint/2010/main" val="1164652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g">
            <a:extLst>
              <a:ext uri="{FF2B5EF4-FFF2-40B4-BE49-F238E27FC236}">
                <a16:creationId xmlns:a16="http://schemas.microsoft.com/office/drawing/2014/main" id="{46A90991-27D2-47CA-9691-3A0C0D581A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06"/>
          </a:solidFill>
        </p:spPr>
      </p:sp>
      <p:sp>
        <p:nvSpPr>
          <p:cNvPr id="2" name="top-glow">
            <a:extLst>
              <a:ext uri="{FF2B5EF4-FFF2-40B4-BE49-F238E27FC236}">
                <a16:creationId xmlns:a16="http://schemas.microsoft.com/office/drawing/2014/main" id="{75DB7AF0-2E39-4EE7-AA22-EDC228C8DD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14350"/>
          </a:xfrm>
          <a:prstGeom prst="rect">
            <a:avLst/>
          </a:prstGeom>
          <a:solidFill>
            <a:srgbClr val="55070B"/>
          </a:solidFill>
        </p:spPr>
      </p:sp>
      <p:sp>
        <p:nvSpPr>
          <p:cNvPr id="3" name="bottom-line">
            <a:extLst>
              <a:ext uri="{FF2B5EF4-FFF2-40B4-BE49-F238E27FC236}">
                <a16:creationId xmlns:a16="http://schemas.microsoft.com/office/drawing/2014/main" id="{4877A115-5650-4C14-B555-198868EBE3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DA81FE49-A7D4-4721-837B-A97D33937D9D}"/>
              </a:ext>
            </a:extLst>
          </p:cNvPr>
          <p:cNvSpPr>
            <a:spLocks noGrp="1"/>
          </p:cNvSpPr>
          <p:nvPr/>
        </p:nvSpPr>
        <p:spPr>
          <a:xfrm>
            <a:off x="781050" y="857250"/>
            <a:ext cx="666750" cy="47625"/>
          </a:xfrm>
          <a:prstGeom prst="rect">
            <a:avLst/>
          </a:prstGeom>
          <a:solidFill>
            <a:srgbClr val="E50914"/>
          </a:solidFill>
          <a:ln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D3BE48D2-A315-4623-98F6-0A6FDD67E4B4}"/>
              </a:ext>
            </a:extLst>
          </p:cNvPr>
          <p:cNvSpPr>
            <a:spLocks noGrp="1"/>
          </p:cNvSpPr>
          <p:nvPr/>
        </p:nvSpPr>
        <p:spPr>
          <a:xfrm>
            <a:off x="1581150" y="666750"/>
            <a:ext cx="2698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 dirty="0">
                <a:solidFill>
                  <a:srgbClr val="FF2E3A"/>
                </a:solidFill>
              </a:rPr>
              <a:t>WHY CIIIT SHOULD SUPPORT THIS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4E11362B-F60E-4365-AA52-2FEFFC90C806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12401550" cy="1333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 national-level AI product can start from Chandrapur.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D86BB3EA-232F-4B4C-9CF2-9D3C18EBD342}"/>
              </a:ext>
            </a:extLst>
          </p:cNvPr>
          <p:cNvSpPr>
            <a:spLocks noGrp="1"/>
          </p:cNvSpPr>
          <p:nvPr/>
        </p:nvSpPr>
        <p:spPr>
          <a:xfrm>
            <a:off x="781050" y="2705100"/>
            <a:ext cx="114871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GrindHaus AI aligns with innovation, incubation, skill development, applied AI, and emerging technology infrastructure.</a:t>
            </a:r>
          </a:p>
        </p:txBody>
      </p:sp>
      <p:sp>
        <p:nvSpPr>
          <p:cNvPr id="8" name="ciiit-left">
            <a:extLst>
              <a:ext uri="{FF2B5EF4-FFF2-40B4-BE49-F238E27FC236}">
                <a16:creationId xmlns:a16="http://schemas.microsoft.com/office/drawing/2014/main" id="{4D71A518-B2BD-4071-BA89-EA04B754AC01}"/>
              </a:ext>
            </a:extLst>
          </p:cNvPr>
          <p:cNvSpPr>
            <a:spLocks noGrp="1"/>
          </p:cNvSpPr>
          <p:nvPr/>
        </p:nvSpPr>
        <p:spPr>
          <a:xfrm>
            <a:off x="781050" y="3680460"/>
            <a:ext cx="8105775" cy="5939790"/>
          </a:xfrm>
          <a:prstGeom prst="roundRect">
            <a:avLst>
              <a:gd name="adj" fmla="val 1924"/>
            </a:avLst>
          </a:prstGeom>
          <a:solidFill>
            <a:srgbClr val="111217"/>
          </a:solidFill>
        </p:spPr>
      </p:sp>
      <p:sp>
        <p:nvSpPr>
          <p:cNvPr id="9" name="institutional-fit">
            <a:extLst>
              <a:ext uri="{FF2B5EF4-FFF2-40B4-BE49-F238E27FC236}">
                <a16:creationId xmlns:a16="http://schemas.microsoft.com/office/drawing/2014/main" id="{0EEB15C4-629C-4315-89F9-E2265C434D00}"/>
              </a:ext>
            </a:extLst>
          </p:cNvPr>
          <p:cNvSpPr>
            <a:spLocks noGrp="1"/>
          </p:cNvSpPr>
          <p:nvPr/>
        </p:nvSpPr>
        <p:spPr>
          <a:xfrm>
            <a:off x="1066800" y="5181600"/>
            <a:ext cx="75438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 i="0">
                <a:solidFill>
                  <a:srgbClr val="F8F5EF"/>
                </a:solidFill>
              </a:defRPr>
            </a:pPr>
            <a:r>
              <a:rPr sz="3750" b="1" i="0">
                <a:solidFill>
                  <a:srgbClr val="F8F5EF"/>
                </a:solidFill>
              </a:rPr>
              <a:t>Institutional Fit</a:t>
            </a:r>
          </a:p>
        </p:txBody>
      </p:sp>
      <p:sp>
        <p:nvSpPr>
          <p:cNvPr id="10" name="bullet-dot-0">
            <a:extLst>
              <a:ext uri="{FF2B5EF4-FFF2-40B4-BE49-F238E27FC236}">
                <a16:creationId xmlns:a16="http://schemas.microsoft.com/office/drawing/2014/main" id="{6A1071CA-0B4C-45EC-8C78-7E1DAD6FDF88}"/>
              </a:ext>
            </a:extLst>
          </p:cNvPr>
          <p:cNvSpPr>
            <a:spLocks noGrp="1"/>
          </p:cNvSpPr>
          <p:nvPr/>
        </p:nvSpPr>
        <p:spPr>
          <a:xfrm>
            <a:off x="1066800" y="60960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11" name="bullet-0">
            <a:extLst>
              <a:ext uri="{FF2B5EF4-FFF2-40B4-BE49-F238E27FC236}">
                <a16:creationId xmlns:a16="http://schemas.microsoft.com/office/drawing/2014/main" id="{BB585999-F615-4138-8280-E4EA3699F261}"/>
              </a:ext>
            </a:extLst>
          </p:cNvPr>
          <p:cNvSpPr>
            <a:spLocks noGrp="1"/>
          </p:cNvSpPr>
          <p:nvPr/>
        </p:nvSpPr>
        <p:spPr>
          <a:xfrm>
            <a:off x="1333500" y="6000750"/>
            <a:ext cx="7277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Student-led innovation with startup potential</a:t>
            </a:r>
          </a:p>
        </p:txBody>
      </p:sp>
      <p:sp>
        <p:nvSpPr>
          <p:cNvPr id="12" name="bullet-dot-1">
            <a:extLst>
              <a:ext uri="{FF2B5EF4-FFF2-40B4-BE49-F238E27FC236}">
                <a16:creationId xmlns:a16="http://schemas.microsoft.com/office/drawing/2014/main" id="{BA614860-E8AA-41B3-9AA2-87C7A04DB7C8}"/>
              </a:ext>
            </a:extLst>
          </p:cNvPr>
          <p:cNvSpPr>
            <a:spLocks noGrp="1"/>
          </p:cNvSpPr>
          <p:nvPr/>
        </p:nvSpPr>
        <p:spPr>
          <a:xfrm>
            <a:off x="1066800" y="65532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13" name="bullet-1">
            <a:extLst>
              <a:ext uri="{FF2B5EF4-FFF2-40B4-BE49-F238E27FC236}">
                <a16:creationId xmlns:a16="http://schemas.microsoft.com/office/drawing/2014/main" id="{5F847476-4155-4780-A28A-855C8C0590BE}"/>
              </a:ext>
            </a:extLst>
          </p:cNvPr>
          <p:cNvSpPr>
            <a:spLocks noGrp="1"/>
          </p:cNvSpPr>
          <p:nvPr/>
        </p:nvSpPr>
        <p:spPr>
          <a:xfrm>
            <a:off x="1333500" y="6457950"/>
            <a:ext cx="7277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AI research and model development pathway</a:t>
            </a:r>
          </a:p>
        </p:txBody>
      </p:sp>
      <p:sp>
        <p:nvSpPr>
          <p:cNvPr id="14" name="bullet-dot-2">
            <a:extLst>
              <a:ext uri="{FF2B5EF4-FFF2-40B4-BE49-F238E27FC236}">
                <a16:creationId xmlns:a16="http://schemas.microsoft.com/office/drawing/2014/main" id="{06219BED-E189-42ED-B780-1ABC991F99F4}"/>
              </a:ext>
            </a:extLst>
          </p:cNvPr>
          <p:cNvSpPr>
            <a:spLocks noGrp="1"/>
          </p:cNvSpPr>
          <p:nvPr/>
        </p:nvSpPr>
        <p:spPr>
          <a:xfrm>
            <a:off x="1066800" y="70104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15" name="bullet-2">
            <a:extLst>
              <a:ext uri="{FF2B5EF4-FFF2-40B4-BE49-F238E27FC236}">
                <a16:creationId xmlns:a16="http://schemas.microsoft.com/office/drawing/2014/main" id="{4CBB7735-4414-4434-B677-E51B95A7DCF3}"/>
              </a:ext>
            </a:extLst>
          </p:cNvPr>
          <p:cNvSpPr>
            <a:spLocks noGrp="1"/>
          </p:cNvSpPr>
          <p:nvPr/>
        </p:nvSpPr>
        <p:spPr>
          <a:xfrm>
            <a:off x="1333500" y="6915150"/>
            <a:ext cx="7277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Hands-on full-stack engineering project</a:t>
            </a:r>
          </a:p>
        </p:txBody>
      </p:sp>
      <p:sp>
        <p:nvSpPr>
          <p:cNvPr id="16" name="bullet-dot-3">
            <a:extLst>
              <a:ext uri="{FF2B5EF4-FFF2-40B4-BE49-F238E27FC236}">
                <a16:creationId xmlns:a16="http://schemas.microsoft.com/office/drawing/2014/main" id="{6E35FFBC-225F-4681-8481-170AEAED8D2B}"/>
              </a:ext>
            </a:extLst>
          </p:cNvPr>
          <p:cNvSpPr>
            <a:spLocks noGrp="1"/>
          </p:cNvSpPr>
          <p:nvPr/>
        </p:nvSpPr>
        <p:spPr>
          <a:xfrm>
            <a:off x="1066800" y="74676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17" name="bullet-3">
            <a:extLst>
              <a:ext uri="{FF2B5EF4-FFF2-40B4-BE49-F238E27FC236}">
                <a16:creationId xmlns:a16="http://schemas.microsoft.com/office/drawing/2014/main" id="{A8576DE1-E833-4FCD-81B9-38DF51716B89}"/>
              </a:ext>
            </a:extLst>
          </p:cNvPr>
          <p:cNvSpPr>
            <a:spLocks noGrp="1"/>
          </p:cNvSpPr>
          <p:nvPr/>
        </p:nvSpPr>
        <p:spPr>
          <a:xfrm>
            <a:off x="1333500" y="7372350"/>
            <a:ext cx="7277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Public-private innovation alignment</a:t>
            </a:r>
          </a:p>
        </p:txBody>
      </p:sp>
      <p:sp>
        <p:nvSpPr>
          <p:cNvPr id="18" name="bullet-dot-4">
            <a:extLst>
              <a:ext uri="{FF2B5EF4-FFF2-40B4-BE49-F238E27FC236}">
                <a16:creationId xmlns:a16="http://schemas.microsoft.com/office/drawing/2014/main" id="{041011AA-774D-485A-B48B-E9B7AC8EB294}"/>
              </a:ext>
            </a:extLst>
          </p:cNvPr>
          <p:cNvSpPr>
            <a:spLocks noGrp="1"/>
          </p:cNvSpPr>
          <p:nvPr/>
        </p:nvSpPr>
        <p:spPr>
          <a:xfrm>
            <a:off x="1066800" y="79248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19" name="bullet-4">
            <a:extLst>
              <a:ext uri="{FF2B5EF4-FFF2-40B4-BE49-F238E27FC236}">
                <a16:creationId xmlns:a16="http://schemas.microsoft.com/office/drawing/2014/main" id="{7644C25C-69DE-4D7C-A9E5-0B03D28309A5}"/>
              </a:ext>
            </a:extLst>
          </p:cNvPr>
          <p:cNvSpPr>
            <a:spLocks noGrp="1"/>
          </p:cNvSpPr>
          <p:nvPr/>
        </p:nvSpPr>
        <p:spPr>
          <a:xfrm>
            <a:off x="1333500" y="7829550"/>
            <a:ext cx="7277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Potential for internships, training, and student participation</a:t>
            </a:r>
          </a:p>
        </p:txBody>
      </p:sp>
      <p:sp>
        <p:nvSpPr>
          <p:cNvPr id="20" name="ciiit-right">
            <a:extLst>
              <a:ext uri="{FF2B5EF4-FFF2-40B4-BE49-F238E27FC236}">
                <a16:creationId xmlns:a16="http://schemas.microsoft.com/office/drawing/2014/main" id="{399AFF00-393A-490B-9383-1CAFCE5F58A9}"/>
              </a:ext>
            </a:extLst>
          </p:cNvPr>
          <p:cNvSpPr>
            <a:spLocks noGrp="1"/>
          </p:cNvSpPr>
          <p:nvPr/>
        </p:nvSpPr>
        <p:spPr>
          <a:xfrm>
            <a:off x="9401175" y="3680460"/>
            <a:ext cx="8105775" cy="5939790"/>
          </a:xfrm>
          <a:prstGeom prst="roundRect">
            <a:avLst>
              <a:gd name="adj" fmla="val 1924"/>
            </a:avLst>
          </a:prstGeom>
          <a:solidFill>
            <a:srgbClr val="160B0D"/>
          </a:solidFill>
        </p:spPr>
      </p:sp>
      <p:sp>
        <p:nvSpPr>
          <p:cNvPr id="21" name="ciiit-value-creation">
            <a:extLst>
              <a:ext uri="{FF2B5EF4-FFF2-40B4-BE49-F238E27FC236}">
                <a16:creationId xmlns:a16="http://schemas.microsoft.com/office/drawing/2014/main" id="{91171565-DF21-4CEA-B129-0512750444F7}"/>
              </a:ext>
            </a:extLst>
          </p:cNvPr>
          <p:cNvSpPr>
            <a:spLocks noGrp="1"/>
          </p:cNvSpPr>
          <p:nvPr/>
        </p:nvSpPr>
        <p:spPr>
          <a:xfrm>
            <a:off x="9696450" y="5181600"/>
            <a:ext cx="75438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 i="0">
                <a:solidFill>
                  <a:srgbClr val="FF2E3A"/>
                </a:solidFill>
              </a:defRPr>
            </a:pPr>
            <a:r>
              <a:rPr sz="3750" b="1" i="0">
                <a:solidFill>
                  <a:srgbClr val="FF2E3A"/>
                </a:solidFill>
              </a:rPr>
              <a:t>CIIIT Value Creation</a:t>
            </a:r>
          </a:p>
        </p:txBody>
      </p:sp>
      <p:sp>
        <p:nvSpPr>
          <p:cNvPr id="22" name="bullet-dot-0">
            <a:extLst>
              <a:ext uri="{FF2B5EF4-FFF2-40B4-BE49-F238E27FC236}">
                <a16:creationId xmlns:a16="http://schemas.microsoft.com/office/drawing/2014/main" id="{D62DEEC3-173F-4D1A-ABAC-C24F7A33337D}"/>
              </a:ext>
            </a:extLst>
          </p:cNvPr>
          <p:cNvSpPr>
            <a:spLocks noGrp="1"/>
          </p:cNvSpPr>
          <p:nvPr/>
        </p:nvSpPr>
        <p:spPr>
          <a:xfrm>
            <a:off x="9696450" y="60960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23" name="bullet-0">
            <a:extLst>
              <a:ext uri="{FF2B5EF4-FFF2-40B4-BE49-F238E27FC236}">
                <a16:creationId xmlns:a16="http://schemas.microsoft.com/office/drawing/2014/main" id="{3AED1ABC-83F6-48F8-8C80-1A66DF07948A}"/>
              </a:ext>
            </a:extLst>
          </p:cNvPr>
          <p:cNvSpPr>
            <a:spLocks noGrp="1"/>
          </p:cNvSpPr>
          <p:nvPr/>
        </p:nvSpPr>
        <p:spPr>
          <a:xfrm>
            <a:off x="9963150" y="6000750"/>
            <a:ext cx="7277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Showcase AI incubation from GCOE Chandrapur</a:t>
            </a:r>
          </a:p>
        </p:txBody>
      </p:sp>
      <p:sp>
        <p:nvSpPr>
          <p:cNvPr id="24" name="bullet-dot-1">
            <a:extLst>
              <a:ext uri="{FF2B5EF4-FFF2-40B4-BE49-F238E27FC236}">
                <a16:creationId xmlns:a16="http://schemas.microsoft.com/office/drawing/2014/main" id="{20889658-C828-42BA-B0FC-C1F51504DD9D}"/>
              </a:ext>
            </a:extLst>
          </p:cNvPr>
          <p:cNvSpPr>
            <a:spLocks noGrp="1"/>
          </p:cNvSpPr>
          <p:nvPr/>
        </p:nvSpPr>
        <p:spPr>
          <a:xfrm>
            <a:off x="9696450" y="65532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25" name="bullet-1">
            <a:extLst>
              <a:ext uri="{FF2B5EF4-FFF2-40B4-BE49-F238E27FC236}">
                <a16:creationId xmlns:a16="http://schemas.microsoft.com/office/drawing/2014/main" id="{F6873D6F-7607-46BC-B6BD-419E1AB76B78}"/>
              </a:ext>
            </a:extLst>
          </p:cNvPr>
          <p:cNvSpPr>
            <a:spLocks noGrp="1"/>
          </p:cNvSpPr>
          <p:nvPr/>
        </p:nvSpPr>
        <p:spPr>
          <a:xfrm>
            <a:off x="9963150" y="6457950"/>
            <a:ext cx="7277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Create a local technical talent pipeline</a:t>
            </a:r>
          </a:p>
        </p:txBody>
      </p:sp>
      <p:sp>
        <p:nvSpPr>
          <p:cNvPr id="26" name="bullet-dot-2">
            <a:extLst>
              <a:ext uri="{FF2B5EF4-FFF2-40B4-BE49-F238E27FC236}">
                <a16:creationId xmlns:a16="http://schemas.microsoft.com/office/drawing/2014/main" id="{84D9491E-1A39-40CA-AA8C-8574D834D22E}"/>
              </a:ext>
            </a:extLst>
          </p:cNvPr>
          <p:cNvSpPr>
            <a:spLocks noGrp="1"/>
          </p:cNvSpPr>
          <p:nvPr/>
        </p:nvSpPr>
        <p:spPr>
          <a:xfrm>
            <a:off x="9696450" y="70104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27" name="bullet-2">
            <a:extLst>
              <a:ext uri="{FF2B5EF4-FFF2-40B4-BE49-F238E27FC236}">
                <a16:creationId xmlns:a16="http://schemas.microsoft.com/office/drawing/2014/main" id="{85ACFE46-9004-40F4-A1D3-0196753FEB9C}"/>
              </a:ext>
            </a:extLst>
          </p:cNvPr>
          <p:cNvSpPr>
            <a:spLocks noGrp="1"/>
          </p:cNvSpPr>
          <p:nvPr/>
        </p:nvSpPr>
        <p:spPr>
          <a:xfrm>
            <a:off x="9963150" y="6915150"/>
            <a:ext cx="7277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Use GPU/infrastructure for applied AI research</a:t>
            </a:r>
          </a:p>
        </p:txBody>
      </p:sp>
      <p:sp>
        <p:nvSpPr>
          <p:cNvPr id="28" name="bullet-dot-3">
            <a:extLst>
              <a:ext uri="{FF2B5EF4-FFF2-40B4-BE49-F238E27FC236}">
                <a16:creationId xmlns:a16="http://schemas.microsoft.com/office/drawing/2014/main" id="{FF04C07B-8F7F-4801-BCC7-E7723665B766}"/>
              </a:ext>
            </a:extLst>
          </p:cNvPr>
          <p:cNvSpPr>
            <a:spLocks noGrp="1"/>
          </p:cNvSpPr>
          <p:nvPr/>
        </p:nvSpPr>
        <p:spPr>
          <a:xfrm>
            <a:off x="9696450" y="74676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29" name="bullet-3">
            <a:extLst>
              <a:ext uri="{FF2B5EF4-FFF2-40B4-BE49-F238E27FC236}">
                <a16:creationId xmlns:a16="http://schemas.microsoft.com/office/drawing/2014/main" id="{F9BA1D96-40CF-4C32-8409-1283305B1822}"/>
              </a:ext>
            </a:extLst>
          </p:cNvPr>
          <p:cNvSpPr>
            <a:spLocks noGrp="1"/>
          </p:cNvSpPr>
          <p:nvPr/>
        </p:nvSpPr>
        <p:spPr>
          <a:xfrm>
            <a:off x="9963150" y="7372350"/>
            <a:ext cx="7277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Build a product that can represent regional innovation nationally</a:t>
            </a:r>
          </a:p>
        </p:txBody>
      </p:sp>
      <p:sp>
        <p:nvSpPr>
          <p:cNvPr id="30" name="bullet-dot-4">
            <a:extLst>
              <a:ext uri="{FF2B5EF4-FFF2-40B4-BE49-F238E27FC236}">
                <a16:creationId xmlns:a16="http://schemas.microsoft.com/office/drawing/2014/main" id="{64460988-8C6B-4DF5-B0C6-23ACBB100D89}"/>
              </a:ext>
            </a:extLst>
          </p:cNvPr>
          <p:cNvSpPr>
            <a:spLocks noGrp="1"/>
          </p:cNvSpPr>
          <p:nvPr/>
        </p:nvSpPr>
        <p:spPr>
          <a:xfrm>
            <a:off x="9696450" y="7924800"/>
            <a:ext cx="114300" cy="114300"/>
          </a:xfrm>
          <a:prstGeom prst="ellipse">
            <a:avLst/>
          </a:prstGeom>
          <a:solidFill>
            <a:srgbClr val="FF2E3A"/>
          </a:solidFill>
        </p:spPr>
      </p:sp>
      <p:sp>
        <p:nvSpPr>
          <p:cNvPr id="31" name="bullet-4">
            <a:extLst>
              <a:ext uri="{FF2B5EF4-FFF2-40B4-BE49-F238E27FC236}">
                <a16:creationId xmlns:a16="http://schemas.microsoft.com/office/drawing/2014/main" id="{EFA9584F-3405-4ECC-AA26-A3055CF040C9}"/>
              </a:ext>
            </a:extLst>
          </p:cNvPr>
          <p:cNvSpPr>
            <a:spLocks noGrp="1"/>
          </p:cNvSpPr>
          <p:nvPr/>
        </p:nvSpPr>
        <p:spPr>
          <a:xfrm>
            <a:off x="9963150" y="7829550"/>
            <a:ext cx="7277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Connect academia, government, and startup execution</a:t>
            </a:r>
          </a:p>
        </p:txBody>
      </p:sp>
    </p:spTree>
    <p:extLst>
      <p:ext uri="{BB962C8B-B14F-4D97-AF65-F5344CB8AC3E}">
        <p14:creationId xmlns:p14="http://schemas.microsoft.com/office/powerpoint/2010/main" val="1348406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g">
            <a:extLst>
              <a:ext uri="{FF2B5EF4-FFF2-40B4-BE49-F238E27FC236}">
                <a16:creationId xmlns:a16="http://schemas.microsoft.com/office/drawing/2014/main" id="{0A657D44-41BA-45AB-822D-7CEA82CDA2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06"/>
          </a:solidFill>
        </p:spPr>
      </p:sp>
      <p:sp>
        <p:nvSpPr>
          <p:cNvPr id="2" name="top-glow">
            <a:extLst>
              <a:ext uri="{FF2B5EF4-FFF2-40B4-BE49-F238E27FC236}">
                <a16:creationId xmlns:a16="http://schemas.microsoft.com/office/drawing/2014/main" id="{4EAC9147-2E41-4385-961A-FA2D5AF010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14350"/>
          </a:xfrm>
          <a:prstGeom prst="rect">
            <a:avLst/>
          </a:prstGeom>
          <a:solidFill>
            <a:srgbClr val="55070B"/>
          </a:solidFill>
        </p:spPr>
      </p:sp>
      <p:sp>
        <p:nvSpPr>
          <p:cNvPr id="3" name="bottom-line">
            <a:extLst>
              <a:ext uri="{FF2B5EF4-FFF2-40B4-BE49-F238E27FC236}">
                <a16:creationId xmlns:a16="http://schemas.microsoft.com/office/drawing/2014/main" id="{ACB7ADF5-DE17-4D27-94D6-1941E74BD5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372270C5-CD7E-446F-A952-143591A1CDFA}"/>
              </a:ext>
            </a:extLst>
          </p:cNvPr>
          <p:cNvSpPr>
            <a:spLocks noGrp="1"/>
          </p:cNvSpPr>
          <p:nvPr/>
        </p:nvSpPr>
        <p:spPr>
          <a:xfrm>
            <a:off x="781050" y="742950"/>
            <a:ext cx="666750" cy="47625"/>
          </a:xfrm>
          <a:prstGeom prst="rect">
            <a:avLst/>
          </a:prstGeom>
          <a:solidFill>
            <a:srgbClr val="E50914"/>
          </a:solidFill>
          <a:ln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DEE5B619-303C-4F1A-A2E3-60C6777BBFD2}"/>
              </a:ext>
            </a:extLst>
          </p:cNvPr>
          <p:cNvSpPr>
            <a:spLocks noGrp="1"/>
          </p:cNvSpPr>
          <p:nvPr/>
        </p:nvSpPr>
        <p:spPr>
          <a:xfrm>
            <a:off x="1581150" y="666750"/>
            <a:ext cx="1143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WHAT WE NEED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F4C62106-7DC8-4A96-87C4-11A576B1DE7B}"/>
              </a:ext>
            </a:extLst>
          </p:cNvPr>
          <p:cNvSpPr>
            <a:spLocks noGrp="1"/>
          </p:cNvSpPr>
          <p:nvPr/>
        </p:nvSpPr>
        <p:spPr>
          <a:xfrm>
            <a:off x="781050" y="1028700"/>
            <a:ext cx="12192000" cy="1333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Support that converts a strong MVP into a scalable AI venture.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542BFD9C-6657-441F-962F-76E4C525D1C0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80010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ask is practical: infrastructure, mentorship, incubation, and technical guidance.</a:t>
            </a:r>
          </a:p>
        </p:txBody>
      </p:sp>
      <p:sp>
        <p:nvSpPr>
          <p:cNvPr id="8" name="need-gpu">
            <a:extLst>
              <a:ext uri="{FF2B5EF4-FFF2-40B4-BE49-F238E27FC236}">
                <a16:creationId xmlns:a16="http://schemas.microsoft.com/office/drawing/2014/main" id="{2C657202-6E1F-4D2B-8D36-89B90F1AD5F9}"/>
              </a:ext>
            </a:extLst>
          </p:cNvPr>
          <p:cNvSpPr>
            <a:spLocks noGrp="1"/>
          </p:cNvSpPr>
          <p:nvPr/>
        </p:nvSpPr>
        <p:spPr>
          <a:xfrm>
            <a:off x="781050" y="3474720"/>
            <a:ext cx="5422900" cy="2333625"/>
          </a:xfrm>
          <a:prstGeom prst="roundRect">
            <a:avLst>
              <a:gd name="adj" fmla="val 4898"/>
            </a:avLst>
          </a:prstGeom>
          <a:solidFill>
            <a:srgbClr val="111217"/>
          </a:solidFill>
        </p:spPr>
      </p:sp>
      <p:sp>
        <p:nvSpPr>
          <p:cNvPr id="9" name="gpu-systems">
            <a:extLst>
              <a:ext uri="{FF2B5EF4-FFF2-40B4-BE49-F238E27FC236}">
                <a16:creationId xmlns:a16="http://schemas.microsoft.com/office/drawing/2014/main" id="{B6490D2A-2781-4087-955C-2A4EF2268249}"/>
              </a:ext>
            </a:extLst>
          </p:cNvPr>
          <p:cNvSpPr>
            <a:spLocks noGrp="1"/>
          </p:cNvSpPr>
          <p:nvPr/>
        </p:nvSpPr>
        <p:spPr>
          <a:xfrm>
            <a:off x="1066800" y="3714750"/>
            <a:ext cx="4857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GPU Systems</a:t>
            </a:r>
          </a:p>
        </p:txBody>
      </p:sp>
      <p:sp>
        <p:nvSpPr>
          <p:cNvPr id="10" name="high-end-gpu-access-for-model-training-local-">
            <a:extLst>
              <a:ext uri="{FF2B5EF4-FFF2-40B4-BE49-F238E27FC236}">
                <a16:creationId xmlns:a16="http://schemas.microsoft.com/office/drawing/2014/main" id="{203E3DFD-4FD6-4326-B9D3-92441F8CA08C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8577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High-end GPU access for model training, local inference tests, and AI video experiments.</a:t>
            </a:r>
          </a:p>
        </p:txBody>
      </p:sp>
      <p:sp>
        <p:nvSpPr>
          <p:cNvPr id="11" name="need-incubation">
            <a:extLst>
              <a:ext uri="{FF2B5EF4-FFF2-40B4-BE49-F238E27FC236}">
                <a16:creationId xmlns:a16="http://schemas.microsoft.com/office/drawing/2014/main" id="{2F09AA96-1469-46A4-AEAE-025F7C81FCA6}"/>
              </a:ext>
            </a:extLst>
          </p:cNvPr>
          <p:cNvSpPr>
            <a:spLocks noGrp="1"/>
          </p:cNvSpPr>
          <p:nvPr/>
        </p:nvSpPr>
        <p:spPr>
          <a:xfrm>
            <a:off x="6432550" y="3474720"/>
            <a:ext cx="5422900" cy="2333625"/>
          </a:xfrm>
          <a:prstGeom prst="roundRect">
            <a:avLst>
              <a:gd name="adj" fmla="val 4898"/>
            </a:avLst>
          </a:prstGeom>
          <a:solidFill>
            <a:srgbClr val="111217"/>
          </a:solidFill>
        </p:spPr>
      </p:sp>
      <p:sp>
        <p:nvSpPr>
          <p:cNvPr id="12" name="incubation">
            <a:extLst>
              <a:ext uri="{FF2B5EF4-FFF2-40B4-BE49-F238E27FC236}">
                <a16:creationId xmlns:a16="http://schemas.microsoft.com/office/drawing/2014/main" id="{42DB8ABA-601E-4F6B-9C9C-73FA185560EB}"/>
              </a:ext>
            </a:extLst>
          </p:cNvPr>
          <p:cNvSpPr>
            <a:spLocks noGrp="1"/>
          </p:cNvSpPr>
          <p:nvPr/>
        </p:nvSpPr>
        <p:spPr>
          <a:xfrm>
            <a:off x="6724650" y="3714750"/>
            <a:ext cx="4857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Incubation</a:t>
            </a:r>
          </a:p>
        </p:txBody>
      </p:sp>
      <p:sp>
        <p:nvSpPr>
          <p:cNvPr id="13" name="workspace-structure-founder-guidance-product-">
            <a:extLst>
              <a:ext uri="{FF2B5EF4-FFF2-40B4-BE49-F238E27FC236}">
                <a16:creationId xmlns:a16="http://schemas.microsoft.com/office/drawing/2014/main" id="{0255AD30-B99C-4A1A-9269-5C363C7BFA65}"/>
              </a:ext>
            </a:extLst>
          </p:cNvPr>
          <p:cNvSpPr>
            <a:spLocks noGrp="1"/>
          </p:cNvSpPr>
          <p:nvPr/>
        </p:nvSpPr>
        <p:spPr>
          <a:xfrm>
            <a:off x="6724650" y="4267200"/>
            <a:ext cx="48577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Workspace, structure, founder guidance, product reviews, and investor readiness.</a:t>
            </a:r>
          </a:p>
        </p:txBody>
      </p:sp>
      <p:sp>
        <p:nvSpPr>
          <p:cNvPr id="14" name="need-mentors">
            <a:extLst>
              <a:ext uri="{FF2B5EF4-FFF2-40B4-BE49-F238E27FC236}">
                <a16:creationId xmlns:a16="http://schemas.microsoft.com/office/drawing/2014/main" id="{2DA1931B-F9F3-4570-ABC8-B13D697B74DC}"/>
              </a:ext>
            </a:extLst>
          </p:cNvPr>
          <p:cNvSpPr>
            <a:spLocks noGrp="1"/>
          </p:cNvSpPr>
          <p:nvPr/>
        </p:nvSpPr>
        <p:spPr>
          <a:xfrm>
            <a:off x="12084050" y="3474720"/>
            <a:ext cx="5422900" cy="2333625"/>
          </a:xfrm>
          <a:prstGeom prst="roundRect">
            <a:avLst>
              <a:gd name="adj" fmla="val 4898"/>
            </a:avLst>
          </a:prstGeom>
          <a:solidFill>
            <a:srgbClr val="111217"/>
          </a:solidFill>
        </p:spPr>
      </p:sp>
      <p:sp>
        <p:nvSpPr>
          <p:cNvPr id="15" name="mentorship">
            <a:extLst>
              <a:ext uri="{FF2B5EF4-FFF2-40B4-BE49-F238E27FC236}">
                <a16:creationId xmlns:a16="http://schemas.microsoft.com/office/drawing/2014/main" id="{EE34F0AD-B48C-4154-9787-7EECCF2E8CA4}"/>
              </a:ext>
            </a:extLst>
          </p:cNvPr>
          <p:cNvSpPr>
            <a:spLocks noGrp="1"/>
          </p:cNvSpPr>
          <p:nvPr/>
        </p:nvSpPr>
        <p:spPr>
          <a:xfrm>
            <a:off x="12363450" y="3714750"/>
            <a:ext cx="4857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Mentorship</a:t>
            </a:r>
          </a:p>
        </p:txBody>
      </p:sp>
      <p:sp>
        <p:nvSpPr>
          <p:cNvPr id="16" name="ai-healthcare-fitness-startup-legal-and-busin">
            <a:extLst>
              <a:ext uri="{FF2B5EF4-FFF2-40B4-BE49-F238E27FC236}">
                <a16:creationId xmlns:a16="http://schemas.microsoft.com/office/drawing/2014/main" id="{52263295-EDFB-4982-8F88-67FCAF052E6B}"/>
              </a:ext>
            </a:extLst>
          </p:cNvPr>
          <p:cNvSpPr>
            <a:spLocks noGrp="1"/>
          </p:cNvSpPr>
          <p:nvPr/>
        </p:nvSpPr>
        <p:spPr>
          <a:xfrm>
            <a:off x="12363450" y="4267200"/>
            <a:ext cx="48577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AI, healthcare, fitness, startup, legal, and business model mentorship.</a:t>
            </a:r>
          </a:p>
        </p:txBody>
      </p:sp>
      <p:sp>
        <p:nvSpPr>
          <p:cNvPr id="17" name="need-research">
            <a:extLst>
              <a:ext uri="{FF2B5EF4-FFF2-40B4-BE49-F238E27FC236}">
                <a16:creationId xmlns:a16="http://schemas.microsoft.com/office/drawing/2014/main" id="{DAD18B30-69FE-464E-8324-23C016837E2D}"/>
              </a:ext>
            </a:extLst>
          </p:cNvPr>
          <p:cNvSpPr>
            <a:spLocks noGrp="1"/>
          </p:cNvSpPr>
          <p:nvPr/>
        </p:nvSpPr>
        <p:spPr>
          <a:xfrm>
            <a:off x="781050" y="6661785"/>
            <a:ext cx="5422900" cy="2333625"/>
          </a:xfrm>
          <a:prstGeom prst="roundRect">
            <a:avLst>
              <a:gd name="adj" fmla="val 4898"/>
            </a:avLst>
          </a:prstGeom>
          <a:solidFill>
            <a:srgbClr val="111217"/>
          </a:solidFill>
        </p:spPr>
      </p:sp>
      <p:sp>
        <p:nvSpPr>
          <p:cNvPr id="18" name="research-ecosystem">
            <a:extLst>
              <a:ext uri="{FF2B5EF4-FFF2-40B4-BE49-F238E27FC236}">
                <a16:creationId xmlns:a16="http://schemas.microsoft.com/office/drawing/2014/main" id="{ED5D2C9D-0CCA-4A64-AEF1-9864E5018745}"/>
              </a:ext>
            </a:extLst>
          </p:cNvPr>
          <p:cNvSpPr>
            <a:spLocks noGrp="1"/>
          </p:cNvSpPr>
          <p:nvPr/>
        </p:nvSpPr>
        <p:spPr>
          <a:xfrm>
            <a:off x="1066800" y="6915150"/>
            <a:ext cx="4857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Research Ecosystem</a:t>
            </a:r>
          </a:p>
        </p:txBody>
      </p:sp>
      <p:sp>
        <p:nvSpPr>
          <p:cNvPr id="19" name="faculty-guidance-student-research-groups-data">
            <a:extLst>
              <a:ext uri="{FF2B5EF4-FFF2-40B4-BE49-F238E27FC236}">
                <a16:creationId xmlns:a16="http://schemas.microsoft.com/office/drawing/2014/main" id="{2933A2A9-29CF-404B-8B84-C42042FC725D}"/>
              </a:ext>
            </a:extLst>
          </p:cNvPr>
          <p:cNvSpPr>
            <a:spLocks noGrp="1"/>
          </p:cNvSpPr>
          <p:nvPr/>
        </p:nvSpPr>
        <p:spPr>
          <a:xfrm>
            <a:off x="1066800" y="7467600"/>
            <a:ext cx="48577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Faculty guidance, student research groups, dataset work, and responsible AI validation.</a:t>
            </a:r>
          </a:p>
        </p:txBody>
      </p:sp>
      <p:sp>
        <p:nvSpPr>
          <p:cNvPr id="20" name="need-cloud">
            <a:extLst>
              <a:ext uri="{FF2B5EF4-FFF2-40B4-BE49-F238E27FC236}">
                <a16:creationId xmlns:a16="http://schemas.microsoft.com/office/drawing/2014/main" id="{66FF7932-9513-4CA0-9222-7E5A5ACD778E}"/>
              </a:ext>
            </a:extLst>
          </p:cNvPr>
          <p:cNvSpPr>
            <a:spLocks noGrp="1"/>
          </p:cNvSpPr>
          <p:nvPr/>
        </p:nvSpPr>
        <p:spPr>
          <a:xfrm>
            <a:off x="6432550" y="6661785"/>
            <a:ext cx="5422900" cy="2333625"/>
          </a:xfrm>
          <a:prstGeom prst="roundRect">
            <a:avLst>
              <a:gd name="adj" fmla="val 4898"/>
            </a:avLst>
          </a:prstGeom>
          <a:solidFill>
            <a:srgbClr val="111217"/>
          </a:solidFill>
        </p:spPr>
      </p:sp>
      <p:sp>
        <p:nvSpPr>
          <p:cNvPr id="21" name="infrastructure">
            <a:extLst>
              <a:ext uri="{FF2B5EF4-FFF2-40B4-BE49-F238E27FC236}">
                <a16:creationId xmlns:a16="http://schemas.microsoft.com/office/drawing/2014/main" id="{09DA7187-C13F-423C-BDA0-3DC428788C84}"/>
              </a:ext>
            </a:extLst>
          </p:cNvPr>
          <p:cNvSpPr>
            <a:spLocks noGrp="1"/>
          </p:cNvSpPr>
          <p:nvPr/>
        </p:nvSpPr>
        <p:spPr>
          <a:xfrm>
            <a:off x="6724650" y="6915150"/>
            <a:ext cx="4857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Infrastructure</a:t>
            </a:r>
          </a:p>
        </p:txBody>
      </p:sp>
      <p:sp>
        <p:nvSpPr>
          <p:cNvPr id="22" name="deployment-support-testing-monitoring-databas">
            <a:extLst>
              <a:ext uri="{FF2B5EF4-FFF2-40B4-BE49-F238E27FC236}">
                <a16:creationId xmlns:a16="http://schemas.microsoft.com/office/drawing/2014/main" id="{C963528F-30AD-4D40-9AD3-4B47756E0B3B}"/>
              </a:ext>
            </a:extLst>
          </p:cNvPr>
          <p:cNvSpPr>
            <a:spLocks noGrp="1"/>
          </p:cNvSpPr>
          <p:nvPr/>
        </p:nvSpPr>
        <p:spPr>
          <a:xfrm>
            <a:off x="6724650" y="7467600"/>
            <a:ext cx="48577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Deployment support, testing, monitoring, databases, security, and scaling architecture.</a:t>
            </a:r>
          </a:p>
        </p:txBody>
      </p:sp>
      <p:sp>
        <p:nvSpPr>
          <p:cNvPr id="23" name="need-network">
            <a:extLst>
              <a:ext uri="{FF2B5EF4-FFF2-40B4-BE49-F238E27FC236}">
                <a16:creationId xmlns:a16="http://schemas.microsoft.com/office/drawing/2014/main" id="{88A5DA7C-B5A7-47F7-B6CE-6540A07F2841}"/>
              </a:ext>
            </a:extLst>
          </p:cNvPr>
          <p:cNvSpPr>
            <a:spLocks noGrp="1"/>
          </p:cNvSpPr>
          <p:nvPr/>
        </p:nvSpPr>
        <p:spPr>
          <a:xfrm>
            <a:off x="12084050" y="6661785"/>
            <a:ext cx="5422900" cy="2333625"/>
          </a:xfrm>
          <a:prstGeom prst="roundRect">
            <a:avLst>
              <a:gd name="adj" fmla="val 4898"/>
            </a:avLst>
          </a:prstGeom>
          <a:solidFill>
            <a:srgbClr val="111217"/>
          </a:solidFill>
        </p:spPr>
      </p:sp>
      <p:sp>
        <p:nvSpPr>
          <p:cNvPr id="24" name="partnerships">
            <a:extLst>
              <a:ext uri="{FF2B5EF4-FFF2-40B4-BE49-F238E27FC236}">
                <a16:creationId xmlns:a16="http://schemas.microsoft.com/office/drawing/2014/main" id="{1A7ADFE3-84C4-41F7-85FF-A3C0C648133D}"/>
              </a:ext>
            </a:extLst>
          </p:cNvPr>
          <p:cNvSpPr>
            <a:spLocks noGrp="1"/>
          </p:cNvSpPr>
          <p:nvPr/>
        </p:nvSpPr>
        <p:spPr>
          <a:xfrm>
            <a:off x="12363450" y="6915150"/>
            <a:ext cx="4857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Partnerships</a:t>
            </a:r>
          </a:p>
        </p:txBody>
      </p:sp>
      <p:sp>
        <p:nvSpPr>
          <p:cNvPr id="25" name="gyms-colleges-sports-clubs-health-programs-an">
            <a:extLst>
              <a:ext uri="{FF2B5EF4-FFF2-40B4-BE49-F238E27FC236}">
                <a16:creationId xmlns:a16="http://schemas.microsoft.com/office/drawing/2014/main" id="{FA8CFE05-E567-413D-9BA6-89BD8D1ECEBD}"/>
              </a:ext>
            </a:extLst>
          </p:cNvPr>
          <p:cNvSpPr>
            <a:spLocks noGrp="1"/>
          </p:cNvSpPr>
          <p:nvPr/>
        </p:nvSpPr>
        <p:spPr>
          <a:xfrm>
            <a:off x="12363450" y="7467600"/>
            <a:ext cx="48577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Gyms, colleges, sports clubs, health programs, and early user pilots.</a:t>
            </a:r>
          </a:p>
        </p:txBody>
      </p:sp>
    </p:spTree>
    <p:extLst>
      <p:ext uri="{BB962C8B-B14F-4D97-AF65-F5344CB8AC3E}">
        <p14:creationId xmlns:p14="http://schemas.microsoft.com/office/powerpoint/2010/main" val="203230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g">
            <a:extLst>
              <a:ext uri="{FF2B5EF4-FFF2-40B4-BE49-F238E27FC236}">
                <a16:creationId xmlns:a16="http://schemas.microsoft.com/office/drawing/2014/main" id="{A3ED8B40-D7BB-423C-81F7-6430ECB08667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8288000" cy="10287000"/>
          </a:xfrm>
          <a:prstGeom prst="rect">
            <a:avLst/>
          </a:prstGeom>
          <a:solidFill>
            <a:srgbClr val="050506"/>
          </a:solidFill>
        </p:spPr>
      </p:sp>
      <p:sp>
        <p:nvSpPr>
          <p:cNvPr id="2" name="top-glow">
            <a:extLst>
              <a:ext uri="{FF2B5EF4-FFF2-40B4-BE49-F238E27FC236}">
                <a16:creationId xmlns:a16="http://schemas.microsoft.com/office/drawing/2014/main" id="{B46EF8B8-8867-4521-A0FC-04A28E4F70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14350"/>
          </a:xfrm>
          <a:prstGeom prst="rect">
            <a:avLst/>
          </a:prstGeom>
          <a:solidFill>
            <a:srgbClr val="55070B"/>
          </a:solidFill>
        </p:spPr>
      </p:sp>
      <p:sp>
        <p:nvSpPr>
          <p:cNvPr id="3" name="bottom-line">
            <a:extLst>
              <a:ext uri="{FF2B5EF4-FFF2-40B4-BE49-F238E27FC236}">
                <a16:creationId xmlns:a16="http://schemas.microsoft.com/office/drawing/2014/main" id="{34404AE4-ECB0-491F-AF5C-51FB554C8C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0AE10702-F07F-408A-8288-368E99DF276B}"/>
              </a:ext>
            </a:extLst>
          </p:cNvPr>
          <p:cNvSpPr>
            <a:spLocks noGrp="1"/>
          </p:cNvSpPr>
          <p:nvPr/>
        </p:nvSpPr>
        <p:spPr>
          <a:xfrm>
            <a:off x="781050" y="2482850"/>
            <a:ext cx="666750" cy="47625"/>
          </a:xfrm>
          <a:prstGeom prst="rect">
            <a:avLst/>
          </a:prstGeom>
          <a:solidFill>
            <a:srgbClr val="E50914"/>
          </a:solidFill>
          <a:ln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C233BF7E-C339-4A76-BFCC-F17683A6A0F2}"/>
              </a:ext>
            </a:extLst>
          </p:cNvPr>
          <p:cNvSpPr>
            <a:spLocks noGrp="1"/>
          </p:cNvSpPr>
          <p:nvPr/>
        </p:nvSpPr>
        <p:spPr>
          <a:xfrm>
            <a:off x="1581150" y="2292350"/>
            <a:ext cx="14668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LONG-TERM IMPACT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BE5A7377-E95E-4F50-87AB-339447029556}"/>
              </a:ext>
            </a:extLst>
          </p:cNvPr>
          <p:cNvSpPr>
            <a:spLocks noGrp="1"/>
          </p:cNvSpPr>
          <p:nvPr/>
        </p:nvSpPr>
        <p:spPr>
          <a:xfrm>
            <a:off x="781050" y="2863850"/>
            <a:ext cx="137477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 dirty="0">
                <a:solidFill>
                  <a:srgbClr val="F8F5EF"/>
                </a:solidFill>
              </a:rPr>
              <a:t>A platform that improves people and builds AI capability.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C86C4C20-FA03-4142-8A42-0934B59898FB}"/>
              </a:ext>
            </a:extLst>
          </p:cNvPr>
          <p:cNvSpPr>
            <a:spLocks noGrp="1"/>
          </p:cNvSpPr>
          <p:nvPr/>
        </p:nvSpPr>
        <p:spPr>
          <a:xfrm>
            <a:off x="781050" y="3663950"/>
            <a:ext cx="10744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impact extends beyond users into students, institutions, local innovation, and India's AI product ecosystem.</a:t>
            </a:r>
          </a:p>
        </p:txBody>
      </p:sp>
      <p:sp>
        <p:nvSpPr>
          <p:cNvPr id="8" name="impact-health">
            <a:extLst>
              <a:ext uri="{FF2B5EF4-FFF2-40B4-BE49-F238E27FC236}">
                <a16:creationId xmlns:a16="http://schemas.microsoft.com/office/drawing/2014/main" id="{21EC340E-9D56-4AF6-95BB-1994DF5CFAE7}"/>
              </a:ext>
            </a:extLst>
          </p:cNvPr>
          <p:cNvSpPr>
            <a:spLocks noGrp="1"/>
          </p:cNvSpPr>
          <p:nvPr/>
        </p:nvSpPr>
        <p:spPr>
          <a:xfrm>
            <a:off x="781050" y="4357370"/>
            <a:ext cx="4024313" cy="2919730"/>
          </a:xfrm>
          <a:prstGeom prst="roundRect">
            <a:avLst>
              <a:gd name="adj" fmla="val 2840"/>
            </a:avLst>
          </a:prstGeom>
          <a:solidFill>
            <a:srgbClr val="111217"/>
          </a:solidFill>
        </p:spPr>
      </p:sp>
      <p:sp>
        <p:nvSpPr>
          <p:cNvPr id="9" name="health-transformation">
            <a:extLst>
              <a:ext uri="{FF2B5EF4-FFF2-40B4-BE49-F238E27FC236}">
                <a16:creationId xmlns:a16="http://schemas.microsoft.com/office/drawing/2014/main" id="{1776601E-6D29-4400-A9EF-CD86E9E9FDD1}"/>
              </a:ext>
            </a:extLst>
          </p:cNvPr>
          <p:cNvSpPr>
            <a:spLocks noGrp="1"/>
          </p:cNvSpPr>
          <p:nvPr/>
        </p:nvSpPr>
        <p:spPr>
          <a:xfrm>
            <a:off x="1066800" y="4597400"/>
            <a:ext cx="34480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F2E3A"/>
                </a:solidFill>
              </a:defRPr>
            </a:pPr>
            <a:r>
              <a:rPr sz="2550" b="1" i="0">
                <a:solidFill>
                  <a:srgbClr val="FF2E3A"/>
                </a:solidFill>
              </a:rPr>
              <a:t>Health Transformation</a:t>
            </a:r>
          </a:p>
        </p:txBody>
      </p:sp>
      <p:sp>
        <p:nvSpPr>
          <p:cNvPr id="10" name="better-consistency-habits-strength-nutrition-">
            <a:extLst>
              <a:ext uri="{FF2B5EF4-FFF2-40B4-BE49-F238E27FC236}">
                <a16:creationId xmlns:a16="http://schemas.microsoft.com/office/drawing/2014/main" id="{8AD27CF9-B27A-4A28-A07C-2F1F9C2C15CC}"/>
              </a:ext>
            </a:extLst>
          </p:cNvPr>
          <p:cNvSpPr>
            <a:spLocks noGrp="1"/>
          </p:cNvSpPr>
          <p:nvPr/>
        </p:nvSpPr>
        <p:spPr>
          <a:xfrm>
            <a:off x="1066800" y="5149850"/>
            <a:ext cx="34480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Better consistency, habits, strength, nutrition, and self-belief.</a:t>
            </a:r>
          </a:p>
        </p:txBody>
      </p:sp>
      <p:sp>
        <p:nvSpPr>
          <p:cNvPr id="11" name="impact-ai">
            <a:extLst>
              <a:ext uri="{FF2B5EF4-FFF2-40B4-BE49-F238E27FC236}">
                <a16:creationId xmlns:a16="http://schemas.microsoft.com/office/drawing/2014/main" id="{3B1C174D-4FEF-4217-AE81-921F2D7D562A}"/>
              </a:ext>
            </a:extLst>
          </p:cNvPr>
          <p:cNvSpPr>
            <a:spLocks noGrp="1"/>
          </p:cNvSpPr>
          <p:nvPr/>
        </p:nvSpPr>
        <p:spPr>
          <a:xfrm>
            <a:off x="5014913" y="4357370"/>
            <a:ext cx="4024313" cy="2919730"/>
          </a:xfrm>
          <a:prstGeom prst="roundRect">
            <a:avLst>
              <a:gd name="adj" fmla="val 2840"/>
            </a:avLst>
          </a:prstGeom>
          <a:solidFill>
            <a:srgbClr val="111217"/>
          </a:solidFill>
        </p:spPr>
      </p:sp>
      <p:sp>
        <p:nvSpPr>
          <p:cNvPr id="12" name="ai-research">
            <a:extLst>
              <a:ext uri="{FF2B5EF4-FFF2-40B4-BE49-F238E27FC236}">
                <a16:creationId xmlns:a16="http://schemas.microsoft.com/office/drawing/2014/main" id="{27449C10-CA2C-4049-9703-56D707308E7B}"/>
              </a:ext>
            </a:extLst>
          </p:cNvPr>
          <p:cNvSpPr>
            <a:spLocks noGrp="1"/>
          </p:cNvSpPr>
          <p:nvPr/>
        </p:nvSpPr>
        <p:spPr>
          <a:xfrm>
            <a:off x="5295900" y="4597400"/>
            <a:ext cx="34480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F2E3A"/>
                </a:solidFill>
              </a:defRPr>
            </a:pPr>
            <a:r>
              <a:rPr sz="2550" b="1" i="0">
                <a:solidFill>
                  <a:srgbClr val="FF2E3A"/>
                </a:solidFill>
              </a:rPr>
              <a:t>AI Research</a:t>
            </a:r>
          </a:p>
        </p:txBody>
      </p:sp>
      <p:sp>
        <p:nvSpPr>
          <p:cNvPr id="13" name="applied-model-training-routing-memory-systems">
            <a:extLst>
              <a:ext uri="{FF2B5EF4-FFF2-40B4-BE49-F238E27FC236}">
                <a16:creationId xmlns:a16="http://schemas.microsoft.com/office/drawing/2014/main" id="{D88A6E98-8D74-4D7B-8511-22EA87E190F5}"/>
              </a:ext>
            </a:extLst>
          </p:cNvPr>
          <p:cNvSpPr>
            <a:spLocks noGrp="1"/>
          </p:cNvSpPr>
          <p:nvPr/>
        </p:nvSpPr>
        <p:spPr>
          <a:xfrm>
            <a:off x="5295900" y="5149850"/>
            <a:ext cx="34480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Applied model training, routing, memory systems, and local inference research.</a:t>
            </a:r>
          </a:p>
        </p:txBody>
      </p:sp>
      <p:sp>
        <p:nvSpPr>
          <p:cNvPr id="14" name="impact-students">
            <a:extLst>
              <a:ext uri="{FF2B5EF4-FFF2-40B4-BE49-F238E27FC236}">
                <a16:creationId xmlns:a16="http://schemas.microsoft.com/office/drawing/2014/main" id="{E74BAB2D-B67E-4533-8CF4-434D7CB43E7A}"/>
              </a:ext>
            </a:extLst>
          </p:cNvPr>
          <p:cNvSpPr>
            <a:spLocks noGrp="1"/>
          </p:cNvSpPr>
          <p:nvPr/>
        </p:nvSpPr>
        <p:spPr>
          <a:xfrm>
            <a:off x="9248775" y="4357370"/>
            <a:ext cx="4024313" cy="2919730"/>
          </a:xfrm>
          <a:prstGeom prst="roundRect">
            <a:avLst>
              <a:gd name="adj" fmla="val 2840"/>
            </a:avLst>
          </a:prstGeom>
          <a:solidFill>
            <a:srgbClr val="111217"/>
          </a:solidFill>
        </p:spPr>
      </p:sp>
      <p:sp>
        <p:nvSpPr>
          <p:cNvPr id="15" name="student-opportunities">
            <a:extLst>
              <a:ext uri="{FF2B5EF4-FFF2-40B4-BE49-F238E27FC236}">
                <a16:creationId xmlns:a16="http://schemas.microsoft.com/office/drawing/2014/main" id="{00CAFDE4-E878-42B4-ACE2-D63E17949A6C}"/>
              </a:ext>
            </a:extLst>
          </p:cNvPr>
          <p:cNvSpPr>
            <a:spLocks noGrp="1"/>
          </p:cNvSpPr>
          <p:nvPr/>
        </p:nvSpPr>
        <p:spPr>
          <a:xfrm>
            <a:off x="9544050" y="4597400"/>
            <a:ext cx="34480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F2E3A"/>
                </a:solidFill>
              </a:defRPr>
            </a:pPr>
            <a:r>
              <a:rPr sz="2550" b="1" i="0">
                <a:solidFill>
                  <a:srgbClr val="FF2E3A"/>
                </a:solidFill>
              </a:rPr>
              <a:t>Student Opportunities</a:t>
            </a:r>
          </a:p>
        </p:txBody>
      </p:sp>
      <p:sp>
        <p:nvSpPr>
          <p:cNvPr id="16" name="internships-open-projects-startup-learning-an">
            <a:extLst>
              <a:ext uri="{FF2B5EF4-FFF2-40B4-BE49-F238E27FC236}">
                <a16:creationId xmlns:a16="http://schemas.microsoft.com/office/drawing/2014/main" id="{2E06F1FA-312B-474C-8B37-9932F4A1409E}"/>
              </a:ext>
            </a:extLst>
          </p:cNvPr>
          <p:cNvSpPr>
            <a:spLocks noGrp="1"/>
          </p:cNvSpPr>
          <p:nvPr/>
        </p:nvSpPr>
        <p:spPr>
          <a:xfrm>
            <a:off x="9544050" y="5149850"/>
            <a:ext cx="34480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Internships, open projects, startup learning, and technical upskilling.</a:t>
            </a:r>
          </a:p>
        </p:txBody>
      </p:sp>
      <p:sp>
        <p:nvSpPr>
          <p:cNvPr id="17" name="impact-india">
            <a:extLst>
              <a:ext uri="{FF2B5EF4-FFF2-40B4-BE49-F238E27FC236}">
                <a16:creationId xmlns:a16="http://schemas.microsoft.com/office/drawing/2014/main" id="{ED63749C-64D5-43C7-A214-72AC1B3A6BF0}"/>
              </a:ext>
            </a:extLst>
          </p:cNvPr>
          <p:cNvSpPr>
            <a:spLocks noGrp="1"/>
          </p:cNvSpPr>
          <p:nvPr/>
        </p:nvSpPr>
        <p:spPr>
          <a:xfrm>
            <a:off x="13482638" y="4357370"/>
            <a:ext cx="4024313" cy="2919730"/>
          </a:xfrm>
          <a:prstGeom prst="roundRect">
            <a:avLst>
              <a:gd name="adj" fmla="val 2840"/>
            </a:avLst>
          </a:prstGeom>
          <a:solidFill>
            <a:srgbClr val="111217"/>
          </a:solidFill>
        </p:spPr>
      </p:sp>
      <p:sp>
        <p:nvSpPr>
          <p:cNvPr id="18" name="indian-ai-product">
            <a:extLst>
              <a:ext uri="{FF2B5EF4-FFF2-40B4-BE49-F238E27FC236}">
                <a16:creationId xmlns:a16="http://schemas.microsoft.com/office/drawing/2014/main" id="{06A5CB1D-28DD-4503-8E89-E2B5F7B65DAD}"/>
              </a:ext>
            </a:extLst>
          </p:cNvPr>
          <p:cNvSpPr>
            <a:spLocks noGrp="1"/>
          </p:cNvSpPr>
          <p:nvPr/>
        </p:nvSpPr>
        <p:spPr>
          <a:xfrm>
            <a:off x="13773150" y="4597400"/>
            <a:ext cx="34480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F2E3A"/>
                </a:solidFill>
              </a:defRPr>
            </a:pPr>
            <a:r>
              <a:rPr sz="2550" b="1" i="0">
                <a:solidFill>
                  <a:srgbClr val="FF2E3A"/>
                </a:solidFill>
              </a:rPr>
              <a:t>Indian AI Product</a:t>
            </a:r>
          </a:p>
        </p:txBody>
      </p:sp>
      <p:sp>
        <p:nvSpPr>
          <p:cNvPr id="19" name="a-global-product-narrative-built-from-a-regio">
            <a:extLst>
              <a:ext uri="{FF2B5EF4-FFF2-40B4-BE49-F238E27FC236}">
                <a16:creationId xmlns:a16="http://schemas.microsoft.com/office/drawing/2014/main" id="{F15D9579-6535-4B06-826E-40E1E57E1BDC}"/>
              </a:ext>
            </a:extLst>
          </p:cNvPr>
          <p:cNvSpPr>
            <a:spLocks noGrp="1"/>
          </p:cNvSpPr>
          <p:nvPr/>
        </p:nvSpPr>
        <p:spPr>
          <a:xfrm>
            <a:off x="13773150" y="5149850"/>
            <a:ext cx="34480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 global product narrative built from a regional innovation ecosystem.</a:t>
            </a:r>
          </a:p>
        </p:txBody>
      </p:sp>
    </p:spTree>
    <p:extLst>
      <p:ext uri="{BB962C8B-B14F-4D97-AF65-F5344CB8AC3E}">
        <p14:creationId xmlns:p14="http://schemas.microsoft.com/office/powerpoint/2010/main" val="1937862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g">
            <a:extLst>
              <a:ext uri="{FF2B5EF4-FFF2-40B4-BE49-F238E27FC236}">
                <a16:creationId xmlns:a16="http://schemas.microsoft.com/office/drawing/2014/main" id="{96ECCB9B-0704-42DF-BAA7-23D0509144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06"/>
          </a:solidFill>
        </p:spPr>
      </p:sp>
      <p:sp>
        <p:nvSpPr>
          <p:cNvPr id="2" name="top-glow">
            <a:extLst>
              <a:ext uri="{FF2B5EF4-FFF2-40B4-BE49-F238E27FC236}">
                <a16:creationId xmlns:a16="http://schemas.microsoft.com/office/drawing/2014/main" id="{3D63726C-06C4-4E88-B9CE-33EE01BCD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14350"/>
          </a:xfrm>
          <a:prstGeom prst="rect">
            <a:avLst/>
          </a:prstGeom>
          <a:solidFill>
            <a:srgbClr val="55070B"/>
          </a:solidFill>
        </p:spPr>
      </p:sp>
      <p:sp>
        <p:nvSpPr>
          <p:cNvPr id="3" name="bottom-line">
            <a:extLst>
              <a:ext uri="{FF2B5EF4-FFF2-40B4-BE49-F238E27FC236}">
                <a16:creationId xmlns:a16="http://schemas.microsoft.com/office/drawing/2014/main" id="{A440922E-B7DB-47CF-9812-619483F072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4" name="closing-brand">
            <a:extLst>
              <a:ext uri="{FF2B5EF4-FFF2-40B4-BE49-F238E27FC236}">
                <a16:creationId xmlns:a16="http://schemas.microsoft.com/office/drawing/2014/main" id="{3C04DA82-E0AB-4DE6-BD9E-6A6708B90567}"/>
              </a:ext>
            </a:extLst>
          </p:cNvPr>
          <p:cNvSpPr>
            <a:spLocks noGrp="1"/>
          </p:cNvSpPr>
          <p:nvPr/>
        </p:nvSpPr>
        <p:spPr>
          <a:xfrm>
            <a:off x="952500" y="2838450"/>
            <a:ext cx="4838700" cy="1885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150" b="1" i="0">
                <a:solidFill>
                  <a:srgbClr val="F8F5EF"/>
                </a:solidFill>
              </a:defRPr>
            </a:pPr>
            <a:r>
              <a:rPr sz="6150" b="1" i="0">
                <a:solidFill>
                  <a:srgbClr val="F8F5EF"/>
                </a:solidFill>
              </a:rPr>
              <a:t>GRINDHAUS AI</a:t>
            </a:r>
          </a:p>
        </p:txBody>
      </p:sp>
      <p:sp>
        <p:nvSpPr>
          <p:cNvPr id="5" name="closing-sub">
            <a:extLst>
              <a:ext uri="{FF2B5EF4-FFF2-40B4-BE49-F238E27FC236}">
                <a16:creationId xmlns:a16="http://schemas.microsoft.com/office/drawing/2014/main" id="{209EDDD9-D9A5-4225-8432-D63C7D44B885}"/>
              </a:ext>
            </a:extLst>
          </p:cNvPr>
          <p:cNvSpPr>
            <a:spLocks noGrp="1"/>
          </p:cNvSpPr>
          <p:nvPr/>
        </p:nvSpPr>
        <p:spPr>
          <a:xfrm>
            <a:off x="952500" y="4972050"/>
            <a:ext cx="74104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The Future of AI-Powered Human Performance</a:t>
            </a:r>
          </a:p>
        </p:txBody>
      </p:sp>
      <p:sp>
        <p:nvSpPr>
          <p:cNvPr id="6" name="closing-copy">
            <a:extLst>
              <a:ext uri="{FF2B5EF4-FFF2-40B4-BE49-F238E27FC236}">
                <a16:creationId xmlns:a16="http://schemas.microsoft.com/office/drawing/2014/main" id="{7594A547-9D4C-426E-9770-22486C729099}"/>
              </a:ext>
            </a:extLst>
          </p:cNvPr>
          <p:cNvSpPr>
            <a:spLocks noGrp="1"/>
          </p:cNvSpPr>
          <p:nvPr/>
        </p:nvSpPr>
        <p:spPr>
          <a:xfrm>
            <a:off x="952500" y="5695950"/>
            <a:ext cx="102870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0" i="0">
                <a:solidFill>
                  <a:srgbClr val="C8C2B8"/>
                </a:solidFill>
              </a:defRPr>
            </a:pPr>
            <a:r>
              <a:rPr sz="2175" b="0" i="0">
                <a:solidFill>
                  <a:srgbClr val="C8C2B8"/>
                </a:solidFill>
              </a:rPr>
              <a:t>We are building AI that helps people become stronger, healthier, more consistent, and more capable.</a:t>
            </a:r>
          </a:p>
        </p:txBody>
      </p:sp>
      <p:sp>
        <p:nvSpPr>
          <p:cNvPr id="7" name="closing-statement">
            <a:extLst>
              <a:ext uri="{FF2B5EF4-FFF2-40B4-BE49-F238E27FC236}">
                <a16:creationId xmlns:a16="http://schemas.microsoft.com/office/drawing/2014/main" id="{A66B68D4-3138-4C0E-93A5-6E0B8509EA2E}"/>
              </a:ext>
            </a:extLst>
          </p:cNvPr>
          <p:cNvSpPr>
            <a:spLocks noGrp="1"/>
          </p:cNvSpPr>
          <p:nvPr/>
        </p:nvSpPr>
        <p:spPr>
          <a:xfrm>
            <a:off x="952500" y="6625590"/>
            <a:ext cx="9906000" cy="830580"/>
          </a:xfrm>
          <a:prstGeom prst="roundRect">
            <a:avLst>
              <a:gd name="adj" fmla="val 50000"/>
            </a:avLst>
          </a:prstGeom>
          <a:solidFill>
            <a:srgbClr val="160B0D"/>
          </a:solidFill>
        </p:spPr>
      </p:sp>
      <p:sp>
        <p:nvSpPr>
          <p:cNvPr id="8" name="built-in-chandrapur-designed-for-the-world-">
            <a:extLst>
              <a:ext uri="{FF2B5EF4-FFF2-40B4-BE49-F238E27FC236}">
                <a16:creationId xmlns:a16="http://schemas.microsoft.com/office/drawing/2014/main" id="{6FD78901-7A63-47F0-BA97-B7E5F8FBD90A}"/>
              </a:ext>
            </a:extLst>
          </p:cNvPr>
          <p:cNvSpPr>
            <a:spLocks noGrp="1"/>
          </p:cNvSpPr>
          <p:nvPr/>
        </p:nvSpPr>
        <p:spPr>
          <a:xfrm>
            <a:off x="1352550" y="6838950"/>
            <a:ext cx="9048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 i="0">
                <a:solidFill>
                  <a:srgbClr val="F8F5EF"/>
                </a:solidFill>
              </a:defRPr>
            </a:pPr>
            <a:r>
              <a:rPr sz="2700" b="1" i="0">
                <a:solidFill>
                  <a:srgbClr val="F8F5EF"/>
                </a:solidFill>
              </a:rPr>
              <a:t>Built in Chandrapur. Designed for the world.</a:t>
            </a:r>
          </a:p>
        </p:txBody>
      </p:sp>
    </p:spTree>
    <p:extLst>
      <p:ext uri="{BB962C8B-B14F-4D97-AF65-F5344CB8AC3E}">
        <p14:creationId xmlns:p14="http://schemas.microsoft.com/office/powerpoint/2010/main" val="14417398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2066</Words>
  <Application>Microsoft Office PowerPoint</Application>
  <DocSecurity>0</DocSecurity>
  <PresentationFormat>Custom</PresentationFormat>
  <Paragraphs>299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Atharv Pawar</cp:lastModifiedBy>
  <cp:revision>1</cp:revision>
  <dcterms:created xsi:type="dcterms:W3CDTF">2026-05-20T17:49:09Z</dcterms:created>
  <dcterms:modified xsi:type="dcterms:W3CDTF">2026-05-20T18:24:46Z</dcterms:modified>
</cp:coreProperties>
</file>