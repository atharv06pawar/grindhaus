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b96ca54f6429d" /><Relationship Type="http://schemas.openxmlformats.org/officeDocument/2006/relationships/extended-properties" Target="/docProps/app.xml" Id="R61b54f2058074b4f" /><Relationship Type="http://schemas.openxmlformats.org/officeDocument/2006/relationships/officeDocument" Target="/ppt/presentation.xml" Id="R01f1a9e4da0e48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c70e0011784d87"/>
  </p:sldMasterIdLst>
  <p:notesMasterIdLst>
    <p:notesMasterId xmlns:r="http://schemas.openxmlformats.org/officeDocument/2006/relationships" r:id="R0bef02feaaa140c0"/>
  </p:notesMasterIdLst>
  <p:sldIdLst>
    <p:sldId xmlns:r="http://schemas.openxmlformats.org/officeDocument/2006/relationships" id="256" r:id="R5cf560dccbf64393"/>
    <p:sldId xmlns:r="http://schemas.openxmlformats.org/officeDocument/2006/relationships" id="257" r:id="R805828dade214351"/>
    <p:sldId xmlns:r="http://schemas.openxmlformats.org/officeDocument/2006/relationships" id="258" r:id="R7a85d89db1e14a19"/>
    <p:sldId xmlns:r="http://schemas.openxmlformats.org/officeDocument/2006/relationships" id="259" r:id="Rd4a349ca114a40f4"/>
    <p:sldId xmlns:r="http://schemas.openxmlformats.org/officeDocument/2006/relationships" id="260" r:id="Re1bdc06ced6b4500"/>
    <p:sldId xmlns:r="http://schemas.openxmlformats.org/officeDocument/2006/relationships" id="261" r:id="R768432e13ef24dca"/>
    <p:sldId xmlns:r="http://schemas.openxmlformats.org/officeDocument/2006/relationships" id="262" r:id="R2fe7a1407bdf42bb"/>
    <p:sldId xmlns:r="http://schemas.openxmlformats.org/officeDocument/2006/relationships" id="263" r:id="R9e516c9f57c84afd"/>
    <p:sldId xmlns:r="http://schemas.openxmlformats.org/officeDocument/2006/relationships" id="264" r:id="R7b9a49aab3684012"/>
    <p:sldId xmlns:r="http://schemas.openxmlformats.org/officeDocument/2006/relationships" id="265" r:id="Rae52d867f86140e2"/>
    <p:sldId xmlns:r="http://schemas.openxmlformats.org/officeDocument/2006/relationships" id="266" r:id="Rcecea5f314e14ac6"/>
    <p:sldId xmlns:r="http://schemas.openxmlformats.org/officeDocument/2006/relationships" id="267" r:id="R4813444218964c77"/>
    <p:sldId xmlns:r="http://schemas.openxmlformats.org/officeDocument/2006/relationships" id="268" r:id="Rdc114bfa24fc4a78"/>
    <p:sldId xmlns:r="http://schemas.openxmlformats.org/officeDocument/2006/relationships" id="269" r:id="Rfc39f71f6d41428d"/>
    <p:sldId xmlns:r="http://schemas.openxmlformats.org/officeDocument/2006/relationships" id="270" r:id="Rc1bf8e97085d40e2"/>
    <p:sldId xmlns:r="http://schemas.openxmlformats.org/officeDocument/2006/relationships" id="271" r:id="R041e3f421e0a49f4"/>
    <p:sldId xmlns:r="http://schemas.openxmlformats.org/officeDocument/2006/relationships" id="272" r:id="R2f9b4e560769418c"/>
    <p:sldId xmlns:r="http://schemas.openxmlformats.org/officeDocument/2006/relationships" id="273" r:id="R964fdb013a414ea8"/>
    <p:sldId xmlns:r="http://schemas.openxmlformats.org/officeDocument/2006/relationships" id="274" r:id="R16bd51b8a5ed4fb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70e0011784d87" /><Relationship Type="http://schemas.openxmlformats.org/officeDocument/2006/relationships/theme" Target="/ppt/theme/theme1.xml" Id="Rc65335f9b8cc4be9" /><Relationship Type="http://schemas.openxmlformats.org/officeDocument/2006/relationships/notesMaster" Target="/ppt/notesMasters/notesMaster1.xml" Id="R0bef02feaaa140c0" /><Relationship Type="http://schemas.openxmlformats.org/officeDocument/2006/relationships/presProps" Target="/ppt/presProps.xml" Id="Rcf6a638a980b4e30" /><Relationship Type="http://schemas.openxmlformats.org/officeDocument/2006/relationships/viewProps" Target="/ppt/viewProps.xml" Id="R891ee1f736e54761" /><Relationship Type="http://schemas.openxmlformats.org/officeDocument/2006/relationships/tableStyles" Target="/ppt/tableStyles.xml" Id="R9b46fcd0e91b42de" /><Relationship Type="http://schemas.openxmlformats.org/officeDocument/2006/relationships/slide" Target="/ppt/slides/slide1.xml" Id="R5cf560dccbf64393" /><Relationship Type="http://schemas.openxmlformats.org/officeDocument/2006/relationships/slide" Target="/ppt/slides/slide2.xml" Id="R805828dade214351" /><Relationship Type="http://schemas.openxmlformats.org/officeDocument/2006/relationships/slide" Target="/ppt/slides/slide3.xml" Id="R7a85d89db1e14a19" /><Relationship Type="http://schemas.openxmlformats.org/officeDocument/2006/relationships/slide" Target="/ppt/slides/slide4.xml" Id="Rd4a349ca114a40f4" /><Relationship Type="http://schemas.openxmlformats.org/officeDocument/2006/relationships/slide" Target="/ppt/slides/slide5.xml" Id="Re1bdc06ced6b4500" /><Relationship Type="http://schemas.openxmlformats.org/officeDocument/2006/relationships/slide" Target="/ppt/slides/slide6.xml" Id="R768432e13ef24dca" /><Relationship Type="http://schemas.openxmlformats.org/officeDocument/2006/relationships/slide" Target="/ppt/slides/slide7.xml" Id="R2fe7a1407bdf42bb" /><Relationship Type="http://schemas.openxmlformats.org/officeDocument/2006/relationships/slide" Target="/ppt/slides/slide8.xml" Id="R9e516c9f57c84afd" /><Relationship Type="http://schemas.openxmlformats.org/officeDocument/2006/relationships/slide" Target="/ppt/slides/slide9.xml" Id="R7b9a49aab3684012" /><Relationship Type="http://schemas.openxmlformats.org/officeDocument/2006/relationships/slide" Target="/ppt/slides/slide10.xml" Id="Rae52d867f86140e2" /><Relationship Type="http://schemas.openxmlformats.org/officeDocument/2006/relationships/slide" Target="/ppt/slides/slide11.xml" Id="Rcecea5f314e14ac6" /><Relationship Type="http://schemas.openxmlformats.org/officeDocument/2006/relationships/slide" Target="/ppt/slides/slide12.xml" Id="R4813444218964c77" /><Relationship Type="http://schemas.openxmlformats.org/officeDocument/2006/relationships/slide" Target="/ppt/slides/slide13.xml" Id="Rdc114bfa24fc4a78" /><Relationship Type="http://schemas.openxmlformats.org/officeDocument/2006/relationships/slide" Target="/ppt/slides/slide14.xml" Id="Rfc39f71f6d41428d" /><Relationship Type="http://schemas.openxmlformats.org/officeDocument/2006/relationships/slide" Target="/ppt/slides/slide15.xml" Id="Rc1bf8e97085d40e2" /><Relationship Type="http://schemas.openxmlformats.org/officeDocument/2006/relationships/slide" Target="/ppt/slides/slide16.xml" Id="R041e3f421e0a49f4" /><Relationship Type="http://schemas.openxmlformats.org/officeDocument/2006/relationships/slide" Target="/ppt/slides/slide17.xml" Id="R2f9b4e560769418c" /><Relationship Type="http://schemas.openxmlformats.org/officeDocument/2006/relationships/slide" Target="/ppt/slides/slide18.xml" Id="R964fdb013a414ea8" /><Relationship Type="http://schemas.openxmlformats.org/officeDocument/2006/relationships/slide" Target="/ppt/slides/slide19.xml" Id="R16bd51b8a5ed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674ea8c04e42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41608e3e34a0f" /><Relationship Type="http://schemas.openxmlformats.org/officeDocument/2006/relationships/notesMaster" Target="/ppt/notesMasters/notesMaster1.xml" Id="R6383919e29ff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4411ec25e4e2f" /><Relationship Type="http://schemas.openxmlformats.org/officeDocument/2006/relationships/notesMaster" Target="/ppt/notesMasters/notesMaster1.xml" Id="R760a04194921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8849186bf41e4" /><Relationship Type="http://schemas.openxmlformats.org/officeDocument/2006/relationships/notesMaster" Target="/ppt/notesMasters/notesMaster1.xml" Id="R980ae74c3510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777fc618b401c" /><Relationship Type="http://schemas.openxmlformats.org/officeDocument/2006/relationships/notesMaster" Target="/ppt/notesMasters/notesMaster1.xml" Id="R95c18d70215440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b85bb0d0b48a7" /><Relationship Type="http://schemas.openxmlformats.org/officeDocument/2006/relationships/notesMaster" Target="/ppt/notesMasters/notesMaster1.xml" Id="R6408cf42d224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8808aa8674679" /><Relationship Type="http://schemas.openxmlformats.org/officeDocument/2006/relationships/notesMaster" Target="/ppt/notesMasters/notesMaster1.xml" Id="Ra5a787cda8214b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b454972fd04993" /><Relationship Type="http://schemas.openxmlformats.org/officeDocument/2006/relationships/notesMaster" Target="/ppt/notesMasters/notesMaster1.xml" Id="R45711cf97cad42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a5f7cf1a8647d4" /><Relationship Type="http://schemas.openxmlformats.org/officeDocument/2006/relationships/notesMaster" Target="/ppt/notesMasters/notesMaster1.xml" Id="Rdbd03b1f59754f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850dc7fe34f86" /><Relationship Type="http://schemas.openxmlformats.org/officeDocument/2006/relationships/notesMaster" Target="/ppt/notesMasters/notesMaster1.xml" Id="R078ee9ffd6634f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7d154b3ff04529" /><Relationship Type="http://schemas.openxmlformats.org/officeDocument/2006/relationships/notesMaster" Target="/ppt/notesMasters/notesMaster1.xml" Id="Ra714cf333e7548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b4763050c64eb5" /><Relationship Type="http://schemas.openxmlformats.org/officeDocument/2006/relationships/notesMaster" Target="/ppt/notesMasters/notesMaster1.xml" Id="R3484a29903df45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c6f9c010d245cf" /><Relationship Type="http://schemas.openxmlformats.org/officeDocument/2006/relationships/notesMaster" Target="/ppt/notesMasters/notesMaster1.xml" Id="Rb76b46b9207e4f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c531025fc34532" /><Relationship Type="http://schemas.openxmlformats.org/officeDocument/2006/relationships/notesMaster" Target="/ppt/notesMasters/notesMaster1.xml" Id="R2d230d0e3d8745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594571d9744b75" /><Relationship Type="http://schemas.openxmlformats.org/officeDocument/2006/relationships/notesMaster" Target="/ppt/notesMasters/notesMaster1.xml" Id="R1b801428995b4c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4cd1ad3f8a49e5" /><Relationship Type="http://schemas.openxmlformats.org/officeDocument/2006/relationships/notesMaster" Target="/ppt/notesMasters/notesMaster1.xml" Id="Rad7963eca90b41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572c8c26ad449d" /><Relationship Type="http://schemas.openxmlformats.org/officeDocument/2006/relationships/notesMaster" Target="/ppt/notesMasters/notesMaster1.xml" Id="Rdbed7dcdf49344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b373de19614cd2" /><Relationship Type="http://schemas.openxmlformats.org/officeDocument/2006/relationships/notesMaster" Target="/ppt/notesMasters/notesMaster1.xml" Id="R524c7f8016324c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f4d74de38d44c8" /><Relationship Type="http://schemas.openxmlformats.org/officeDocument/2006/relationships/notesMaster" Target="/ppt/notesMasters/notesMaster1.xml" Id="R0e1243b6b1ce4d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58499d4d834c20" /><Relationship Type="http://schemas.openxmlformats.org/officeDocument/2006/relationships/notesMaster" Target="/ppt/notesMasters/notesMaster1.xml" Id="R9b48ebbd16eb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confidence: this is not just a fitness app. Position GrindHaus AI as a human-performance AI ecosystem built from Chandrapur for global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frame the pain: people know what to do, but they fail because systems are not adaptive enough. Mention WHO numbers as market/context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audience feel the ambition: GrindHaus is a performance operating system. The key phrase to repeat is: an intelligent companion that evolves with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as an ecosystem. Each module has standalone value, but the AI companion connects them into a personalized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technical heart of the pitch. Stress the separation between expert mode and companion mode. That avoids unsafe tone mixing and creates a better user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workout intelligence is not only a list of exercises. The real value is adaptive planning and progressive overload based on user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nutrition sound practical, not medical. We are building behavior support, not replacing doctors or dieticians.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community to retention. Investors and incubators care about usage loops. Community creates accountability and organic growth.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execution maturity. The app is not a static landing page. It has frontend, backend, auth, API structure, AI memory, and a future research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grounded. We are not claiming to capture the whole market. The point is that the timing is strong: AI infrastructure, digital health, wellness behavior, and fitness apps are all growing.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connect GrindHaus to India's AI future. Say: if India can build AI for commerce and productivity, it can also build AI for human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competitors. Say each solves part of the problem, but GrindHaus combines the missing pieces into one adaptive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point: accessible does not mean non-commercial. The business scales through layers and partnerships, not by locking basic health guidance away from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important for CIIIT and government alignment. It shows values: inclusive technology, responsible AI, and ecosystem-led 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clear on execution: Phase 1 and 2 are product/MVP. Later phases need support, compute, mentorship, and research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government-funding alignment slide. Make it about institutional impact, not only your startup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specific. You are not just asking for money; you are asking for an environment where technical innovation can mature.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the institutional argument here: GrindHaus can become both a business and a local AI capability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conviction. Pause before the final line. This is the line they should remember: Built in Chandrapur. Designed for the world.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af05789294c5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9adf42b62c446d8" /><Relationship Type="http://schemas.openxmlformats.org/officeDocument/2006/relationships/slideLayout" Target="/ppt/slideLayouts/slideLayout2.xml" Id="R6e6fc5f772f8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6fc5f772f8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8e1f068bd145de" /><Relationship Type="http://schemas.openxmlformats.org/officeDocument/2006/relationships/notesSlide" Target="/ppt/notesSlides/notesSlide1.xml" Id="R2e1f80939f674f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4c1f3d59145c3" /><Relationship Type="http://schemas.openxmlformats.org/officeDocument/2006/relationships/notesSlide" Target="/ppt/notesSlides/notesSlide2.xml" Id="R869eb944c9c7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b499016374cd4" /><Relationship Type="http://schemas.openxmlformats.org/officeDocument/2006/relationships/notesSlide" Target="/ppt/notesSlides/notesSlide3.xml" Id="R2ce0b15c03c44c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d701c00cc48a0" /><Relationship Type="http://schemas.openxmlformats.org/officeDocument/2006/relationships/notesSlide" Target="/ppt/notesSlides/notesSlide4.xml" Id="R9a4f80fb1548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a9a5ad56a84eaa" /><Relationship Type="http://schemas.openxmlformats.org/officeDocument/2006/relationships/notesSlide" Target="/ppt/notesSlides/notesSlide5.xml" Id="R3eb5039ddcdc46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0f2ed2ffea4a56" /><Relationship Type="http://schemas.openxmlformats.org/officeDocument/2006/relationships/notesSlide" Target="/ppt/notesSlides/notesSlide6.xml" Id="Rc156d391fc6940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1f276b060b4abf" /><Relationship Type="http://schemas.openxmlformats.org/officeDocument/2006/relationships/notesSlide" Target="/ppt/notesSlides/notesSlide7.xml" Id="R1bdd321cccb04f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786ed582942b6" /><Relationship Type="http://schemas.openxmlformats.org/officeDocument/2006/relationships/notesSlide" Target="/ppt/notesSlides/notesSlide8.xml" Id="Rcd2653fe1ffd41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58d9a7a6a94c1f" /><Relationship Type="http://schemas.openxmlformats.org/officeDocument/2006/relationships/notesSlide" Target="/ppt/notesSlides/notesSlide9.xml" Id="R40d25128dc3040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51451d8bd498b" /><Relationship Type="http://schemas.openxmlformats.org/officeDocument/2006/relationships/chart" Target="/ppt/slides/charts/chart1.xml" Id="Rc7c212027d3349f8" /><Relationship Type="http://schemas.openxmlformats.org/officeDocument/2006/relationships/notesSlide" Target="/ppt/notesSlides/notesSlide10.xml" Id="R979fdecab45346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de0b8bba4478f" /><Relationship Type="http://schemas.openxmlformats.org/officeDocument/2006/relationships/notesSlide" Target="/ppt/notesSlides/notesSlide11.xml" Id="Ra7fb4e7dce4a46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4859640374fe8" /><Relationship Type="http://schemas.openxmlformats.org/officeDocument/2006/relationships/notesSlide" Target="/ppt/notesSlides/notesSlide12.xml" Id="Rc66f194401a54f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dde754d924f3b" /><Relationship Type="http://schemas.openxmlformats.org/officeDocument/2006/relationships/notesSlide" Target="/ppt/notesSlides/notesSlide13.xml" Id="R18026bd50dd64e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2b990710784388" /><Relationship Type="http://schemas.openxmlformats.org/officeDocument/2006/relationships/notesSlide" Target="/ppt/notesSlides/notesSlide14.xml" Id="Rc6f203026a2d4f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b11a8fef54ecc" /><Relationship Type="http://schemas.openxmlformats.org/officeDocument/2006/relationships/notesSlide" Target="/ppt/notesSlides/notesSlide15.xml" Id="R0dc72e63929747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6e8913e794c6f" /><Relationship Type="http://schemas.openxmlformats.org/officeDocument/2006/relationships/notesSlide" Target="/ppt/notesSlides/notesSlide16.xml" Id="Rf8baaa863b8b46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e39f296cee4bcd" /><Relationship Type="http://schemas.openxmlformats.org/officeDocument/2006/relationships/notesSlide" Target="/ppt/notesSlides/notesSlide17.xml" Id="R8d438cb3bdca4a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a6a2b329d4668" /><Relationship Type="http://schemas.openxmlformats.org/officeDocument/2006/relationships/notesSlide" Target="/ppt/notesSlides/notesSlide18.xml" Id="R085d44ba0cfd49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64b849d0248e6" /><Relationship Type="http://schemas.openxmlformats.org/officeDocument/2006/relationships/notesSlide" Target="/ppt/notesSlides/notesSlide19.xml" Id="R77afe749648f489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USD Bn</c:v>
          </c:tx>
          <c:cat>
            <c:strLit>
              <c:ptCount val="4"/>
              <c:pt idx="0">
                <c:v>Global fitness apps 2024</c:v>
              </c:pt>
              <c:pt idx="1">
                <c:v>Global wellness apps 2030</c:v>
              </c:pt>
              <c:pt idx="2">
                <c:v>India digital health 2024</c:v>
              </c:pt>
              <c:pt idx="3">
                <c:v>India digital health 2033</c:v>
              </c:pt>
            </c:strLit>
          </c:cat>
          <c:val>
            <c:numLit>
              <c:formatCode/>
              <c:ptCount val="4"/>
              <c:pt idx="0">
                <c:v>10.6</c:v>
              </c:pt>
              <c:pt idx="1">
                <c:v>26.2</c:v>
              </c:pt>
              <c:pt idx="2">
                <c:v>14.5</c:v>
              </c:pt>
              <c:pt idx="3">
                <c:v>107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41238AD-7C1A-4CF0-9DEA-ED9C5DD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DDDAC71E-435F-4568-934A-1635B65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0DF7CF5F-5BFF-4FF0-8DC5-CA7C08B6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prepared-for-ciiit-gcoe-chandrapur">
            <a:extLst xmlns:a="http://schemas.openxmlformats.org/drawingml/2006/main">
              <a:ext uri="{FF2B5EF4-FFF2-40B4-BE49-F238E27FC236}">
                <a16:creationId xmlns:a16="http://schemas.microsoft.com/office/drawing/2014/main" id="{4BE912D1-824D-4D52-9383-9AD573F4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3140"/>
            <a:ext cx="339661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C0CBE-4663-4EC9-98D6-9052323A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971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2E3A"/>
                </a:solidFill>
              </a:defRPr>
            </a:pPr>
            <a:r>
              <a:rPr sz="1500" b="1">
                <a:solidFill>
                  <a:srgbClr val="FF2E3A"/>
                </a:solidFill>
              </a:rPr>
              <a:t>Prepared for CIIIT | GCOE Chandrapur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AA9C15-0CA7-4B09-86FE-EB9E5FC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6103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 i="0">
                <a:solidFill>
                  <a:srgbClr val="F8F5EF"/>
                </a:solidFill>
              </a:defRPr>
            </a:pPr>
            <a:r>
              <a:rPr sz="840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01C693-26F1-48C0-96E4-EFA3915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704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8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0A84E88E-5AAA-46F9-9213-48C7341A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7905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An intelligent fitness ecosystem combining AI coaching, behavioral memory, nutrition intelligence, community accountability, and future custom LLM research.</a:t>
            </a:r>
          </a:p>
        </p:txBody>
      </p:sp>
      <p:sp>
        <p:nvSpPr>
          <p:cNvPr id="9" name="cover-founder">
            <a:extLst xmlns:a="http://schemas.openxmlformats.org/drawingml/2006/main">
              <a:ext uri="{FF2B5EF4-FFF2-40B4-BE49-F238E27FC236}">
                <a16:creationId xmlns:a16="http://schemas.microsoft.com/office/drawing/2014/main" id="{407267EB-9A0C-4BE0-A774-F1B5BF94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43800"/>
            <a:ext cx="6438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8D8990"/>
                </a:solidFill>
              </a:defRPr>
            </a:pPr>
            <a:r>
              <a:rPr sz="1575" b="0" i="0">
                <a:solidFill>
                  <a:srgbClr val="8D8990"/>
                </a:solidFill>
              </a:rPr>
              <a:t>Founder: GrindHaus AI Team | Government College of Engineering, Chandrapur</a:t>
            </a:r>
          </a:p>
        </p:txBody>
      </p:sp>
      <p:sp>
        <p:nvSpPr>
          <p:cNvPr id="10" name="ai-core">
            <a:extLst xmlns:a="http://schemas.openxmlformats.org/drawingml/2006/main">
              <a:ext uri="{FF2B5EF4-FFF2-40B4-BE49-F238E27FC236}">
                <a16:creationId xmlns:a16="http://schemas.microsoft.com/office/drawing/2014/main" id="{1C3B569C-6A89-4EC2-88F9-CADFACE9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09850"/>
            <a:ext cx="4476750" cy="447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">
            <a:extLst xmlns:a="http://schemas.openxmlformats.org/drawingml/2006/main">
              <a:ext uri="{FF2B5EF4-FFF2-40B4-BE49-F238E27FC236}">
                <a16:creationId xmlns:a16="http://schemas.microsoft.com/office/drawing/2014/main" id="{FC4C6279-1E43-48D1-9A1A-7EE800FA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33800"/>
            <a:ext cx="37338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850" b="1" i="0">
                <a:solidFill>
                  <a:srgbClr val="FF2E3A"/>
                </a:solidFill>
              </a:defRPr>
            </a:pPr>
            <a:r>
              <a:rPr sz="8850" b="1" i="0">
                <a:solidFill>
                  <a:srgbClr val="FF2E3A"/>
                </a:solidFill>
              </a:rPr>
              <a:t>AI</a:t>
            </a:r>
          </a:p>
        </p:txBody>
      </p:sp>
      <p:sp>
        <p:nvSpPr>
          <p:cNvPr id="12" name="performance-brain">
            <a:extLst xmlns:a="http://schemas.openxmlformats.org/drawingml/2006/main">
              <a:ext uri="{FF2B5EF4-FFF2-40B4-BE49-F238E27FC236}">
                <a16:creationId xmlns:a16="http://schemas.microsoft.com/office/drawing/2014/main" id="{C2B1BD1E-A0EB-4367-8B7E-9BBE8246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257800"/>
            <a:ext cx="373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F5EF"/>
                </a:solidFill>
              </a:defRPr>
            </a:pPr>
            <a:r>
              <a:rPr sz="2100" b="1" i="0">
                <a:solidFill>
                  <a:srgbClr val="F8F5EF"/>
                </a:solidFill>
              </a:rPr>
              <a:t>Performance Brain</a:t>
            </a:r>
          </a:p>
        </p:txBody>
      </p:sp>
      <p:sp>
        <p:nvSpPr>
          <p:cNvPr id="13" name="memory-coaching-behavior">
            <a:extLst xmlns:a="http://schemas.openxmlformats.org/drawingml/2006/main">
              <a:ext uri="{FF2B5EF4-FFF2-40B4-BE49-F238E27FC236}">
                <a16:creationId xmlns:a16="http://schemas.microsoft.com/office/drawing/2014/main" id="{DAB10AB9-7224-4E5F-B9E9-C6AA1AA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73405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8C2B8"/>
                </a:solidFill>
              </a:defRPr>
            </a:pPr>
            <a:r>
              <a:rPr sz="1500" b="0" i="0">
                <a:solidFill>
                  <a:srgbClr val="C8C2B8"/>
                </a:solidFill>
              </a:rPr>
              <a:t>Memory + Coaching + Behavior</a:t>
            </a:r>
          </a:p>
        </p:txBody>
      </p:sp>
      <p:sp>
        <p:nvSpPr>
          <p:cNvPr id="14" name="chip-fitness">
            <a:extLst xmlns:a="http://schemas.openxmlformats.org/drawingml/2006/main">
              <a:ext uri="{FF2B5EF4-FFF2-40B4-BE49-F238E27FC236}">
                <a16:creationId xmlns:a16="http://schemas.microsoft.com/office/drawing/2014/main" id="{CD7BF813-2D57-476F-8C37-80C0F66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358" y="7258050"/>
            <a:ext cx="96964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C6BF6-05DF-4F22-98F1-1A4FAF3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73533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Fitness</a:t>
            </a:r>
          </a:p>
        </p:txBody>
      </p:sp>
      <p:sp>
        <p:nvSpPr>
          <p:cNvPr id="16" name="chip-nutrition">
            <a:extLst xmlns:a="http://schemas.openxmlformats.org/drawingml/2006/main">
              <a:ext uri="{FF2B5EF4-FFF2-40B4-BE49-F238E27FC236}">
                <a16:creationId xmlns:a16="http://schemas.microsoft.com/office/drawing/2014/main" id="{69AB758C-E009-4381-BE99-CBE0B884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7353" y="7258050"/>
            <a:ext cx="1143667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4DC83-BA36-44AC-A7A1-D774DCEF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35330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Nutrition</a:t>
            </a:r>
          </a:p>
        </p:txBody>
      </p:sp>
      <p:sp>
        <p:nvSpPr>
          <p:cNvPr id="18" name="chip-companion-ai">
            <a:extLst xmlns:a="http://schemas.openxmlformats.org/drawingml/2006/main">
              <a:ext uri="{FF2B5EF4-FFF2-40B4-BE49-F238E27FC236}">
                <a16:creationId xmlns:a16="http://schemas.microsoft.com/office/drawing/2014/main" id="{4204D8C7-F070-44CB-A660-BCB93AA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4369" y="7258050"/>
            <a:ext cx="1536573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173E6-E131-4CE4-9584-11389D8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73533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Companion AI</a:t>
            </a:r>
          </a:p>
        </p:txBody>
      </p:sp>
    </p:spTree>
    <p:extLst>
      <p:ext uri="{BB962C8B-B14F-4D97-AF65-F5344CB8AC3E}">
        <p14:creationId xmlns:p14="http://schemas.microsoft.com/office/powerpoint/2010/main" val="2808318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19C6338-DE86-4A22-AA82-0E49174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9C71634-D86E-4F9A-940E-DB3FBCED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9381410-C569-4F67-B31F-4C5192E3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3C64F5C-8C62-41D5-A290-27C25360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5279839-7CE6-466E-87C3-29BD852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66750"/>
            <a:ext cx="1028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THE PROBLEM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DBCDD-3328-4644-AB4A-FE06959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8700"/>
            <a:ext cx="12077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Fitness failure is usually not an information problem.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120936-92D9-4877-B04E-EA40B0B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6076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It is a consistency, personalization, and accountability problem.</a:t>
            </a:r>
          </a:p>
        </p:txBody>
      </p:sp>
      <p:sp>
        <p:nvSpPr>
          <p:cNvPr id="8" name="stat-1">
            <a:extLst xmlns:a="http://schemas.openxmlformats.org/drawingml/2006/main">
              <a:ext uri="{FF2B5EF4-FFF2-40B4-BE49-F238E27FC236}">
                <a16:creationId xmlns:a16="http://schemas.microsoft.com/office/drawing/2014/main" id="{9CAB78CA-6B71-488D-B908-93D90C40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79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31-">
            <a:extLst xmlns:a="http://schemas.openxmlformats.org/drawingml/2006/main">
              <a:ext uri="{FF2B5EF4-FFF2-40B4-BE49-F238E27FC236}">
                <a16:creationId xmlns:a16="http://schemas.microsoft.com/office/drawing/2014/main" id="{1486F8CD-65FB-4E7F-9EEA-967109FB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31%</a:t>
            </a:r>
          </a:p>
        </p:txBody>
      </p:sp>
      <p:sp>
        <p:nvSpPr>
          <p:cNvPr id="10" name="global-adults-physically-inactive">
            <a:extLst xmlns:a="http://schemas.openxmlformats.org/drawingml/2006/main">
              <a:ext uri="{FF2B5EF4-FFF2-40B4-BE49-F238E27FC236}">
                <a16:creationId xmlns:a16="http://schemas.microsoft.com/office/drawing/2014/main" id="{6CA91C9C-25C7-4F6C-96D7-EB1A3BD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43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global adults physically inactive</a:t>
            </a:r>
          </a:p>
        </p:txBody>
      </p:sp>
      <p:sp>
        <p:nvSpPr>
          <p:cNvPr id="11" name="who-estimates-1-8b-adults-are-not-active-enou">
            <a:extLst xmlns:a="http://schemas.openxmlformats.org/drawingml/2006/main">
              <a:ext uri="{FF2B5EF4-FFF2-40B4-BE49-F238E27FC236}">
                <a16:creationId xmlns:a16="http://schemas.microsoft.com/office/drawing/2014/main" id="{2EE52111-ABFD-44E8-9180-5DFA9830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3295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WHO estimates 1.8B adults are not active enough.</a:t>
            </a:r>
          </a:p>
        </p:txBody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8E3595E3-1064-4322-9312-64ACE5B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683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80-">
            <a:extLst xmlns:a="http://schemas.openxmlformats.org/drawingml/2006/main">
              <a:ext uri="{FF2B5EF4-FFF2-40B4-BE49-F238E27FC236}">
                <a16:creationId xmlns:a16="http://schemas.microsoft.com/office/drawing/2014/main" id="{0405F6E8-B284-485B-BF07-9EA8580A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028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80%</a:t>
            </a:r>
          </a:p>
        </p:txBody>
      </p:sp>
      <p:sp>
        <p:nvSpPr>
          <p:cNvPr id="14" name="adolescents-below-activity-guidelines">
            <a:extLst xmlns:a="http://schemas.openxmlformats.org/drawingml/2006/main">
              <a:ext uri="{FF2B5EF4-FFF2-40B4-BE49-F238E27FC236}">
                <a16:creationId xmlns:a16="http://schemas.microsoft.com/office/drawing/2014/main" id="{035D97BD-3034-4163-9015-8961F27E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5800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adolescents below activity guidelines</a:t>
            </a:r>
          </a:p>
        </p:txBody>
      </p:sp>
      <p:sp>
        <p:nvSpPr>
          <p:cNvPr id="15" name="the-next-generation-is-already-forming-low-ac">
            <a:extLst xmlns:a="http://schemas.openxmlformats.org/drawingml/2006/main">
              <a:ext uri="{FF2B5EF4-FFF2-40B4-BE49-F238E27FC236}">
                <a16:creationId xmlns:a16="http://schemas.microsoft.com/office/drawing/2014/main" id="{23CF06B0-3958-43F4-BAD4-8CE9C8B9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29500"/>
            <a:ext cx="381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The next generation is already forming low-activity habits.</a:t>
            </a:r>
          </a:p>
        </p:txBody>
      </p:sp>
      <p:sp>
        <p:nvSpPr>
          <p:cNvPr id="16" name="stat-3">
            <a:extLst xmlns:a="http://schemas.openxmlformats.org/drawingml/2006/main">
              <a:ext uri="{FF2B5EF4-FFF2-40B4-BE49-F238E27FC236}">
                <a16:creationId xmlns:a16="http://schemas.microsoft.com/office/drawing/2014/main" id="{86DF7E52-3357-49AC-9067-F9B2BF1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45680"/>
            <a:ext cx="8255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behavior">
            <a:extLst xmlns:a="http://schemas.openxmlformats.org/drawingml/2006/main">
              <a:ext uri="{FF2B5EF4-FFF2-40B4-BE49-F238E27FC236}">
                <a16:creationId xmlns:a16="http://schemas.microsoft.com/office/drawing/2014/main" id="{D8AE24C5-2650-4544-B157-D03717F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00950"/>
            <a:ext cx="2171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Behavior</a:t>
            </a:r>
          </a:p>
        </p:txBody>
      </p:sp>
      <p:sp>
        <p:nvSpPr>
          <p:cNvPr id="18" name="core-drop-off-driver">
            <a:extLst xmlns:a="http://schemas.openxmlformats.org/drawingml/2006/main">
              <a:ext uri="{FF2B5EF4-FFF2-40B4-BE49-F238E27FC236}">
                <a16:creationId xmlns:a16="http://schemas.microsoft.com/office/drawing/2014/main" id="{DB2B1C96-2C31-4493-BC69-D9625821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1695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core drop-off driver</a:t>
            </a:r>
          </a:p>
        </p:txBody>
      </p:sp>
      <p:sp>
        <p:nvSpPr>
          <p:cNvPr id="19" name="generic-plans-fail-when-life-stress-fatigue-a">
            <a:extLst xmlns:a="http://schemas.openxmlformats.org/drawingml/2006/main">
              <a:ext uri="{FF2B5EF4-FFF2-40B4-BE49-F238E27FC236}">
                <a16:creationId xmlns:a16="http://schemas.microsoft.com/office/drawing/2014/main" id="{03FE55CD-D4A7-4DAD-B0BC-8202A03F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53500"/>
            <a:ext cx="3600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Generic plans fail when life, stress, fatigue, and routine change.</a:t>
            </a:r>
          </a:p>
        </p:txBody>
      </p:sp>
      <p:sp>
        <p:nvSpPr>
          <p:cNvPr id="2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BEB3A2FB-527B-45C5-8BF8-36DF952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0" y="2887980"/>
            <a:ext cx="7842250" cy="6732270"/>
          </a:xfrm>
          <a:prstGeom xmlns:a="http://schemas.openxmlformats.org/drawingml/2006/main" prst="roundRect">
            <a:avLst>
              <a:gd name="adj" fmla="val 16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rrent-fitness-products-are-built-like-libra">
            <a:extLst xmlns:a="http://schemas.openxmlformats.org/drawingml/2006/main">
              <a:ext uri="{FF2B5EF4-FFF2-40B4-BE49-F238E27FC236}">
                <a16:creationId xmlns:a16="http://schemas.microsoft.com/office/drawing/2014/main" id="{EA28A740-3FC0-43F3-A5AE-DFC18ED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29150"/>
            <a:ext cx="62674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8F5EF"/>
                </a:solidFill>
              </a:defRPr>
            </a:pPr>
            <a:r>
              <a:rPr sz="3600" b="1" i="0">
                <a:solidFill>
                  <a:srgbClr val="F8F5EF"/>
                </a:solidFill>
              </a:rPr>
              <a:t>Current fitness products are built like libraries.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0E9DC7B-D07A-4293-B7C6-05F455B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1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BD903041-7068-4088-8D6C-8185A43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45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show workouts but do not understand behavior.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B567200C-369E-484A-85A2-E9B03C6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77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35B39E0B-86EC-4554-A79D-8F14C97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track data but rarely create emotional accountability.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752F0B25-104D-432A-8381-A454617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3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87D4A99D-D974-4583-B4B1-1AC3697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38950"/>
            <a:ext cx="678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monetize guidance aggressively instead of improving access.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894D33DC-0355-4622-BDF1-E59C87D5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543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601B3853-A867-4AC9-9AC3-AEEFAF08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315200"/>
            <a:ext cx="678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They do not adapt deeply to missed days, goals, fatigue, or motivation.</a:t>
            </a:r>
          </a:p>
        </p:txBody>
      </p:sp>
    </p:spTree>
    <p:extLst>
      <p:ext uri="{BB962C8B-B14F-4D97-AF65-F5344CB8AC3E}">
        <p14:creationId xmlns:p14="http://schemas.microsoft.com/office/powerpoint/2010/main" val="3118238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04AFCA1-1D30-4859-AB41-8CC07637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25281F8-00D0-40BE-88A6-75D8A15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636B11C-5F4B-4643-994E-2FD493A3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vision">
            <a:extLst xmlns:a="http://schemas.openxmlformats.org/drawingml/2006/main">
              <a:ext uri="{FF2B5EF4-FFF2-40B4-BE49-F238E27FC236}">
                <a16:creationId xmlns:a16="http://schemas.microsoft.com/office/drawing/2014/main" id="{7CE7339D-9CF3-44A0-B89F-25BD1BA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7490"/>
            <a:ext cx="905923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D4A79-5766-42A6-BA5B-777D04E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2E3A"/>
                </a:solidFill>
              </a:defRPr>
            </a:pPr>
            <a:r>
              <a:rPr sz="1500" b="1">
                <a:solidFill>
                  <a:srgbClr val="FF2E3A"/>
                </a:solidFill>
              </a:rPr>
              <a:t>Vision</a:t>
            </a:r>
          </a:p>
        </p:txBody>
      </p:sp>
      <p:sp>
        <p:nvSpPr>
          <p:cNvPr id="6" name="grindhaus-ai-is-not-an-app-">
            <a:extLst xmlns:a="http://schemas.openxmlformats.org/drawingml/2006/main">
              <a:ext uri="{FF2B5EF4-FFF2-40B4-BE49-F238E27FC236}">
                <a16:creationId xmlns:a16="http://schemas.microsoft.com/office/drawing/2014/main" id="{44E2709A-9F58-49ED-8086-D1C03913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88201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 is not an app.</a:t>
            </a:r>
          </a:p>
        </p:txBody>
      </p:sp>
      <p:sp>
        <p:nvSpPr>
          <p:cNvPr id="7" name="it-is-an-intelligent-companion-that-evolves-w">
            <a:extLst xmlns:a="http://schemas.openxmlformats.org/drawingml/2006/main">
              <a:ext uri="{FF2B5EF4-FFF2-40B4-BE49-F238E27FC236}">
                <a16:creationId xmlns:a16="http://schemas.microsoft.com/office/drawing/2014/main" id="{85A205A4-2318-4C0E-9776-F410E111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1506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2E3A"/>
                </a:solidFill>
              </a:defRPr>
            </a:pPr>
            <a:r>
              <a:rPr sz="3900" b="1" i="0">
                <a:solidFill>
                  <a:srgbClr val="FF2E3A"/>
                </a:solidFill>
              </a:rPr>
              <a:t>It is an intelligent companion that evolves with the user.</a:t>
            </a:r>
          </a:p>
        </p:txBody>
      </p:sp>
      <p:sp>
        <p:nvSpPr>
          <p:cNvPr id="8" name="the-long-term-platform-becomes-a-performance-">
            <a:extLst xmlns:a="http://schemas.openxmlformats.org/drawingml/2006/main">
              <a:ext uri="{FF2B5EF4-FFF2-40B4-BE49-F238E27FC236}">
                <a16:creationId xmlns:a16="http://schemas.microsoft.com/office/drawing/2014/main" id="{9A19B37F-75E6-406B-BDFA-144476B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2439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C8C2B8"/>
                </a:solidFill>
              </a:defRPr>
            </a:pPr>
            <a:r>
              <a:rPr sz="2250" b="0" i="0">
                <a:solidFill>
                  <a:srgbClr val="C8C2B8"/>
                </a:solidFill>
              </a:rPr>
              <a:t>The long-term platform becomes a performance layer around daily life: training, food, recovery, motivation, community, wearables, and AI-generated coaching experiences.</a:t>
            </a:r>
          </a:p>
        </p:txBody>
      </p:sp>
      <p:sp>
        <p:nvSpPr>
          <p:cNvPr id="9" name="chip-personal-memory">
            <a:extLst xmlns:a="http://schemas.openxmlformats.org/drawingml/2006/main">
              <a:ext uri="{FF2B5EF4-FFF2-40B4-BE49-F238E27FC236}">
                <a16:creationId xmlns:a16="http://schemas.microsoft.com/office/drawing/2014/main" id="{9DCC5C79-4C9D-483D-BD45-30D1DF53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61810"/>
            <a:ext cx="1810322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D46FC-3FEC-43CF-BB02-38E26444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532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Personal memory</a:t>
            </a:r>
          </a:p>
        </p:txBody>
      </p:sp>
      <p:sp>
        <p:nvSpPr>
          <p:cNvPr id="11" name="chip-adaptive-recommendations">
            <a:extLst xmlns:a="http://schemas.openxmlformats.org/drawingml/2006/main">
              <a:ext uri="{FF2B5EF4-FFF2-40B4-BE49-F238E27FC236}">
                <a16:creationId xmlns:a16="http://schemas.microsoft.com/office/drawing/2014/main" id="{EEBED3A5-E473-44D3-82E4-676FD93B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5222" y="6861810"/>
            <a:ext cx="2608898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784C1-E6D6-4873-9B59-C10EAC27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9532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Adaptive recommendations</a:t>
            </a:r>
          </a:p>
        </p:txBody>
      </p:sp>
      <p:sp>
        <p:nvSpPr>
          <p:cNvPr id="13" name="chip-accessible-guidance">
            <a:extLst xmlns:a="http://schemas.openxmlformats.org/drawingml/2006/main">
              <a:ext uri="{FF2B5EF4-FFF2-40B4-BE49-F238E27FC236}">
                <a16:creationId xmlns:a16="http://schemas.microsoft.com/office/drawing/2014/main" id="{BC74848C-2639-45E9-8469-C67350E9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519" y="6861810"/>
            <a:ext cx="1990153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E56D4-3A61-4A3B-9416-C9E5240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953250"/>
            <a:ext cx="156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Accessible guidance</a:t>
            </a:r>
          </a:p>
        </p:txBody>
      </p:sp>
      <p:sp>
        <p:nvSpPr>
          <p:cNvPr id="15" name="chip-indian-ai-product">
            <a:extLst xmlns:a="http://schemas.openxmlformats.org/drawingml/2006/main">
              <a:ext uri="{FF2B5EF4-FFF2-40B4-BE49-F238E27FC236}">
                <a16:creationId xmlns:a16="http://schemas.microsoft.com/office/drawing/2014/main" id="{F4C002C7-73D9-4388-94F2-18502B3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073" y="6861810"/>
            <a:ext cx="1789938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CAE70-03E0-4559-B5DB-D27B5AE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953250"/>
            <a:ext cx="137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5EF"/>
                </a:solidFill>
              </a:defRPr>
            </a:pPr>
            <a:r>
              <a:rPr sz="1500" b="1">
                <a:solidFill>
                  <a:srgbClr val="F8F5EF"/>
                </a:solidFill>
              </a:rPr>
              <a:t>Indian AI product</a:t>
            </a:r>
          </a:p>
        </p:txBody>
      </p:sp>
    </p:spTree>
    <p:extLst>
      <p:ext uri="{BB962C8B-B14F-4D97-AF65-F5344CB8AC3E}">
        <p14:creationId xmlns:p14="http://schemas.microsoft.com/office/powerpoint/2010/main" val="2144746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FB479AE-2316-4535-8FBA-A707B58D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F1C9EDD-C02A-4543-AE16-89AD68C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FFD4D58-39B3-46C4-B9A3-D9F4DBA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EA70E055-2642-4F96-9476-32EAD12E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04065046-09E8-49DA-BDAA-EC47672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PRODUCT OVERVIEW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494E65-183B-42DF-A4AB-2280413D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029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Five modules. One adaptive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FF4AE5-6031-4688-8FEB-71E4CE9A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944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unified user journey from discovery to coaching, tracking, community, and long-term personalization.</a:t>
            </a:r>
          </a:p>
        </p:txBody>
      </p:sp>
      <p:sp>
        <p:nvSpPr>
          <p:cNvPr id="8" name="module-workouts">
            <a:extLst xmlns:a="http://schemas.openxmlformats.org/drawingml/2006/main">
              <a:ext uri="{FF2B5EF4-FFF2-40B4-BE49-F238E27FC236}">
                <a16:creationId xmlns:a16="http://schemas.microsoft.com/office/drawing/2014/main" id="{51684D13-E351-4E3D-999E-48D213E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workout-library">
            <a:extLst xmlns:a="http://schemas.openxmlformats.org/drawingml/2006/main">
              <a:ext uri="{FF2B5EF4-FFF2-40B4-BE49-F238E27FC236}">
                <a16:creationId xmlns:a16="http://schemas.microsoft.com/office/drawing/2014/main" id="{77357E79-023A-462B-9B6F-32BF3A7E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Workout Library</a:t>
            </a:r>
          </a:p>
        </p:txBody>
      </p:sp>
      <p:sp>
        <p:nvSpPr>
          <p:cNvPr id="10" name="structured-exercise-discovery-plans-muscle-gr">
            <a:extLst xmlns:a="http://schemas.openxmlformats.org/drawingml/2006/main">
              <a:ext uri="{FF2B5EF4-FFF2-40B4-BE49-F238E27FC236}">
                <a16:creationId xmlns:a16="http://schemas.microsoft.com/office/drawing/2014/main" id="{C1057457-8144-4424-BEBA-7EA713C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26098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Structured exercise discovery, plans, muscle groups, and progression logic.</a:t>
            </a:r>
          </a:p>
        </p:txBody>
      </p:sp>
      <p:sp>
        <p:nvSpPr>
          <p:cNvPr id="11" name="module-technique">
            <a:extLst xmlns:a="http://schemas.openxmlformats.org/drawingml/2006/main">
              <a:ext uri="{FF2B5EF4-FFF2-40B4-BE49-F238E27FC236}">
                <a16:creationId xmlns:a16="http://schemas.microsoft.com/office/drawing/2014/main" id="{DC63B43A-9C46-4918-8921-D1D01C1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technique-intelligence">
            <a:extLst xmlns:a="http://schemas.openxmlformats.org/drawingml/2006/main">
              <a:ext uri="{FF2B5EF4-FFF2-40B4-BE49-F238E27FC236}">
                <a16:creationId xmlns:a16="http://schemas.microsoft.com/office/drawing/2014/main" id="{4E7FCEC7-0D51-4844-BF68-DC0C6D2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6098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Technique Intelligence</a:t>
            </a:r>
          </a:p>
        </p:txBody>
      </p:sp>
      <p:sp>
        <p:nvSpPr>
          <p:cNvPr id="13" name="exercise-form-education-targeted-muscles-and-">
            <a:extLst xmlns:a="http://schemas.openxmlformats.org/drawingml/2006/main">
              <a:ext uri="{FF2B5EF4-FFF2-40B4-BE49-F238E27FC236}">
                <a16:creationId xmlns:a16="http://schemas.microsoft.com/office/drawing/2014/main" id="{C7C5E1D0-B703-4F00-B6C1-083CE5FF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Exercise form education, targeted muscles, and future video guidance.</a:t>
            </a:r>
          </a:p>
        </p:txBody>
      </p:sp>
      <p:sp>
        <p:nvSpPr>
          <p:cNvPr id="14" name="module-nutrition">
            <a:extLst xmlns:a="http://schemas.openxmlformats.org/drawingml/2006/main">
              <a:ext uri="{FF2B5EF4-FFF2-40B4-BE49-F238E27FC236}">
                <a16:creationId xmlns:a16="http://schemas.microsoft.com/office/drawing/2014/main" id="{20753154-A800-441C-A7F6-A987DC9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nutrition-system">
            <a:extLst xmlns:a="http://schemas.openxmlformats.org/drawingml/2006/main">
              <a:ext uri="{FF2B5EF4-FFF2-40B4-BE49-F238E27FC236}">
                <a16:creationId xmlns:a16="http://schemas.microsoft.com/office/drawing/2014/main" id="{2F987947-3157-4919-952B-BEE778F2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Nutrition System</a:t>
            </a:r>
          </a:p>
        </p:txBody>
      </p:sp>
      <p:sp>
        <p:nvSpPr>
          <p:cNvPr id="16" name="macros-hydration-diet-suggestions-and-behavio">
            <a:extLst xmlns:a="http://schemas.openxmlformats.org/drawingml/2006/main">
              <a:ext uri="{FF2B5EF4-FFF2-40B4-BE49-F238E27FC236}">
                <a16:creationId xmlns:a16="http://schemas.microsoft.com/office/drawing/2014/main" id="{3E99F869-1746-4CA7-9F32-5A8C78C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Macros, hydration, diet suggestions, and behavior-aware reminders.</a:t>
            </a:r>
          </a:p>
        </p:txBody>
      </p:sp>
      <p:sp>
        <p:nvSpPr>
          <p:cNvPr id="17" name="module-community">
            <a:extLst xmlns:a="http://schemas.openxmlformats.org/drawingml/2006/main">
              <a:ext uri="{FF2B5EF4-FFF2-40B4-BE49-F238E27FC236}">
                <a16:creationId xmlns:a16="http://schemas.microsoft.com/office/drawing/2014/main" id="{735A5153-E8C5-46DA-9423-03CBBA1C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community-system">
            <a:extLst xmlns:a="http://schemas.openxmlformats.org/drawingml/2006/main">
              <a:ext uri="{FF2B5EF4-FFF2-40B4-BE49-F238E27FC236}">
                <a16:creationId xmlns:a16="http://schemas.microsoft.com/office/drawing/2014/main" id="{1E29CA84-7A71-480F-9920-BB9CBF41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8F5EF"/>
                </a:solidFill>
              </a:defRPr>
            </a:pPr>
            <a:r>
              <a:rPr sz="2400" b="1" i="0">
                <a:solidFill>
                  <a:srgbClr val="F8F5EF"/>
                </a:solidFill>
              </a:rPr>
              <a:t>Community System</a:t>
            </a:r>
          </a:p>
        </p:txBody>
      </p:sp>
      <p:sp>
        <p:nvSpPr>
          <p:cNvPr id="19" name="accountability-progress-sharing-social-motiva">
            <a:extLst xmlns:a="http://schemas.openxmlformats.org/drawingml/2006/main">
              <a:ext uri="{FF2B5EF4-FFF2-40B4-BE49-F238E27FC236}">
                <a16:creationId xmlns:a16="http://schemas.microsoft.com/office/drawing/2014/main" id="{4C6F8178-1339-4095-8428-3AAC915B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Accountability, progress sharing, social motivation, and creator pathways.</a:t>
            </a:r>
          </a:p>
        </p:txBody>
      </p:sp>
      <p:sp>
        <p:nvSpPr>
          <p:cNvPr id="20" name="module-ai">
            <a:extLst xmlns:a="http://schemas.openxmlformats.org/drawingml/2006/main">
              <a:ext uri="{FF2B5EF4-FFF2-40B4-BE49-F238E27FC236}">
                <a16:creationId xmlns:a16="http://schemas.microsoft.com/office/drawing/2014/main" id="{4B8D9775-0025-4411-B317-05E94DFA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410" y="2849880"/>
            <a:ext cx="3177540" cy="677037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180B0D"/>
          </a:solidFill>
        </p:spPr>
      </p:sp>
      <p:sp>
        <p:nvSpPr>
          <p:cNvPr id="21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858D1C9B-9ABD-4FCD-8C25-B6E58C04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105150"/>
            <a:ext cx="2609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F2E3A"/>
                </a:solidFill>
              </a:defRPr>
            </a:pPr>
            <a:r>
              <a:rPr sz="240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22" name="memory-driven-coaching-that-adapts-across-exp">
            <a:extLst xmlns:a="http://schemas.openxmlformats.org/drawingml/2006/main">
              <a:ext uri="{FF2B5EF4-FFF2-40B4-BE49-F238E27FC236}">
                <a16:creationId xmlns:a16="http://schemas.microsoft.com/office/drawing/2014/main" id="{5DF63FC6-586F-4028-B174-7D385854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3619500"/>
            <a:ext cx="2609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C2B8"/>
                </a:solidFill>
              </a:defRPr>
            </a:pPr>
            <a:r>
              <a:rPr sz="1725" b="0" i="0">
                <a:solidFill>
                  <a:srgbClr val="C8C2B8"/>
                </a:solidFill>
              </a:rPr>
              <a:t>Memory-driven coaching that adapts across expert and companion modes.</a:t>
            </a:r>
          </a:p>
        </p:txBody>
      </p:sp>
    </p:spTree>
    <p:extLst>
      <p:ext uri="{BB962C8B-B14F-4D97-AF65-F5344CB8AC3E}">
        <p14:creationId xmlns:p14="http://schemas.microsoft.com/office/powerpoint/2010/main" val="17427801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990BEA4-122A-4E29-BCCC-F31524D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BEB2012-DF2A-4122-95CA-855AB49D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402B83A3-AC7D-44FA-8CBB-94E647D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8203AD51-D741-4EA8-8841-36D87ED7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055236E-6780-4FF3-ADE9-1484B80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2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AI COMPANION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B2190E-53B0-4108-80F6-C47A94E3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1906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coach that remembers context, not just a chatbot.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A1C243-B73B-4F7E-AFF7-8485031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68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Dual-mode intelligence separates factual fitness guidance from warm companion support.</a:t>
            </a:r>
          </a:p>
        </p:txBody>
      </p:sp>
      <p:sp>
        <p:nvSpPr>
          <p:cNvPr id="8" name="node-0-user-signal">
            <a:extLst xmlns:a="http://schemas.openxmlformats.org/drawingml/2006/main">
              <a:ext uri="{FF2B5EF4-FFF2-40B4-BE49-F238E27FC236}">
                <a16:creationId xmlns:a16="http://schemas.microsoft.com/office/drawing/2014/main" id="{CF8D72E5-75C2-4F7A-B422-2D7774CA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37320-5064-4E2F-9E24-C333D9F3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User Signal</a:t>
            </a:r>
          </a:p>
        </p:txBody>
      </p:sp>
      <p:sp>
        <p:nvSpPr>
          <p:cNvPr id="10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CBAF4F33-B775-4A01-A701-FC3B4634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node-1-memory-layer">
            <a:extLst xmlns:a="http://schemas.openxmlformats.org/drawingml/2006/main">
              <a:ext uri="{FF2B5EF4-FFF2-40B4-BE49-F238E27FC236}">
                <a16:creationId xmlns:a16="http://schemas.microsoft.com/office/drawing/2014/main" id="{7B15398C-217D-46F3-A457-AE24D65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4F8B3-3641-4680-AFE1-C700B623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Memory Layer</a:t>
            </a:r>
          </a:p>
        </p:txBody>
      </p:sp>
      <p:sp>
        <p:nvSpPr>
          <p:cNvPr id="13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B5CC63CE-9511-4F35-8521-7734AB3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4" name="node-2-ai-router">
            <a:extLst xmlns:a="http://schemas.openxmlformats.org/drawingml/2006/main">
              <a:ext uri="{FF2B5EF4-FFF2-40B4-BE49-F238E27FC236}">
                <a16:creationId xmlns:a16="http://schemas.microsoft.com/office/drawing/2014/main" id="{AF1962ED-1A1E-49E9-8884-959A74A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8F335-50FE-4A3B-892D-5FB2997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AI Router</a:t>
            </a:r>
          </a:p>
        </p:txBody>
      </p:sp>
      <p:sp>
        <p:nvSpPr>
          <p:cNvPr id="16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AFC5CC0C-0313-41C3-8334-398239FC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node-3-response-engine">
            <a:extLst xmlns:a="http://schemas.openxmlformats.org/drawingml/2006/main">
              <a:ext uri="{FF2B5EF4-FFF2-40B4-BE49-F238E27FC236}">
                <a16:creationId xmlns:a16="http://schemas.microsoft.com/office/drawing/2014/main" id="{696D2BCB-9A3F-4978-B673-08BFF6A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FE438-23D0-4275-873B-B71B7E0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Response Engine</a:t>
            </a:r>
          </a:p>
        </p:txBody>
      </p:sp>
      <p:sp>
        <p:nvSpPr>
          <p:cNvPr id="19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39CAC143-FBC4-4466-9431-775E155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096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node-4-adaptive-action">
            <a:extLst xmlns:a="http://schemas.openxmlformats.org/drawingml/2006/main">
              <a:ext uri="{FF2B5EF4-FFF2-40B4-BE49-F238E27FC236}">
                <a16:creationId xmlns:a16="http://schemas.microsoft.com/office/drawing/2014/main" id="{F711D1FF-D7F6-4BEF-BA5D-DEFE438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619750"/>
            <a:ext cx="2381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B00C9-9275-4021-A28B-34664137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5810250"/>
            <a:ext cx="196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5EF"/>
                </a:solidFill>
              </a:defRPr>
            </a:pPr>
            <a:r>
              <a:rPr sz="1800" b="1">
                <a:solidFill>
                  <a:srgbClr val="F8F5EF"/>
                </a:solidFill>
              </a:rPr>
              <a:t>Adaptive Action</a:t>
            </a:r>
          </a:p>
        </p:txBody>
      </p:sp>
    </p:spTree>
    <p:extLst>
      <p:ext uri="{BB962C8B-B14F-4D97-AF65-F5344CB8AC3E}">
        <p14:creationId xmlns:p14="http://schemas.microsoft.com/office/powerpoint/2010/main" val="16660188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4523324-E037-488D-8C1A-D6B26090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E3B13470-2354-41DB-95B1-072AD094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438E518-8C91-4C11-BA47-E90808A0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85C73CBA-6E30-45F5-A4B5-C513E20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45580D1-F5C3-42B6-8525-2A07DF34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09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WORKOUT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D3DCBD-38F8-44D7-97AC-CFEFFA6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From static exercises to adaptive progression.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BADA81-6CD1-4A5D-979C-057EFCAC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8172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can evolve from workout discovery into a behavior-aware training engine.</a:t>
            </a:r>
          </a:p>
        </p:txBody>
      </p:sp>
      <p:sp>
        <p:nvSpPr>
          <p:cNvPr id="8" name="muscle-map">
            <a:extLst xmlns:a="http://schemas.openxmlformats.org/drawingml/2006/main">
              <a:ext uri="{FF2B5EF4-FFF2-40B4-BE49-F238E27FC236}">
                <a16:creationId xmlns:a16="http://schemas.microsoft.com/office/drawing/2014/main" id="{596D3DD6-07FD-4FB7-9078-0229F96F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7700486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targeted-muscle-graph">
            <a:extLst xmlns:a="http://schemas.openxmlformats.org/drawingml/2006/main">
              <a:ext uri="{FF2B5EF4-FFF2-40B4-BE49-F238E27FC236}">
                <a16:creationId xmlns:a16="http://schemas.microsoft.com/office/drawing/2014/main" id="{CD232744-A069-41D6-A7D1-5B87B4E2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6934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2E3A"/>
                </a:solidFill>
              </a:defRPr>
            </a:pPr>
            <a:r>
              <a:rPr sz="2250" b="1" i="0">
                <a:solidFill>
                  <a:srgbClr val="FF2E3A"/>
                </a:solidFill>
              </a:rPr>
              <a:t>TARGETED MUSCLE GRAPH</a:t>
            </a:r>
          </a:p>
        </p:txBody>
      </p:sp>
      <p:sp>
        <p:nvSpPr>
          <p:cNvPr id="10" name="muscle-0">
            <a:extLst xmlns:a="http://schemas.openxmlformats.org/drawingml/2006/main">
              <a:ext uri="{FF2B5EF4-FFF2-40B4-BE49-F238E27FC236}">
                <a16:creationId xmlns:a16="http://schemas.microsoft.com/office/drawing/2014/main" id="{D931F1B0-C322-4F76-88E2-3A7507D1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1" name="chest">
            <a:extLst xmlns:a="http://schemas.openxmlformats.org/drawingml/2006/main">
              <a:ext uri="{FF2B5EF4-FFF2-40B4-BE49-F238E27FC236}">
                <a16:creationId xmlns:a16="http://schemas.microsoft.com/office/drawing/2014/main" id="{30FE0C44-665E-4E35-ABC6-78CD6CAA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Chest</a:t>
            </a:r>
          </a:p>
        </p:txBody>
      </p:sp>
      <p:sp>
        <p:nvSpPr>
          <p:cNvPr id="12" name="muscle-1">
            <a:extLst xmlns:a="http://schemas.openxmlformats.org/drawingml/2006/main">
              <a:ext uri="{FF2B5EF4-FFF2-40B4-BE49-F238E27FC236}">
                <a16:creationId xmlns:a16="http://schemas.microsoft.com/office/drawing/2014/main" id="{B8D05C72-5990-4124-B56F-BB149784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7306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3" name="back">
            <a:extLst xmlns:a="http://schemas.openxmlformats.org/drawingml/2006/main">
              <a:ext uri="{FF2B5EF4-FFF2-40B4-BE49-F238E27FC236}">
                <a16:creationId xmlns:a16="http://schemas.microsoft.com/office/drawing/2014/main" id="{FC16E2C3-6C35-4CC3-8B39-439B1413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Back</a:t>
            </a:r>
          </a:p>
        </p:txBody>
      </p:sp>
      <p:sp>
        <p:nvSpPr>
          <p:cNvPr id="14" name="muscle-2">
            <a:extLst xmlns:a="http://schemas.openxmlformats.org/drawingml/2006/main">
              <a:ext uri="{FF2B5EF4-FFF2-40B4-BE49-F238E27FC236}">
                <a16:creationId xmlns:a16="http://schemas.microsoft.com/office/drawing/2014/main" id="{69AE9923-EEFB-4DE3-AAE0-753423C5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5" name="shoulders">
            <a:extLst xmlns:a="http://schemas.openxmlformats.org/drawingml/2006/main">
              <a:ext uri="{FF2B5EF4-FFF2-40B4-BE49-F238E27FC236}">
                <a16:creationId xmlns:a16="http://schemas.microsoft.com/office/drawing/2014/main" id="{3C8BD2BD-62A3-4B34-BAF1-84EEC2D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Shoulders</a:t>
            </a:r>
          </a:p>
        </p:txBody>
      </p:sp>
      <p:sp>
        <p:nvSpPr>
          <p:cNvPr id="16" name="muscle-3">
            <a:extLst xmlns:a="http://schemas.openxmlformats.org/drawingml/2006/main">
              <a:ext uri="{FF2B5EF4-FFF2-40B4-BE49-F238E27FC236}">
                <a16:creationId xmlns:a16="http://schemas.microsoft.com/office/drawing/2014/main" id="{AD9D813C-847B-474C-89F2-EF085562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24649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legs">
            <a:extLst xmlns:a="http://schemas.openxmlformats.org/drawingml/2006/main">
              <a:ext uri="{FF2B5EF4-FFF2-40B4-BE49-F238E27FC236}">
                <a16:creationId xmlns:a16="http://schemas.microsoft.com/office/drawing/2014/main" id="{65F619E1-031E-4A9B-A52E-56F75E9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00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Legs</a:t>
            </a:r>
          </a:p>
        </p:txBody>
      </p:sp>
      <p:sp>
        <p:nvSpPr>
          <p:cNvPr id="18" name="muscle-4">
            <a:extLst xmlns:a="http://schemas.openxmlformats.org/drawingml/2006/main">
              <a:ext uri="{FF2B5EF4-FFF2-40B4-BE49-F238E27FC236}">
                <a16:creationId xmlns:a16="http://schemas.microsoft.com/office/drawing/2014/main" id="{FA9212B3-EC2C-4B9B-A257-6D8E41B8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1113"/>
          </a:solidFill>
        </p:spPr>
      </p:sp>
      <p:sp>
        <p:nvSpPr>
          <p:cNvPr id="19" name="arms">
            <a:extLst xmlns:a="http://schemas.openxmlformats.org/drawingml/2006/main">
              <a:ext uri="{FF2B5EF4-FFF2-40B4-BE49-F238E27FC236}">
                <a16:creationId xmlns:a16="http://schemas.microsoft.com/office/drawing/2014/main" id="{675E6059-5C87-4417-AC03-8E038293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Arms</a:t>
            </a:r>
          </a:p>
        </p:txBody>
      </p:sp>
      <p:sp>
        <p:nvSpPr>
          <p:cNvPr id="20" name="muscle-5">
            <a:extLst xmlns:a="http://schemas.openxmlformats.org/drawingml/2006/main">
              <a:ext uri="{FF2B5EF4-FFF2-40B4-BE49-F238E27FC236}">
                <a16:creationId xmlns:a16="http://schemas.microsoft.com/office/drawing/2014/main" id="{3E6102F9-4E43-4504-B70E-775AECCF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019925"/>
            <a:ext cx="3381375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1" name="core">
            <a:extLst xmlns:a="http://schemas.openxmlformats.org/drawingml/2006/main">
              <a:ext uri="{FF2B5EF4-FFF2-40B4-BE49-F238E27FC236}">
                <a16:creationId xmlns:a16="http://schemas.microsoft.com/office/drawing/2014/main" id="{A83ABCFC-598A-499C-9D78-36377E9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62800"/>
            <a:ext cx="293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8F5EF"/>
                </a:solidFill>
              </a:defRPr>
            </a:pPr>
            <a:r>
              <a:rPr sz="1950" b="1" i="0">
                <a:solidFill>
                  <a:srgbClr val="F8F5EF"/>
                </a:solidFill>
              </a:rPr>
              <a:t>Core</a:t>
            </a:r>
          </a:p>
        </p:txBody>
      </p:sp>
      <p:sp>
        <p:nvSpPr>
          <p:cNvPr id="22" name="exercise-selection-muscle-targeting-volume-tr">
            <a:extLst xmlns:a="http://schemas.openxmlformats.org/drawingml/2006/main">
              <a:ext uri="{FF2B5EF4-FFF2-40B4-BE49-F238E27FC236}">
                <a16:creationId xmlns:a16="http://schemas.microsoft.com/office/drawing/2014/main" id="{A85EE7CE-07C3-475D-8EC4-6F97399C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829550"/>
            <a:ext cx="6629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Exercise selection → muscle targeting → volume tracking → progressive overload</a:t>
            </a:r>
          </a:p>
        </p:txBody>
      </p:sp>
      <p:sp>
        <p:nvSpPr>
          <p:cNvPr id="23" name="workout-feature-1">
            <a:extLst xmlns:a="http://schemas.openxmlformats.org/drawingml/2006/main">
              <a:ext uri="{FF2B5EF4-FFF2-40B4-BE49-F238E27FC236}">
                <a16:creationId xmlns:a16="http://schemas.microsoft.com/office/drawing/2014/main" id="{2A054D73-856A-454A-B910-688DAD10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8046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FB817E5B-8844-4521-BE99-B3FF667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DE5285F9-0A6F-48E1-9754-02ECAEC3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243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Targeted muscle selection</a:t>
            </a:r>
          </a:p>
        </p:txBody>
      </p:sp>
      <p:sp>
        <p:nvSpPr>
          <p:cNvPr id="2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058FF59-6386-4642-93FD-2828B228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C6D9A0E8-B349-484E-8FFE-D7FD806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Exercise recommendations by goal</a:t>
            </a:r>
          </a:p>
        </p:txBody>
      </p:sp>
      <p:sp>
        <p:nvSpPr>
          <p:cNvPr id="2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BAE3A02E-6CF2-4351-B7EB-942815D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25977C0B-F4B9-4FF7-881E-4A4A9EF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Beginner-to-advanced plan logic</a:t>
            </a:r>
          </a:p>
        </p:txBody>
      </p:sp>
      <p:sp>
        <p:nvSpPr>
          <p:cNvPr id="30" name="workout-feature-2">
            <a:extLst xmlns:a="http://schemas.openxmlformats.org/drawingml/2006/main">
              <a:ext uri="{FF2B5EF4-FFF2-40B4-BE49-F238E27FC236}">
                <a16:creationId xmlns:a16="http://schemas.microsoft.com/office/drawing/2014/main" id="{C428A0DD-93AD-42F6-B125-386D1EB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5642610"/>
            <a:ext cx="8511064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A9389D7-5176-4348-80AC-0D938E3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8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15BE4A09-8A7F-413C-AFED-9DDF07C8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Progressive overload recommendations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A6C5D0D-42CC-439B-AAD8-E02A68B3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43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8039EABC-8C80-4115-84D2-CDD1BBE1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436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Missed-session recovery planning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DF5E1DC-AA5E-4D0B-8FB3-28D80940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89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FD1680E5-3961-4305-8534-D6B5DA8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80085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Future form correction with video AI</a:t>
            </a:r>
          </a:p>
        </p:txBody>
      </p:sp>
      <p:sp>
        <p:nvSpPr>
          <p:cNvPr id="37" name="workout-feature-3">
            <a:extLst xmlns:a="http://schemas.openxmlformats.org/drawingml/2006/main">
              <a:ext uri="{FF2B5EF4-FFF2-40B4-BE49-F238E27FC236}">
                <a16:creationId xmlns:a16="http://schemas.microsoft.com/office/drawing/2014/main" id="{652B1F5E-759E-4E4D-BE6E-D510293E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7604760"/>
            <a:ext cx="8511064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38" name="future-direction-ai-generated-weekly-programs">
            <a:extLst xmlns:a="http://schemas.openxmlformats.org/drawingml/2006/main">
              <a:ext uri="{FF2B5EF4-FFF2-40B4-BE49-F238E27FC236}">
                <a16:creationId xmlns:a16="http://schemas.microsoft.com/office/drawing/2014/main" id="{2C95003C-8943-45FD-83EB-8B95AFD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848600"/>
            <a:ext cx="794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8F5EF"/>
                </a:solidFill>
              </a:defRPr>
            </a:pPr>
            <a:r>
              <a:rPr sz="1875" b="1" i="0">
                <a:solidFill>
                  <a:srgbClr val="F8F5EF"/>
                </a:solidFill>
              </a:rPr>
              <a:t>Future direction: AI-generated weekly programs adapt to adherence, sleep, soreness, equipment, and body-composition goals.</a:t>
            </a:r>
          </a:p>
        </p:txBody>
      </p:sp>
    </p:spTree>
    <p:extLst>
      <p:ext uri="{BB962C8B-B14F-4D97-AF65-F5344CB8AC3E}">
        <p14:creationId xmlns:p14="http://schemas.microsoft.com/office/powerpoint/2010/main" val="20765913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C1C1593-5C0D-434B-8C81-4479234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EDEE418-3620-4F2A-8320-F59028CF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D91DF14-292A-4259-8F11-88834778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9F2C32BE-6BA7-4409-8B5B-2F87A287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81F3093-7F4F-4B7C-A25E-84C2DE7A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847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NUTRITION INTELLIGENCE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1B5138-6E51-46EB-B72C-A378C609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668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Food guidance that adapts to goals and habits.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1233D1-3EF3-4C1D-AD71-B5071D0D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system turns daily nutrition signals into small, actionable coaching moments.</a:t>
            </a:r>
          </a:p>
        </p:txBody>
      </p:sp>
      <p:sp>
        <p:nvSpPr>
          <p:cNvPr id="8" name="nutrition-macros">
            <a:extLst xmlns:a="http://schemas.openxmlformats.org/drawingml/2006/main">
              <a:ext uri="{FF2B5EF4-FFF2-40B4-BE49-F238E27FC236}">
                <a16:creationId xmlns:a16="http://schemas.microsoft.com/office/drawing/2014/main" id="{469F23FB-1D6C-46B2-A05F-B8CA1E5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501063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120g">
            <a:extLst xmlns:a="http://schemas.openxmlformats.org/drawingml/2006/main">
              <a:ext uri="{FF2B5EF4-FFF2-40B4-BE49-F238E27FC236}">
                <a16:creationId xmlns:a16="http://schemas.microsoft.com/office/drawing/2014/main" id="{4350854E-23A4-4C39-AE6A-D2B148F1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181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120g</a:t>
            </a:r>
          </a:p>
        </p:txBody>
      </p:sp>
      <p:sp>
        <p:nvSpPr>
          <p:cNvPr id="10" name="protein-target">
            <a:extLst xmlns:a="http://schemas.openxmlformats.org/drawingml/2006/main">
              <a:ext uri="{FF2B5EF4-FFF2-40B4-BE49-F238E27FC236}">
                <a16:creationId xmlns:a16="http://schemas.microsoft.com/office/drawing/2014/main" id="{4ACECCAF-51B2-465A-B5BC-6A6CD959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200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protein target</a:t>
            </a:r>
          </a:p>
        </p:txBody>
      </p:sp>
      <p:sp>
        <p:nvSpPr>
          <p:cNvPr id="11" name="example-muscle-gain-target">
            <a:extLst xmlns:a="http://schemas.openxmlformats.org/drawingml/2006/main">
              <a:ext uri="{FF2B5EF4-FFF2-40B4-BE49-F238E27FC236}">
                <a16:creationId xmlns:a16="http://schemas.microsoft.com/office/drawing/2014/main" id="{FB649487-E126-4934-A08E-33625B3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Example muscle-gain target</a:t>
            </a:r>
          </a:p>
        </p:txBody>
      </p:sp>
      <p:sp>
        <p:nvSpPr>
          <p:cNvPr id="12" name="3l">
            <a:extLst xmlns:a="http://schemas.openxmlformats.org/drawingml/2006/main">
              <a:ext uri="{FF2B5EF4-FFF2-40B4-BE49-F238E27FC236}">
                <a16:creationId xmlns:a16="http://schemas.microsoft.com/office/drawing/2014/main" id="{9E50B537-BF79-4B19-B431-140B583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24300"/>
            <a:ext cx="55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3L</a:t>
            </a:r>
          </a:p>
        </p:txBody>
      </p:sp>
      <p:sp>
        <p:nvSpPr>
          <p:cNvPr id="13" name="water-target">
            <a:extLst xmlns:a="http://schemas.openxmlformats.org/drawingml/2006/main">
              <a:ext uri="{FF2B5EF4-FFF2-40B4-BE49-F238E27FC236}">
                <a16:creationId xmlns:a16="http://schemas.microsoft.com/office/drawing/2014/main" id="{67522C6E-29AD-4D2D-A50A-E57F176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05350"/>
            <a:ext cx="1066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water target</a:t>
            </a:r>
          </a:p>
        </p:txBody>
      </p:sp>
      <p:sp>
        <p:nvSpPr>
          <p:cNvPr id="14" name="hydration-habit-loop">
            <a:extLst xmlns:a="http://schemas.openxmlformats.org/drawingml/2006/main">
              <a:ext uri="{FF2B5EF4-FFF2-40B4-BE49-F238E27FC236}">
                <a16:creationId xmlns:a16="http://schemas.microsoft.com/office/drawing/2014/main" id="{A6D6E86F-EA95-4F9D-83C0-FB69FB41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9590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Hydration habit loop</a:t>
            </a:r>
          </a:p>
        </p:txBody>
      </p:sp>
      <p:sp>
        <p:nvSpPr>
          <p:cNvPr id="15" name="4x">
            <a:extLst xmlns:a="http://schemas.openxmlformats.org/drawingml/2006/main">
              <a:ext uri="{FF2B5EF4-FFF2-40B4-BE49-F238E27FC236}">
                <a16:creationId xmlns:a16="http://schemas.microsoft.com/office/drawing/2014/main" id="{27E52538-EEC9-484D-8CA3-A18468EC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571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CE73"/>
                </a:solidFill>
              </a:defRPr>
            </a:pPr>
            <a:r>
              <a:rPr sz="4650" b="1" i="0">
                <a:solidFill>
                  <a:srgbClr val="FFCE73"/>
                </a:solidFill>
              </a:rPr>
              <a:t>4x</a:t>
            </a:r>
          </a:p>
        </p:txBody>
      </p:sp>
      <p:sp>
        <p:nvSpPr>
          <p:cNvPr id="16" name="meal-timing">
            <a:extLst xmlns:a="http://schemas.openxmlformats.org/drawingml/2006/main">
              <a:ext uri="{FF2B5EF4-FFF2-40B4-BE49-F238E27FC236}">
                <a16:creationId xmlns:a16="http://schemas.microsoft.com/office/drawing/2014/main" id="{70A67074-C431-4D47-9024-8D51936F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meal timing</a:t>
            </a:r>
          </a:p>
        </p:txBody>
      </p:sp>
      <p:sp>
        <p:nvSpPr>
          <p:cNvPr id="17" name="practical-daily-structure">
            <a:extLst xmlns:a="http://schemas.openxmlformats.org/drawingml/2006/main">
              <a:ext uri="{FF2B5EF4-FFF2-40B4-BE49-F238E27FC236}">
                <a16:creationId xmlns:a16="http://schemas.microsoft.com/office/drawing/2014/main" id="{6BCCC036-AB54-4BC8-9B74-535792C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154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Practical daily structure</a:t>
            </a:r>
          </a:p>
        </p:txBody>
      </p:sp>
      <p:sp>
        <p:nvSpPr>
          <p:cNvPr id="18" name="nutrition-bullets">
            <a:extLst xmlns:a="http://schemas.openxmlformats.org/drawingml/2006/main">
              <a:ext uri="{FF2B5EF4-FFF2-40B4-BE49-F238E27FC236}">
                <a16:creationId xmlns:a16="http://schemas.microsoft.com/office/drawing/2014/main" id="{BBA96E45-560B-43C6-92AB-E58F93D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2160"/>
            <a:ext cx="8501063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BE1CE69C-14DE-475E-990F-EB079BF1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9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9BA71A96-8715-497D-810D-4C043977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960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Goal-specific diet generation</a:t>
            </a:r>
          </a:p>
        </p:txBody>
      </p:sp>
      <p:sp>
        <p:nvSpPr>
          <p:cNvPr id="2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EB8712E-5207-4CFC-A0B9-B4DB3D8B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4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177CDE4D-A16E-49E7-ABE3-1CA55516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553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Macro and hydration tracking</a:t>
            </a:r>
          </a:p>
        </p:txBody>
      </p:sp>
      <p:sp>
        <p:nvSpPr>
          <p:cNvPr id="2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DAF38C4-8C18-42C5-AAFB-A560E68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10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0A19FD60-4640-4A8F-AAEB-A2B58F2E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104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gap reminders</a:t>
            </a:r>
          </a:p>
        </p:txBody>
      </p:sp>
      <p:sp>
        <p:nvSpPr>
          <p:cNvPr id="2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E752391-16BF-499A-A82F-E157837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6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6" name="bullet-3">
            <a:extLst xmlns:a="http://schemas.openxmlformats.org/drawingml/2006/main">
              <a:ext uri="{FF2B5EF4-FFF2-40B4-BE49-F238E27FC236}">
                <a16:creationId xmlns:a16="http://schemas.microsoft.com/office/drawing/2014/main" id="{B31480C4-0DF4-4B73-9957-4431EEC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676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Context-aware meal suggestions</a:t>
            </a:r>
          </a:p>
        </p:txBody>
      </p:sp>
      <p:sp>
        <p:nvSpPr>
          <p:cNvPr id="27" name="nutrition-note">
            <a:extLst xmlns:a="http://schemas.openxmlformats.org/drawingml/2006/main">
              <a:ext uri="{FF2B5EF4-FFF2-40B4-BE49-F238E27FC236}">
                <a16:creationId xmlns:a16="http://schemas.microsoft.com/office/drawing/2014/main" id="{C4F1791D-C31D-406B-8502-1FD0FCF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57235"/>
            <a:ext cx="8501063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018"/>
          </a:solidFill>
        </p:spPr>
      </p:sp>
      <p:sp>
        <p:nvSpPr>
          <p:cNvPr id="28" name="the-ai-converts-health-data-into-one-next-bes">
            <a:extLst xmlns:a="http://schemas.openxmlformats.org/drawingml/2006/main">
              <a:ext uri="{FF2B5EF4-FFF2-40B4-BE49-F238E27FC236}">
                <a16:creationId xmlns:a16="http://schemas.microsoft.com/office/drawing/2014/main" id="{B5679ADF-6091-4B0E-A00E-355AE24E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10600"/>
            <a:ext cx="7924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The AI converts health data into one next best action.</a:t>
            </a:r>
          </a:p>
        </p:txBody>
      </p:sp>
      <p:sp>
        <p:nvSpPr>
          <p:cNvPr id="29" name="nutrition-flow">
            <a:extLst xmlns:a="http://schemas.openxmlformats.org/drawingml/2006/main">
              <a:ext uri="{FF2B5EF4-FFF2-40B4-BE49-F238E27FC236}">
                <a16:creationId xmlns:a16="http://schemas.microsoft.com/office/drawing/2014/main" id="{019BE84A-C526-414C-BE8D-9782475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3680460"/>
            <a:ext cx="7691438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0" name="input-signals">
            <a:extLst xmlns:a="http://schemas.openxmlformats.org/drawingml/2006/main">
              <a:ext uri="{FF2B5EF4-FFF2-40B4-BE49-F238E27FC236}">
                <a16:creationId xmlns:a16="http://schemas.microsoft.com/office/drawing/2014/main" id="{49BD6616-F253-4319-8BB4-350BFE4C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1010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Input signals</a:t>
            </a:r>
          </a:p>
        </p:txBody>
      </p:sp>
      <p:sp>
        <p:nvSpPr>
          <p:cNvPr id="31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8C94CFB-AA39-4BC1-86DF-EEB4ACD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2" name="bullet-0">
            <a:extLst xmlns:a="http://schemas.openxmlformats.org/drawingml/2006/main">
              <a:ext uri="{FF2B5EF4-FFF2-40B4-BE49-F238E27FC236}">
                <a16:creationId xmlns:a16="http://schemas.microsoft.com/office/drawing/2014/main" id="{A01EB240-47DB-4616-8A94-E95CA02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006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Goal: muscle gain</a:t>
            </a:r>
          </a:p>
        </p:txBody>
      </p:sp>
      <p:sp>
        <p:nvSpPr>
          <p:cNvPr id="33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62CAD1D9-064D-4E02-A3F0-33019487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4" name="bullet-1">
            <a:extLst xmlns:a="http://schemas.openxmlformats.org/drawingml/2006/main">
              <a:ext uri="{FF2B5EF4-FFF2-40B4-BE49-F238E27FC236}">
                <a16:creationId xmlns:a16="http://schemas.microsoft.com/office/drawing/2014/main" id="{C67960D3-4305-45A6-8E4A-1CDA1DB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578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Weight: 82kg</a:t>
            </a:r>
          </a:p>
        </p:txBody>
      </p:sp>
      <p:sp>
        <p:nvSpPr>
          <p:cNvPr id="35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4CE4BCD-D653-4FEC-95A3-3F624830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1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6" name="bullet-2">
            <a:extLst xmlns:a="http://schemas.openxmlformats.org/drawingml/2006/main">
              <a:ext uri="{FF2B5EF4-FFF2-40B4-BE49-F238E27FC236}">
                <a16:creationId xmlns:a16="http://schemas.microsoft.com/office/drawing/2014/main" id="{A7F65EAE-126E-405F-9799-C371BAC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Protein today: 60g</a:t>
            </a:r>
          </a:p>
        </p:txBody>
      </p:sp>
      <p:sp>
        <p:nvSpPr>
          <p:cNvPr id="37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33557720-9FF1-4CCC-B4AC-2D25E9FD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66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4FF"/>
          </a:solidFill>
        </p:spPr>
      </p:sp>
      <p:sp>
        <p:nvSpPr>
          <p:cNvPr id="38" name="bullet-3">
            <a:extLst xmlns:a="http://schemas.openxmlformats.org/drawingml/2006/main">
              <a:ext uri="{FF2B5EF4-FFF2-40B4-BE49-F238E27FC236}">
                <a16:creationId xmlns:a16="http://schemas.microsoft.com/office/drawing/2014/main" id="{A5949A45-D648-4E89-9528-412D437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72250"/>
            <a:ext cx="662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Water today: 1.2L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8EA7E2-8620-4859-91D3-6AFFD79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124700"/>
            <a:ext cx="689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31"/>
          </a:solidFill>
          <a:ln xmlns:a="http://schemas.openxmlformats.org/drawingml/2006/main" w="0">
            <a:solidFill>
              <a:srgbClr val="2B2B31"/>
            </a:solidFill>
            <a:prstDash val="solid"/>
          </a:ln>
        </p:spPr>
      </p:sp>
      <p:sp>
        <p:nvSpPr>
          <p:cNvPr id="40" name="ai-output">
            <a:extLst xmlns:a="http://schemas.openxmlformats.org/drawingml/2006/main">
              <a:ext uri="{FF2B5EF4-FFF2-40B4-BE49-F238E27FC236}">
                <a16:creationId xmlns:a16="http://schemas.microsoft.com/office/drawing/2014/main" id="{9BB58E81-C804-488D-BDA7-DC86C7D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41045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2E3A"/>
                </a:solidFill>
              </a:defRPr>
            </a:pPr>
            <a:r>
              <a:rPr sz="2100" b="1" i="0">
                <a:solidFill>
                  <a:srgbClr val="FF2E3A"/>
                </a:solidFill>
              </a:rPr>
              <a:t>AI output</a:t>
            </a:r>
          </a:p>
        </p:txBody>
      </p:sp>
      <p:sp>
        <p:nvSpPr>
          <p:cNvPr id="41" name="you-are-behind-on-protein-and-hydration-today">
            <a:extLst xmlns:a="http://schemas.openxmlformats.org/drawingml/2006/main">
              <a:ext uri="{FF2B5EF4-FFF2-40B4-BE49-F238E27FC236}">
                <a16:creationId xmlns:a16="http://schemas.microsoft.com/office/drawing/2014/main" id="{7EBF8AD2-8D82-4C64-84D8-F81FCA13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0"/>
            <a:ext cx="6896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F5EF"/>
                </a:solidFill>
              </a:defRPr>
            </a:pPr>
            <a:r>
              <a:rPr sz="2250" b="1" i="0">
                <a:solidFill>
                  <a:srgbClr val="F8F5EF"/>
                </a:solidFill>
              </a:rPr>
              <a:t>You are behind on protein and hydration today. Add one high-protein meal and 800ml water before dinner.</a:t>
            </a:r>
          </a:p>
        </p:txBody>
      </p:sp>
    </p:spTree>
    <p:extLst>
      <p:ext uri="{BB962C8B-B14F-4D97-AF65-F5344CB8AC3E}">
        <p14:creationId xmlns:p14="http://schemas.microsoft.com/office/powerpoint/2010/main" val="8457951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3A913AD-7BB7-4E7D-89DA-87C846A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B7EB045-72FF-42F2-A252-BC9297F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BABA79A-70BE-49C5-A3D8-B9E300D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04F03075-775E-460F-9236-808AFFE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5DB3B14-06D8-445E-A4AC-EFE325B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COMMUNITY + SOCIAL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C7077C-00EC-41C0-94CE-922B30DF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8039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Accountability is a product feature.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E8EB38B-2315-415F-AEC5-270B976F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6305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People continue when they feel seen, challenged, and supported.</a:t>
            </a:r>
          </a:p>
        </p:txBody>
      </p:sp>
      <p:sp>
        <p:nvSpPr>
          <p:cNvPr id="8" name="community-left">
            <a:extLst xmlns:a="http://schemas.openxmlformats.org/drawingml/2006/main">
              <a:ext uri="{FF2B5EF4-FFF2-40B4-BE49-F238E27FC236}">
                <a16:creationId xmlns:a16="http://schemas.microsoft.com/office/drawing/2014/main" id="{F1A6B793-E085-41C3-BAFE-B1F126D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8096250" cy="6888480"/>
          </a:xfrm>
          <a:prstGeom xmlns:a="http://schemas.openxmlformats.org/drawingml/2006/main" prst="roundRect">
            <a:avLst>
              <a:gd name="adj" fmla="val 1659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A8C9539B-3819-488A-AEBA-C5C59F6A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752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8F5EF"/>
                </a:solidFill>
              </a:defRPr>
            </a:pPr>
            <a:r>
              <a:rPr sz="39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10" name="node-0-post">
            <a:extLst xmlns:a="http://schemas.openxmlformats.org/drawingml/2006/main">
              <a:ext uri="{FF2B5EF4-FFF2-40B4-BE49-F238E27FC236}">
                <a16:creationId xmlns:a16="http://schemas.microsoft.com/office/drawing/2014/main" id="{6DA8C3AF-AB5C-4262-AB3A-E9A19BD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D57E1-82C7-4CE6-9876-8E6D639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Post</a:t>
            </a:r>
          </a:p>
        </p:txBody>
      </p:sp>
      <p:sp>
        <p:nvSpPr>
          <p:cNvPr id="12" name="arrow-line-0">
            <a:extLst xmlns:a="http://schemas.openxmlformats.org/drawingml/2006/main">
              <a:ext uri="{FF2B5EF4-FFF2-40B4-BE49-F238E27FC236}">
                <a16:creationId xmlns:a16="http://schemas.microsoft.com/office/drawing/2014/main" id="{05A477CB-736C-4B8B-90F0-B501047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node-1-reaction">
            <a:extLst xmlns:a="http://schemas.openxmlformats.org/drawingml/2006/main">
              <a:ext uri="{FF2B5EF4-FFF2-40B4-BE49-F238E27FC236}">
                <a16:creationId xmlns:a16="http://schemas.microsoft.com/office/drawing/2014/main" id="{8E7543B3-0BDD-4E4B-BF8D-A1CF16F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62A9A-417F-4454-9245-EAA65612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Reaction</a:t>
            </a:r>
          </a:p>
        </p:txBody>
      </p:sp>
      <p:sp>
        <p:nvSpPr>
          <p:cNvPr id="15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CF5CCE01-351C-48F5-8A2E-C6511D65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6" name="node-2-challenge">
            <a:extLst xmlns:a="http://schemas.openxmlformats.org/drawingml/2006/main">
              <a:ext uri="{FF2B5EF4-FFF2-40B4-BE49-F238E27FC236}">
                <a16:creationId xmlns:a16="http://schemas.microsoft.com/office/drawing/2014/main" id="{7DA038D3-A716-460F-9715-8641202F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34DD9-FBB0-4DB7-A5A9-5CFB7F5A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Challenge</a:t>
            </a:r>
          </a:p>
        </p:txBody>
      </p:sp>
      <p:sp>
        <p:nvSpPr>
          <p:cNvPr id="18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C0AEB4CD-A8D0-4162-A8F5-A53D244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node-3-progress">
            <a:extLst xmlns:a="http://schemas.openxmlformats.org/drawingml/2006/main">
              <a:ext uri="{FF2B5EF4-FFF2-40B4-BE49-F238E27FC236}">
                <a16:creationId xmlns:a16="http://schemas.microsoft.com/office/drawing/2014/main" id="{75D36042-521E-454E-B8B4-89BFCF0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38496-094D-4EC2-A334-9F049A2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Progress</a:t>
            </a:r>
          </a:p>
        </p:txBody>
      </p:sp>
      <p:sp>
        <p:nvSpPr>
          <p:cNvPr id="21" name="arrow-line-3">
            <a:extLst xmlns:a="http://schemas.openxmlformats.org/drawingml/2006/main">
              <a:ext uri="{FF2B5EF4-FFF2-40B4-BE49-F238E27FC236}">
                <a16:creationId xmlns:a16="http://schemas.microsoft.com/office/drawing/2014/main" id="{FC65ACE2-CFE5-485A-A009-26872B1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1341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2" name="node-4-retention">
            <a:extLst xmlns:a="http://schemas.openxmlformats.org/drawingml/2006/main">
              <a:ext uri="{FF2B5EF4-FFF2-40B4-BE49-F238E27FC236}">
                <a16:creationId xmlns:a16="http://schemas.microsoft.com/office/drawing/2014/main" id="{929FF6CA-9770-44E8-8746-54825823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57850"/>
            <a:ext cx="1162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2BEF4-E6D5-4FDA-B78D-4EA7CCF0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483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5EF"/>
                </a:solidFill>
              </a:defRPr>
            </a:pPr>
            <a:r>
              <a:rPr sz="1275" b="1">
                <a:solidFill>
                  <a:srgbClr val="F8F5EF"/>
                </a:solidFill>
              </a:rPr>
              <a:t>Retention</a:t>
            </a:r>
          </a:p>
        </p:txBody>
      </p:sp>
      <p:sp>
        <p:nvSpPr>
          <p:cNvPr id="24" name="future-creator-layer-trainers-students-athlet">
            <a:extLst xmlns:a="http://schemas.openxmlformats.org/drawingml/2006/main">
              <a:ext uri="{FF2B5EF4-FFF2-40B4-BE49-F238E27FC236}">
                <a16:creationId xmlns:a16="http://schemas.microsoft.com/office/drawing/2014/main" id="{2A13E305-25F8-4841-B417-0E8B2BA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34200"/>
            <a:ext cx="7524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8C2B8"/>
                </a:solidFill>
              </a:defRPr>
            </a:pPr>
            <a:r>
              <a:rPr sz="2025" b="0" i="0">
                <a:solidFill>
                  <a:srgbClr val="C8C2B8"/>
                </a:solidFill>
              </a:rPr>
              <a:t>Future creator layer: trainers, students, athletes, and local gyms can publish challenges, plans, and transformation journeys.</a:t>
            </a:r>
          </a:p>
        </p:txBody>
      </p:sp>
      <p:sp>
        <p:nvSpPr>
          <p:cNvPr id="25" name="community-1">
            <a:extLst xmlns:a="http://schemas.openxmlformats.org/drawingml/2006/main">
              <a:ext uri="{FF2B5EF4-FFF2-40B4-BE49-F238E27FC236}">
                <a16:creationId xmlns:a16="http://schemas.microsoft.com/office/drawing/2014/main" id="{F5FF60DB-27C9-4671-8F46-B6F1700A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317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37BBE41B-6F2C-4332-B29C-2964078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0">
            <a:extLst xmlns:a="http://schemas.openxmlformats.org/drawingml/2006/main">
              <a:ext uri="{FF2B5EF4-FFF2-40B4-BE49-F238E27FC236}">
                <a16:creationId xmlns:a16="http://schemas.microsoft.com/office/drawing/2014/main" id="{DE66566A-510D-4A18-8437-5237077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71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Progress sharing</a:t>
            </a:r>
          </a:p>
        </p:txBody>
      </p:sp>
      <p:sp>
        <p:nvSpPr>
          <p:cNvPr id="28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4EC040FD-BDFE-4484-9444-36E384D5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1">
            <a:extLst xmlns:a="http://schemas.openxmlformats.org/drawingml/2006/main">
              <a:ext uri="{FF2B5EF4-FFF2-40B4-BE49-F238E27FC236}">
                <a16:creationId xmlns:a16="http://schemas.microsoft.com/office/drawing/2014/main" id="{EBE63CE3-4817-40A3-86C4-0C859983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Live accountability posts</a:t>
            </a:r>
          </a:p>
        </p:txBody>
      </p:sp>
      <p:sp>
        <p:nvSpPr>
          <p:cNvPr id="30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E46D656-D9CA-4FAD-B612-178D6AAD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2">
            <a:extLst xmlns:a="http://schemas.openxmlformats.org/drawingml/2006/main">
              <a:ext uri="{FF2B5EF4-FFF2-40B4-BE49-F238E27FC236}">
                <a16:creationId xmlns:a16="http://schemas.microsoft.com/office/drawing/2014/main" id="{4EEF78CA-75A3-4768-8902-2F03F9CA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862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AI-assisted encouragement</a:t>
            </a:r>
          </a:p>
        </p:txBody>
      </p:sp>
      <p:sp>
        <p:nvSpPr>
          <p:cNvPr id="32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1F0DA9A-55C0-4BAB-9AEA-78FA5D3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3">
            <a:extLst xmlns:a="http://schemas.openxmlformats.org/drawingml/2006/main">
              <a:ext uri="{FF2B5EF4-FFF2-40B4-BE49-F238E27FC236}">
                <a16:creationId xmlns:a16="http://schemas.microsoft.com/office/drawing/2014/main" id="{CFE3A07C-A460-41E5-9E99-B0F48FFF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43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Group challenges</a:t>
            </a:r>
          </a:p>
        </p:txBody>
      </p:sp>
      <p:sp>
        <p:nvSpPr>
          <p:cNvPr id="34" name="community-2">
            <a:extLst xmlns:a="http://schemas.openxmlformats.org/drawingml/2006/main">
              <a:ext uri="{FF2B5EF4-FFF2-40B4-BE49-F238E27FC236}">
                <a16:creationId xmlns:a16="http://schemas.microsoft.com/office/drawing/2014/main" id="{A2C7EC73-734E-48A9-972B-F365FD1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46370"/>
            <a:ext cx="8096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5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BBD132B-3686-4521-8374-63E0E7CF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C72E9B9D-D547-4042-B05C-D8821B5D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4864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College fitness clubs</a:t>
            </a:r>
          </a:p>
        </p:txBody>
      </p:sp>
      <p:sp>
        <p:nvSpPr>
          <p:cNvPr id="37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1899E21-926D-4513-ADAD-FECA17C3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3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5FC029F0-A9AC-45DF-8026-96141B28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9436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 partnerships</a:t>
            </a:r>
          </a:p>
        </p:txBody>
      </p:sp>
      <p:sp>
        <p:nvSpPr>
          <p:cNvPr id="39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26DC5F08-D7AB-43F9-B398-8397D913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9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9CC28DAF-772B-49BC-BEBE-86E073E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008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Creator-led programs</a:t>
            </a:r>
          </a:p>
        </p:txBody>
      </p:sp>
      <p:sp>
        <p:nvSpPr>
          <p:cNvPr id="41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2022058-B9A8-4112-898F-4612028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95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AC9922E9-6904-4B2E-B683-1B09B31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858000"/>
            <a:ext cx="7258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Regional health communities</a:t>
            </a:r>
          </a:p>
        </p:txBody>
      </p:sp>
      <p:sp>
        <p:nvSpPr>
          <p:cNvPr id="43" name="community-3">
            <a:extLst xmlns:a="http://schemas.openxmlformats.org/drawingml/2006/main">
              <a:ext uri="{FF2B5EF4-FFF2-40B4-BE49-F238E27FC236}">
                <a16:creationId xmlns:a16="http://schemas.microsoft.com/office/drawing/2014/main" id="{C6559AEA-5E1C-4949-9DE3-D2C5957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760970"/>
            <a:ext cx="80962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44" name="social-proof-can-become-the-growth-engine-use">
            <a:extLst xmlns:a="http://schemas.openxmlformats.org/drawingml/2006/main">
              <a:ext uri="{FF2B5EF4-FFF2-40B4-BE49-F238E27FC236}">
                <a16:creationId xmlns:a16="http://schemas.microsoft.com/office/drawing/2014/main" id="{63F8C1B9-33E4-4215-966C-02F6B354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001000"/>
            <a:ext cx="7524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8F5EF"/>
                </a:solidFill>
              </a:defRPr>
            </a:pPr>
            <a:r>
              <a:rPr sz="2325" b="1" i="0">
                <a:solidFill>
                  <a:srgbClr val="F8F5EF"/>
                </a:solidFill>
              </a:rPr>
              <a:t>Social proof can become the growth engine: users invite friends because consistency is easier together.</a:t>
            </a:r>
          </a:p>
        </p:txBody>
      </p:sp>
    </p:spTree>
    <p:extLst>
      <p:ext uri="{BB962C8B-B14F-4D97-AF65-F5344CB8AC3E}">
        <p14:creationId xmlns:p14="http://schemas.microsoft.com/office/powerpoint/2010/main" val="6347071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064CB54-8458-4ADE-9801-E50F322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51894612-6004-4177-A2AD-2BFF104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4946925-64C5-4945-8C3E-7837CEAD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69A6F439-5183-453F-9F54-0F49C53F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8343D244-36BC-4462-BD61-13C36F48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838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TECH STACK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B4DACD-BB33-4FFA-A2A7-A86D4C1B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1539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Built like a scalable SaaS, evolving into an AI research platform.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41053F-9F46-4D46-84E7-218CAF93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24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current architecture separates product, backend services, AI memory, and future model development.</a:t>
            </a:r>
          </a:p>
        </p:txBody>
      </p:sp>
      <p:sp>
        <p:nvSpPr>
          <p:cNvPr id="8" name="tech-front">
            <a:extLst xmlns:a="http://schemas.openxmlformats.org/drawingml/2006/main">
              <a:ext uri="{FF2B5EF4-FFF2-40B4-BE49-F238E27FC236}">
                <a16:creationId xmlns:a16="http://schemas.microsoft.com/office/drawing/2014/main" id="{DF8C706C-9410-458E-9C4F-1E2AA189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ontend">
            <a:extLst xmlns:a="http://schemas.openxmlformats.org/drawingml/2006/main">
              <a:ext uri="{FF2B5EF4-FFF2-40B4-BE49-F238E27FC236}">
                <a16:creationId xmlns:a16="http://schemas.microsoft.com/office/drawing/2014/main" id="{FEE08644-FEFD-4BD9-BD9B-8BF5133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Frontend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EF3568E-7A90-4E51-A5E2-B53E0DD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4BF68A22-F0A5-462B-BDC2-064471D8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React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BA28DB0-480A-4E4A-A69F-00F0462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C20CBAA2-7AFB-4AF8-9206-2D7E75B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Framer Motion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B08DF2A5-CA82-474F-AB95-024573F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CA53A851-B7AA-4BC7-A1CC-70CEC3F4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Styled Components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3EC06D6F-5D69-4385-A242-5B323470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9105CA10-CBEE-45E5-B1DF-30692086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Lenis smooth scroll</a:t>
            </a:r>
          </a:p>
        </p:txBody>
      </p:sp>
      <p:sp>
        <p:nvSpPr>
          <p:cNvPr id="18" name="tech-back">
            <a:extLst xmlns:a="http://schemas.openxmlformats.org/drawingml/2006/main">
              <a:ext uri="{FF2B5EF4-FFF2-40B4-BE49-F238E27FC236}">
                <a16:creationId xmlns:a16="http://schemas.microsoft.com/office/drawing/2014/main" id="{4D337B59-B15D-471B-AD2B-59BB2564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9" name="backend">
            <a:extLst xmlns:a="http://schemas.openxmlformats.org/drawingml/2006/main">
              <a:ext uri="{FF2B5EF4-FFF2-40B4-BE49-F238E27FC236}">
                <a16:creationId xmlns:a16="http://schemas.microsoft.com/office/drawing/2014/main" id="{0697D599-DB06-4B36-A00C-4C8DCD76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Backend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61EF424-9CCA-4B5E-8A89-A900463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274E2822-0B65-48A6-B324-D3D5723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Node.js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F2BD91B-EA5A-4426-A779-9D72019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41E4ED0B-2BFD-4EE6-8018-FF1B584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Express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97B77E3-33DC-4500-9C9A-C6BAF84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D6876988-3A96-44DB-821E-C2F3522D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JWT auth</a:t>
            </a:r>
          </a:p>
        </p:txBody>
      </p:sp>
      <p:sp>
        <p:nvSpPr>
          <p:cNvPr id="2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499D2DC-CC09-4094-A4B3-50831759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3">
            <a:extLst xmlns:a="http://schemas.openxmlformats.org/drawingml/2006/main">
              <a:ext uri="{FF2B5EF4-FFF2-40B4-BE49-F238E27FC236}">
                <a16:creationId xmlns:a16="http://schemas.microsoft.com/office/drawing/2014/main" id="{34C7F349-85FF-4AE3-989E-788F214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API v1 routes</a:t>
            </a:r>
          </a:p>
        </p:txBody>
      </p:sp>
      <p:sp>
        <p:nvSpPr>
          <p:cNvPr id="28" name="tech-ai">
            <a:extLst xmlns:a="http://schemas.openxmlformats.org/drawingml/2006/main">
              <a:ext uri="{FF2B5EF4-FFF2-40B4-BE49-F238E27FC236}">
                <a16:creationId xmlns:a16="http://schemas.microsoft.com/office/drawing/2014/main" id="{E961D1F5-0D46-4DB6-B531-CA2953A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9" name="ai-layer">
            <a:extLst xmlns:a="http://schemas.openxmlformats.org/drawingml/2006/main">
              <a:ext uri="{FF2B5EF4-FFF2-40B4-BE49-F238E27FC236}">
                <a16:creationId xmlns:a16="http://schemas.microsoft.com/office/drawing/2014/main" id="{E657468D-3AF4-4EDA-AD5E-E8BA6CAA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AI Layer</a:t>
            </a:r>
          </a:p>
        </p:txBody>
      </p:sp>
      <p:sp>
        <p:nvSpPr>
          <p:cNvPr id="3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C45F35B-171D-41E1-9B7A-0752CAB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0">
            <a:extLst xmlns:a="http://schemas.openxmlformats.org/drawingml/2006/main">
              <a:ext uri="{FF2B5EF4-FFF2-40B4-BE49-F238E27FC236}">
                <a16:creationId xmlns:a16="http://schemas.microsoft.com/office/drawing/2014/main" id="{9F99D8C6-5701-4B6D-9470-48676B3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Memory service</a:t>
            </a:r>
          </a:p>
        </p:txBody>
      </p:sp>
      <p:sp>
        <p:nvSpPr>
          <p:cNvPr id="3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2DA0F9F-4741-48E6-870B-7828EDDA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3" name="bullet-1">
            <a:extLst xmlns:a="http://schemas.openxmlformats.org/drawingml/2006/main">
              <a:ext uri="{FF2B5EF4-FFF2-40B4-BE49-F238E27FC236}">
                <a16:creationId xmlns:a16="http://schemas.microsoft.com/office/drawing/2014/main" id="{17744114-61EA-4A42-BBE5-88BEA12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Routing engine</a:t>
            </a:r>
          </a:p>
        </p:txBody>
      </p:sp>
      <p:sp>
        <p:nvSpPr>
          <p:cNvPr id="3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71C2906-7908-4760-8C18-49588C05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5" name="bullet-2">
            <a:extLst xmlns:a="http://schemas.openxmlformats.org/drawingml/2006/main">
              <a:ext uri="{FF2B5EF4-FFF2-40B4-BE49-F238E27FC236}">
                <a16:creationId xmlns:a16="http://schemas.microsoft.com/office/drawing/2014/main" id="{728F28BC-015B-4FDE-90CC-3AED2473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Notification triggers</a:t>
            </a:r>
          </a:p>
        </p:txBody>
      </p:sp>
      <p:sp>
        <p:nvSpPr>
          <p:cNvPr id="3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94B010AB-814F-4853-A0FB-674159C0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7" name="bullet-3">
            <a:extLst xmlns:a="http://schemas.openxmlformats.org/drawingml/2006/main">
              <a:ext uri="{FF2B5EF4-FFF2-40B4-BE49-F238E27FC236}">
                <a16:creationId xmlns:a16="http://schemas.microsoft.com/office/drawing/2014/main" id="{1E54A7A9-F790-44A8-92D1-0337732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Custom transformer research</a:t>
            </a:r>
          </a:p>
        </p:txBody>
      </p:sp>
      <p:sp>
        <p:nvSpPr>
          <p:cNvPr id="38" name="tech-future">
            <a:extLst xmlns:a="http://schemas.openxmlformats.org/drawingml/2006/main">
              <a:ext uri="{FF2B5EF4-FFF2-40B4-BE49-F238E27FC236}">
                <a16:creationId xmlns:a16="http://schemas.microsoft.com/office/drawing/2014/main" id="{8A6B49B9-E1AC-413F-A4BE-C1B6CC7C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394710"/>
            <a:ext cx="4024313" cy="622554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9" name="future">
            <a:extLst xmlns:a="http://schemas.openxmlformats.org/drawingml/2006/main">
              <a:ext uri="{FF2B5EF4-FFF2-40B4-BE49-F238E27FC236}">
                <a16:creationId xmlns:a16="http://schemas.microsoft.com/office/drawing/2014/main" id="{86A8C5A0-20FC-4BBD-B72E-64D59CD7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638550"/>
            <a:ext cx="3448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Future</a:t>
            </a:r>
          </a:p>
        </p:txBody>
      </p:sp>
      <p:sp>
        <p:nvSpPr>
          <p:cNvPr id="4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B9A204C-6233-4F30-B930-5A16472C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1" name="bullet-0">
            <a:extLst xmlns:a="http://schemas.openxmlformats.org/drawingml/2006/main">
              <a:ext uri="{FF2B5EF4-FFF2-40B4-BE49-F238E27FC236}">
                <a16:creationId xmlns:a16="http://schemas.microsoft.com/office/drawing/2014/main" id="{CE3E7734-3AF1-4FA7-A921-C56DB646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2862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C++ inference</a:t>
            </a:r>
          </a:p>
        </p:txBody>
      </p:sp>
      <p:sp>
        <p:nvSpPr>
          <p:cNvPr id="4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5DA726D-E550-416C-BCAE-D9537A2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3" name="bullet-1">
            <a:extLst xmlns:a="http://schemas.openxmlformats.org/drawingml/2006/main">
              <a:ext uri="{FF2B5EF4-FFF2-40B4-BE49-F238E27FC236}">
                <a16:creationId xmlns:a16="http://schemas.microsoft.com/office/drawing/2014/main" id="{03EAC749-52D9-4301-A6DB-7B835DB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47434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Wearables</a:t>
            </a:r>
          </a:p>
        </p:txBody>
      </p:sp>
      <p:sp>
        <p:nvSpPr>
          <p:cNvPr id="4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0AB97C2-0801-4586-B513-33E0AFB8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5" name="bullet-2">
            <a:extLst xmlns:a="http://schemas.openxmlformats.org/drawingml/2006/main">
              <a:ext uri="{FF2B5EF4-FFF2-40B4-BE49-F238E27FC236}">
                <a16:creationId xmlns:a16="http://schemas.microsoft.com/office/drawing/2014/main" id="{C9B2B703-6A12-47B3-A6C6-8F7EEFB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2006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video generation</a:t>
            </a:r>
          </a:p>
        </p:txBody>
      </p:sp>
      <p:sp>
        <p:nvSpPr>
          <p:cNvPr id="4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68247B0D-7103-4AFC-AB35-A22515C4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753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47" name="bullet-3">
            <a:extLst xmlns:a="http://schemas.openxmlformats.org/drawingml/2006/main">
              <a:ext uri="{FF2B5EF4-FFF2-40B4-BE49-F238E27FC236}">
                <a16:creationId xmlns:a16="http://schemas.microsoft.com/office/drawing/2014/main" id="{EC63FE8F-85A8-49F7-94AB-B27F49E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657850"/>
            <a:ext cx="318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Institutional GPU training</a:t>
            </a:r>
          </a:p>
        </p:txBody>
      </p:sp>
    </p:spTree>
    <p:extLst>
      <p:ext uri="{BB962C8B-B14F-4D97-AF65-F5344CB8AC3E}">
        <p14:creationId xmlns:p14="http://schemas.microsoft.com/office/powerpoint/2010/main" val="20304150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E380C0E-DCF2-4833-89A7-E08EFD9E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1FD27438-71E7-4BD7-B589-7BCA55C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90DA6FE-7A57-4C1D-A986-394BC64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318E60B7-86F3-48CB-907B-1BBA19B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681F3894-7EBD-404C-8362-BA804B8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695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MARKET OPPORTUNITY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92A11C-174F-4BD0-985D-FDA50B1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04013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AI + digital health + fitness is converging now.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7A63EDC-17B1-4220-9BE5-E8A1AA0F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53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sits at the intersection of personalized AI, wellness apps, digital health, and youth fitness behavior.</a:t>
            </a:r>
          </a:p>
        </p:txBody>
      </p:sp>
      <p:sp>
        <p:nvSpPr>
          <p:cNvPr id="8" name="market-m1">
            <a:extLst xmlns:a="http://schemas.openxmlformats.org/drawingml/2006/main">
              <a:ext uri="{FF2B5EF4-FFF2-40B4-BE49-F238E27FC236}">
                <a16:creationId xmlns:a16="http://schemas.microsoft.com/office/drawing/2014/main" id="{8602797F-504A-4E46-9577-B12C315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42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-106-97b">
            <a:extLst xmlns:a="http://schemas.openxmlformats.org/drawingml/2006/main">
              <a:ext uri="{FF2B5EF4-FFF2-40B4-BE49-F238E27FC236}">
                <a16:creationId xmlns:a16="http://schemas.microsoft.com/office/drawing/2014/main" id="{EDC5CBC1-AE66-4785-B661-870C979E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286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8BFFB8"/>
                </a:solidFill>
              </a:defRPr>
            </a:pPr>
            <a:r>
              <a:rPr sz="4650" b="1" i="0">
                <a:solidFill>
                  <a:srgbClr val="8BFFB8"/>
                </a:solidFill>
              </a:rPr>
              <a:t>$106.97B</a:t>
            </a:r>
          </a:p>
        </p:txBody>
      </p:sp>
      <p:sp>
        <p:nvSpPr>
          <p:cNvPr id="10" name="india-digital-health-market-by-2033">
            <a:extLst xmlns:a="http://schemas.openxmlformats.org/drawingml/2006/main">
              <a:ext uri="{FF2B5EF4-FFF2-40B4-BE49-F238E27FC236}">
                <a16:creationId xmlns:a16="http://schemas.microsoft.com/office/drawing/2014/main" id="{FD993E87-66AC-45E6-9DFE-5CE7CC06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028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 digital health market by 2033</a:t>
            </a:r>
          </a:p>
        </p:txBody>
      </p:sp>
      <p:sp>
        <p:nvSpPr>
          <p:cNvPr id="11" name="grand-view-research-projection">
            <a:extLst xmlns:a="http://schemas.openxmlformats.org/drawingml/2006/main">
              <a:ext uri="{FF2B5EF4-FFF2-40B4-BE49-F238E27FC236}">
                <a16:creationId xmlns:a16="http://schemas.microsoft.com/office/drawing/2014/main" id="{D0EDE97F-32D9-4F54-BC18-527A1233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Grand View Research projection</a:t>
            </a:r>
          </a:p>
        </p:txBody>
      </p:sp>
      <p:sp>
        <p:nvSpPr>
          <p:cNvPr id="12" name="market-m2">
            <a:extLst xmlns:a="http://schemas.openxmlformats.org/drawingml/2006/main">
              <a:ext uri="{FF2B5EF4-FFF2-40B4-BE49-F238E27FC236}">
                <a16:creationId xmlns:a16="http://schemas.microsoft.com/office/drawing/2014/main" id="{7CCFB66D-83A5-412F-A826-3EC31CB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54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14-1-">
            <a:extLst xmlns:a="http://schemas.openxmlformats.org/drawingml/2006/main">
              <a:ext uri="{FF2B5EF4-FFF2-40B4-BE49-F238E27FC236}">
                <a16:creationId xmlns:a16="http://schemas.microsoft.com/office/drawing/2014/main" id="{C344A40F-85C0-42E1-9D71-FF57378F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1485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54E4FF"/>
                </a:solidFill>
              </a:defRPr>
            </a:pPr>
            <a:r>
              <a:rPr sz="4650" b="1" i="0">
                <a:solidFill>
                  <a:srgbClr val="54E4FF"/>
                </a:solidFill>
              </a:rPr>
              <a:t>14.1%</a:t>
            </a:r>
          </a:p>
        </p:txBody>
      </p:sp>
      <p:sp>
        <p:nvSpPr>
          <p:cNvPr id="14" name="fitness-mhealth-apps-cagr">
            <a:extLst xmlns:a="http://schemas.openxmlformats.org/drawingml/2006/main">
              <a:ext uri="{FF2B5EF4-FFF2-40B4-BE49-F238E27FC236}">
                <a16:creationId xmlns:a16="http://schemas.microsoft.com/office/drawing/2014/main" id="{4DA15895-3513-4814-862B-5D59880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10350"/>
            <a:ext cx="2362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fitness mHealth apps CAGR</a:t>
            </a:r>
          </a:p>
        </p:txBody>
      </p:sp>
      <p:sp>
        <p:nvSpPr>
          <p:cNvPr id="15" name="global-2024-2030-estimate">
            <a:extLst xmlns:a="http://schemas.openxmlformats.org/drawingml/2006/main">
              <a:ext uri="{FF2B5EF4-FFF2-40B4-BE49-F238E27FC236}">
                <a16:creationId xmlns:a16="http://schemas.microsoft.com/office/drawing/2014/main" id="{B3352277-CBE8-4C66-8B85-ED31A202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00900"/>
            <a:ext cx="1771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Global 2024-2030 estimate</a:t>
            </a:r>
          </a:p>
        </p:txBody>
      </p:sp>
      <p:sp>
        <p:nvSpPr>
          <p:cNvPr id="16" name="market-m3">
            <a:extLst xmlns:a="http://schemas.openxmlformats.org/drawingml/2006/main">
              <a:ext uri="{FF2B5EF4-FFF2-40B4-BE49-F238E27FC236}">
                <a16:creationId xmlns:a16="http://schemas.microsoft.com/office/drawing/2014/main" id="{F0CC64B4-DFA6-4E0D-8C3F-73A7955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6660"/>
            <a:ext cx="7700486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7" name="-10-300cr-">
            <a:extLst xmlns:a="http://schemas.openxmlformats.org/drawingml/2006/main">
              <a:ext uri="{FF2B5EF4-FFF2-40B4-BE49-F238E27FC236}">
                <a16:creationId xmlns:a16="http://schemas.microsoft.com/office/drawing/2014/main" id="{1F25EBEE-5C89-4BA4-BD7A-F5A719E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10500"/>
            <a:ext cx="2762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2E3A"/>
                </a:solidFill>
              </a:defRPr>
            </a:pPr>
            <a:r>
              <a:rPr sz="4650" b="1" i="0">
                <a:solidFill>
                  <a:srgbClr val="FF2E3A"/>
                </a:solidFill>
              </a:rPr>
              <a:t>₹10,300Cr+</a:t>
            </a:r>
          </a:p>
        </p:txBody>
      </p:sp>
      <p:sp>
        <p:nvSpPr>
          <p:cNvPr id="18" name="indiaai-mission-outlay">
            <a:extLst xmlns:a="http://schemas.openxmlformats.org/drawingml/2006/main">
              <a:ext uri="{FF2B5EF4-FFF2-40B4-BE49-F238E27FC236}">
                <a16:creationId xmlns:a16="http://schemas.microsoft.com/office/drawing/2014/main" id="{6CEBC2C1-3B93-4B94-95D1-C5AFC8F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91550"/>
            <a:ext cx="1943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8F5EF"/>
                </a:solidFill>
              </a:defRPr>
            </a:pPr>
            <a:r>
              <a:rPr sz="1650" b="1" i="0">
                <a:solidFill>
                  <a:srgbClr val="F8F5EF"/>
                </a:solidFill>
              </a:rPr>
              <a:t>IndiaAI Mission outlay</a:t>
            </a:r>
          </a:p>
        </p:txBody>
      </p:sp>
      <p:sp>
        <p:nvSpPr>
          <p:cNvPr id="19" name="national-push-for-ai-compute-and-startups">
            <a:extLst xmlns:a="http://schemas.openxmlformats.org/drawingml/2006/main">
              <a:ext uri="{FF2B5EF4-FFF2-40B4-BE49-F238E27FC236}">
                <a16:creationId xmlns:a16="http://schemas.microsoft.com/office/drawing/2014/main" id="{602AE5BA-6824-48A5-B7BF-F5F2D24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821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D8990"/>
                </a:solidFill>
              </a:defRPr>
            </a:pPr>
            <a:r>
              <a:rPr sz="1275" b="0" i="0">
                <a:solidFill>
                  <a:srgbClr val="8D8990"/>
                </a:solidFill>
              </a:rPr>
              <a:t>National push for AI compute and startups</a:t>
            </a:r>
          </a:p>
        </p:txBody>
      </p:sp>
      <p:sp>
        <p:nvSpPr>
          <p:cNvPr id="20" name="market-chart-panel">
            <a:extLst xmlns:a="http://schemas.openxmlformats.org/drawingml/2006/main">
              <a:ext uri="{FF2B5EF4-FFF2-40B4-BE49-F238E27FC236}">
                <a16:creationId xmlns:a16="http://schemas.microsoft.com/office/drawing/2014/main" id="{76160D2A-DC25-4CE4-B8D1-58987BA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886" y="3604260"/>
            <a:ext cx="8511064" cy="6015990"/>
          </a:xfrm>
          <a:prstGeom xmlns:a="http://schemas.openxmlformats.org/drawingml/2006/main" prst="roundRect">
            <a:avLst>
              <a:gd name="adj" fmla="val 190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market-expansion-signals">
            <a:extLst xmlns:a="http://schemas.openxmlformats.org/drawingml/2006/main">
              <a:ext uri="{FF2B5EF4-FFF2-40B4-BE49-F238E27FC236}">
                <a16:creationId xmlns:a16="http://schemas.microsoft.com/office/drawing/2014/main" id="{922FF510-06AE-4B9D-A8FC-C9C014F1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7867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Market expansion signals</a:t>
            </a:r>
          </a:p>
        </p:txBody>
      </p:sp>
      <p:graphicFrame>
        <p:nvGraphicFramePr>
          <p:cNvPr id="22" name="market-chart-main"/>
          <p:cNvGraphicFramePr/>
          <p:nvPr/>
        </p:nvGraphicFramePr>
        <p:xfrm>
          <a:off xmlns:a="http://schemas.openxmlformats.org/drawingml/2006/main" x="9319736" y="4431030"/>
          <a:ext xmlns:a="http://schemas.openxmlformats.org/drawingml/2006/main" cx="7863364" cy="45796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212027d3349f8"/>
          </a:graphicData>
        </a:graphic>
      </p:graphicFrame>
      <p:sp>
        <p:nvSpPr>
          <p:cNvPr id="23" name="sources-who-grand-view-research-pib-indiaai-m">
            <a:extLst xmlns:a="http://schemas.openxmlformats.org/drawingml/2006/main">
              <a:ext uri="{FF2B5EF4-FFF2-40B4-BE49-F238E27FC236}">
                <a16:creationId xmlns:a16="http://schemas.microsoft.com/office/drawing/2014/main" id="{3C9228E8-4D2A-4448-98C2-C285CBCE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163050"/>
            <a:ext cx="7867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D8990"/>
                </a:solidFill>
              </a:defRPr>
            </a:pPr>
            <a:r>
              <a:rPr sz="1125" b="0" i="0">
                <a:solidFill>
                  <a:srgbClr val="8D8990"/>
                </a:solidFill>
              </a:rPr>
              <a:t>Sources: WHO, Grand View Research, PIB IndiaAI Mission.</a:t>
            </a:r>
          </a:p>
        </p:txBody>
      </p:sp>
    </p:spTree>
    <p:extLst>
      <p:ext uri="{BB962C8B-B14F-4D97-AF65-F5344CB8AC3E}">
        <p14:creationId xmlns:p14="http://schemas.microsoft.com/office/powerpoint/2010/main" val="13757604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28B82C3-EF6E-49D8-B453-B84392D8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F075217D-7B42-486B-937E-09C60A3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80C377B6-B88C-42A3-856A-A11AD100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7B1CFF2A-B458-4F0A-B7B2-3D528DB6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3CEC04E-B868-4691-A0D8-7BBC3CB8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NOW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54EC7A-521C-4DFC-9E82-D39B641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80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infrastructure finally exists for personal AI wellness.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7051AA-7EEA-4F94-8C86-487B0C3B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9601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next generation of health products will not be passive trackers. They will be active companions.</a:t>
            </a:r>
          </a:p>
        </p:txBody>
      </p:sp>
      <p:sp>
        <p:nvSpPr>
          <p:cNvPr id="8" name="why-ai">
            <a:extLst xmlns:a="http://schemas.openxmlformats.org/drawingml/2006/main">
              <a:ext uri="{FF2B5EF4-FFF2-40B4-BE49-F238E27FC236}">
                <a16:creationId xmlns:a16="http://schemas.microsoft.com/office/drawing/2014/main" id="{70259F17-6D4C-41C4-B4F8-CF9D3716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ai-adoption">
            <a:extLst xmlns:a="http://schemas.openxmlformats.org/drawingml/2006/main">
              <a:ext uri="{FF2B5EF4-FFF2-40B4-BE49-F238E27FC236}">
                <a16:creationId xmlns:a16="http://schemas.microsoft.com/office/drawing/2014/main" id="{007FC6D5-CE1A-4AB0-A4A4-6B3CE12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AI adoption</a:t>
            </a:r>
          </a:p>
        </p:txBody>
      </p:sp>
      <p:sp>
        <p:nvSpPr>
          <p:cNvPr id="10" name="users-now-understand-ai-assistants-and-expect">
            <a:extLst xmlns:a="http://schemas.openxmlformats.org/drawingml/2006/main">
              <a:ext uri="{FF2B5EF4-FFF2-40B4-BE49-F238E27FC236}">
                <a16:creationId xmlns:a16="http://schemas.microsoft.com/office/drawing/2014/main" id="{47ACC14B-7B1E-4BBD-884D-54A4497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Users now understand AI assistants and expect personalization.</a:t>
            </a:r>
          </a:p>
        </p:txBody>
      </p:sp>
      <p:sp>
        <p:nvSpPr>
          <p:cNvPr id="11" name="why-health">
            <a:extLst xmlns:a="http://schemas.openxmlformats.org/drawingml/2006/main">
              <a:ext uri="{FF2B5EF4-FFF2-40B4-BE49-F238E27FC236}">
                <a16:creationId xmlns:a16="http://schemas.microsoft.com/office/drawing/2014/main" id="{6F5A1C9B-DC08-46C1-81D7-EACAA503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health-urgency">
            <a:extLst xmlns:a="http://schemas.openxmlformats.org/drawingml/2006/main">
              <a:ext uri="{FF2B5EF4-FFF2-40B4-BE49-F238E27FC236}">
                <a16:creationId xmlns:a16="http://schemas.microsoft.com/office/drawing/2014/main" id="{39BCAC05-6FCF-4A0F-9ED7-564FEE0E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Health urgency</a:t>
            </a:r>
          </a:p>
        </p:txBody>
      </p:sp>
      <p:sp>
        <p:nvSpPr>
          <p:cNvPr id="13" name="physical-inactivity-and-lifestyle-diseases-cr">
            <a:extLst xmlns:a="http://schemas.openxmlformats.org/drawingml/2006/main">
              <a:ext uri="{FF2B5EF4-FFF2-40B4-BE49-F238E27FC236}">
                <a16:creationId xmlns:a16="http://schemas.microsoft.com/office/drawing/2014/main" id="{29EFD592-6B06-4152-A3D9-1EE41C0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Physical inactivity and lifestyle diseases create public health pressure.</a:t>
            </a:r>
          </a:p>
        </p:txBody>
      </p:sp>
      <p:sp>
        <p:nvSpPr>
          <p:cNvPr id="14" name="why-wearables">
            <a:extLst xmlns:a="http://schemas.openxmlformats.org/drawingml/2006/main">
              <a:ext uri="{FF2B5EF4-FFF2-40B4-BE49-F238E27FC236}">
                <a16:creationId xmlns:a16="http://schemas.microsoft.com/office/drawing/2014/main" id="{5E5649E6-B203-4FB4-9C83-D2B71CC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wearable-data">
            <a:extLst xmlns:a="http://schemas.openxmlformats.org/drawingml/2006/main">
              <a:ext uri="{FF2B5EF4-FFF2-40B4-BE49-F238E27FC236}">
                <a16:creationId xmlns:a16="http://schemas.microsoft.com/office/drawing/2014/main" id="{B911D174-863E-4291-8A85-C19FB008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Wearable data</a:t>
            </a:r>
          </a:p>
        </p:txBody>
      </p:sp>
      <p:sp>
        <p:nvSpPr>
          <p:cNvPr id="16" name="more-users-generate-signals-that-can-power-ad">
            <a:extLst xmlns:a="http://schemas.openxmlformats.org/drawingml/2006/main">
              <a:ext uri="{FF2B5EF4-FFF2-40B4-BE49-F238E27FC236}">
                <a16:creationId xmlns:a16="http://schemas.microsoft.com/office/drawing/2014/main" id="{62FD8AEE-A176-4D8B-A303-F6C8A63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More users generate signals that can power adaptive recommendations.</a:t>
            </a:r>
          </a:p>
        </p:txBody>
      </p:sp>
      <p:sp>
        <p:nvSpPr>
          <p:cNvPr id="17" name="why-india">
            <a:extLst xmlns:a="http://schemas.openxmlformats.org/drawingml/2006/main">
              <a:ext uri="{FF2B5EF4-FFF2-40B4-BE49-F238E27FC236}">
                <a16:creationId xmlns:a16="http://schemas.microsoft.com/office/drawing/2014/main" id="{E83A810A-993E-4660-90F2-270D8D7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64130"/>
            <a:ext cx="4024313" cy="70561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-ai-mission">
            <a:extLst xmlns:a="http://schemas.openxmlformats.org/drawingml/2006/main">
              <a:ext uri="{FF2B5EF4-FFF2-40B4-BE49-F238E27FC236}">
                <a16:creationId xmlns:a16="http://schemas.microsoft.com/office/drawing/2014/main" id="{21940575-5D79-481E-97AF-6757AE43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19400"/>
            <a:ext cx="344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2E3A"/>
                </a:solidFill>
              </a:defRPr>
            </a:pPr>
            <a:r>
              <a:rPr sz="2850" b="1" i="0">
                <a:solidFill>
                  <a:srgbClr val="FF2E3A"/>
                </a:solidFill>
              </a:rPr>
              <a:t>India AI mission</a:t>
            </a:r>
          </a:p>
        </p:txBody>
      </p:sp>
      <p:sp>
        <p:nvSpPr>
          <p:cNvPr id="19" name="government-compute-datasets-skilling-and-star">
            <a:extLst xmlns:a="http://schemas.openxmlformats.org/drawingml/2006/main">
              <a:ext uri="{FF2B5EF4-FFF2-40B4-BE49-F238E27FC236}">
                <a16:creationId xmlns:a16="http://schemas.microsoft.com/office/drawing/2014/main" id="{6D842574-193F-4C76-AA8A-752093CD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9090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Government compute, datasets, skilling, and startup financing align with this build.</a:t>
            </a:r>
          </a:p>
        </p:txBody>
      </p:sp>
    </p:spTree>
    <p:extLst>
      <p:ext uri="{BB962C8B-B14F-4D97-AF65-F5344CB8AC3E}">
        <p14:creationId xmlns:p14="http://schemas.microsoft.com/office/powerpoint/2010/main" val="6005739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371F6EC-5788-42EA-BDF0-9568D1C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AD1E77D6-7752-4BD1-BE86-96F9056E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69701885-C20A-4601-AEB7-EA84EBD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F84DF62F-8F35-404F-B137-1772EA7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7E60F1F6-96F0-4786-8767-CD1D070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COMPETITOR COMPARISON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CFDDB1-B23C-40BE-BFCF-ABA2560E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6492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The gap is not content. The gap is adaptive intelligence.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C376EB-FD3D-41BC-AA98-5D0F1EA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combines specialization, memory, behavior, and ecosystem design.</a:t>
            </a:r>
          </a:p>
        </p:txBody>
      </p:sp>
      <p:sp>
        <p:nvSpPr>
          <p:cNvPr id="8" name="comparison-table">
            <a:extLst xmlns:a="http://schemas.openxmlformats.org/drawingml/2006/main">
              <a:ext uri="{FF2B5EF4-FFF2-40B4-BE49-F238E27FC236}">
                <a16:creationId xmlns:a16="http://schemas.microsoft.com/office/drawing/2014/main" id="{B4A9741B-5389-4F39-B500-11220C35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6620"/>
            <a:ext cx="16725900" cy="6183630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ell-0-0">
            <a:extLst xmlns:a="http://schemas.openxmlformats.org/drawingml/2006/main">
              <a:ext uri="{FF2B5EF4-FFF2-40B4-BE49-F238E27FC236}">
                <a16:creationId xmlns:a16="http://schemas.microsoft.com/office/drawing/2014/main" id="{1031D07C-4A32-47DE-AF40-86221586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3320"/>
            <a:ext cx="4252784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0" name="capability">
            <a:extLst xmlns:a="http://schemas.openxmlformats.org/drawingml/2006/main">
              <a:ext uri="{FF2B5EF4-FFF2-40B4-BE49-F238E27FC236}">
                <a16:creationId xmlns:a16="http://schemas.microsoft.com/office/drawing/2014/main" id="{130FD899-B98E-4B4A-9542-C0A5318E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94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Capability</a:t>
            </a:r>
          </a:p>
        </p:txBody>
      </p:sp>
      <p:sp>
        <p:nvSpPr>
          <p:cNvPr id="11" name="cell-0-1">
            <a:extLst xmlns:a="http://schemas.openxmlformats.org/drawingml/2006/main">
              <a:ext uri="{FF2B5EF4-FFF2-40B4-BE49-F238E27FC236}">
                <a16:creationId xmlns:a16="http://schemas.microsoft.com/office/drawing/2014/main" id="{AF6F874E-1C2B-4CEB-BF29-EC5357C8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2" name="fitness-apps">
            <a:extLst xmlns:a="http://schemas.openxmlformats.org/drawingml/2006/main">
              <a:ext uri="{FF2B5EF4-FFF2-40B4-BE49-F238E27FC236}">
                <a16:creationId xmlns:a16="http://schemas.microsoft.com/office/drawing/2014/main" id="{1F57F8C0-48DA-42A2-A74E-E8AA80B2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Fitness Apps</a:t>
            </a:r>
          </a:p>
        </p:txBody>
      </p:sp>
      <p:sp>
        <p:nvSpPr>
          <p:cNvPr id="13" name="cell-0-2">
            <a:extLst xmlns:a="http://schemas.openxmlformats.org/drawingml/2006/main">
              <a:ext uri="{FF2B5EF4-FFF2-40B4-BE49-F238E27FC236}">
                <a16:creationId xmlns:a16="http://schemas.microsoft.com/office/drawing/2014/main" id="{1BC26374-4227-411D-9AFB-A59A7D41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chatgpt">
            <a:extLst xmlns:a="http://schemas.openxmlformats.org/drawingml/2006/main">
              <a:ext uri="{FF2B5EF4-FFF2-40B4-BE49-F238E27FC236}">
                <a16:creationId xmlns:a16="http://schemas.microsoft.com/office/drawing/2014/main" id="{7D207BCE-87D2-4C87-AB9D-EAF712D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ChatGPT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DC5E34EF-47A9-439C-BE1C-48F4520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3703320"/>
            <a:ext cx="283518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6" name="generic-ai">
            <a:extLst xmlns:a="http://schemas.openxmlformats.org/drawingml/2006/main">
              <a:ext uri="{FF2B5EF4-FFF2-40B4-BE49-F238E27FC236}">
                <a16:creationId xmlns:a16="http://schemas.microsoft.com/office/drawing/2014/main" id="{2FB20908-6016-4C90-9339-9A6A8572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29050"/>
            <a:ext cx="2533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Generic AI</a:t>
            </a:r>
          </a:p>
        </p:txBody>
      </p:sp>
      <p:sp>
        <p:nvSpPr>
          <p:cNvPr id="17" name="cell-0-4">
            <a:extLst xmlns:a="http://schemas.openxmlformats.org/drawingml/2006/main">
              <a:ext uri="{FF2B5EF4-FFF2-40B4-BE49-F238E27FC236}">
                <a16:creationId xmlns:a16="http://schemas.microsoft.com/office/drawing/2014/main" id="{AA73F6E6-DA7C-477C-9B21-D4C3555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3703320"/>
            <a:ext cx="2976949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8" name="grindhaus-ai">
            <a:extLst xmlns:a="http://schemas.openxmlformats.org/drawingml/2006/main">
              <a:ext uri="{FF2B5EF4-FFF2-40B4-BE49-F238E27FC236}">
                <a16:creationId xmlns:a16="http://schemas.microsoft.com/office/drawing/2014/main" id="{3F5CC22D-8091-4F65-B4BC-A1290FE8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3829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8F5EF"/>
                </a:solidFill>
              </a:defRPr>
            </a:pPr>
            <a:r>
              <a:rPr sz="1575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05609D01-A348-42D8-B5E8-C48C6AA8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882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0" name="fitness-specialization">
            <a:extLst xmlns:a="http://schemas.openxmlformats.org/drawingml/2006/main">
              <a:ext uri="{FF2B5EF4-FFF2-40B4-BE49-F238E27FC236}">
                <a16:creationId xmlns:a16="http://schemas.microsoft.com/office/drawing/2014/main" id="{6EBC3D2A-C52D-4547-90AD-E4323E3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Fitness specialization</a:t>
            </a:r>
          </a:p>
        </p:txBody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D236A19D-7374-4054-8BBD-2294639B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2" name="medium">
            <a:extLst xmlns:a="http://schemas.openxmlformats.org/drawingml/2006/main">
              <a:ext uri="{FF2B5EF4-FFF2-40B4-BE49-F238E27FC236}">
                <a16:creationId xmlns:a16="http://schemas.microsoft.com/office/drawing/2014/main" id="{AE19F726-B494-493F-8DBC-9708758F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05B85A64-00A4-42A6-92E3-AD84C22D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4" name="low">
            <a:extLst xmlns:a="http://schemas.openxmlformats.org/drawingml/2006/main">
              <a:ext uri="{FF2B5EF4-FFF2-40B4-BE49-F238E27FC236}">
                <a16:creationId xmlns:a16="http://schemas.microsoft.com/office/drawing/2014/main" id="{8345E012-55D3-44A6-962F-6D99AF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5" name="cell-1-3">
            <a:extLst xmlns:a="http://schemas.openxmlformats.org/drawingml/2006/main">
              <a:ext uri="{FF2B5EF4-FFF2-40B4-BE49-F238E27FC236}">
                <a16:creationId xmlns:a16="http://schemas.microsoft.com/office/drawing/2014/main" id="{D17DEAD2-DFAE-4E1D-81CC-3ACB4BD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456882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26" name="low">
            <a:extLst xmlns:a="http://schemas.openxmlformats.org/drawingml/2006/main">
              <a:ext uri="{FF2B5EF4-FFF2-40B4-BE49-F238E27FC236}">
                <a16:creationId xmlns:a16="http://schemas.microsoft.com/office/drawing/2014/main" id="{7F2FC36C-3517-4224-BDE7-9951D86A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863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27" name="cell-1-4">
            <a:extLst xmlns:a="http://schemas.openxmlformats.org/drawingml/2006/main">
              <a:ext uri="{FF2B5EF4-FFF2-40B4-BE49-F238E27FC236}">
                <a16:creationId xmlns:a16="http://schemas.microsoft.com/office/drawing/2014/main" id="{AE1A0B4A-83F9-4E6C-849D-850C607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456882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28" name="high">
            <a:extLst xmlns:a="http://schemas.openxmlformats.org/drawingml/2006/main">
              <a:ext uri="{FF2B5EF4-FFF2-40B4-BE49-F238E27FC236}">
                <a16:creationId xmlns:a16="http://schemas.microsoft.com/office/drawing/2014/main" id="{0C493851-C915-4F43-A215-0CBE890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46863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29" name="cell-2-0">
            <a:extLst xmlns:a="http://schemas.openxmlformats.org/drawingml/2006/main">
              <a:ext uri="{FF2B5EF4-FFF2-40B4-BE49-F238E27FC236}">
                <a16:creationId xmlns:a16="http://schemas.microsoft.com/office/drawing/2014/main" id="{B3121825-1533-428E-9AEA-E6D44DBD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863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0" name="persistent-fitness-memory">
            <a:extLst xmlns:a="http://schemas.openxmlformats.org/drawingml/2006/main">
              <a:ext uri="{FF2B5EF4-FFF2-40B4-BE49-F238E27FC236}">
                <a16:creationId xmlns:a16="http://schemas.microsoft.com/office/drawing/2014/main" id="{4BBB10B3-894E-4C0D-AD13-7F9422E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Persistent fitness memory</a:t>
            </a:r>
          </a:p>
        </p:txBody>
      </p:sp>
      <p:sp>
        <p:nvSpPr>
          <p:cNvPr id="31" name="cell-2-1">
            <a:extLst xmlns:a="http://schemas.openxmlformats.org/drawingml/2006/main">
              <a:ext uri="{FF2B5EF4-FFF2-40B4-BE49-F238E27FC236}">
                <a16:creationId xmlns:a16="http://schemas.microsoft.com/office/drawing/2014/main" id="{86F855C6-EC22-4A54-8DA1-9BE5E28E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2" name="low">
            <a:extLst xmlns:a="http://schemas.openxmlformats.org/drawingml/2006/main">
              <a:ext uri="{FF2B5EF4-FFF2-40B4-BE49-F238E27FC236}">
                <a16:creationId xmlns:a16="http://schemas.microsoft.com/office/drawing/2014/main" id="{12C7AECD-0B90-4F7C-B6BD-2C2DB4CF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3" name="cell-2-2">
            <a:extLst xmlns:a="http://schemas.openxmlformats.org/drawingml/2006/main">
              <a:ext uri="{FF2B5EF4-FFF2-40B4-BE49-F238E27FC236}">
                <a16:creationId xmlns:a16="http://schemas.microsoft.com/office/drawing/2014/main" id="{57DCFE54-B3CB-42CB-B8BC-C5DCF8E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4" name="low">
            <a:extLst xmlns:a="http://schemas.openxmlformats.org/drawingml/2006/main">
              <a:ext uri="{FF2B5EF4-FFF2-40B4-BE49-F238E27FC236}">
                <a16:creationId xmlns:a16="http://schemas.microsoft.com/office/drawing/2014/main" id="{DEE3C4E0-5585-4111-8A6B-E80E8D98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35" name="cell-2-3">
            <a:extLst xmlns:a="http://schemas.openxmlformats.org/drawingml/2006/main">
              <a:ext uri="{FF2B5EF4-FFF2-40B4-BE49-F238E27FC236}">
                <a16:creationId xmlns:a16="http://schemas.microsoft.com/office/drawing/2014/main" id="{6EE9FD48-EFC2-4CC0-858B-96377358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554863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36" name="medium">
            <a:extLst xmlns:a="http://schemas.openxmlformats.org/drawingml/2006/main">
              <a:ext uri="{FF2B5EF4-FFF2-40B4-BE49-F238E27FC236}">
                <a16:creationId xmlns:a16="http://schemas.microsoft.com/office/drawing/2014/main" id="{08FA27D9-B528-4440-8084-99B50AFB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37" name="cell-2-4">
            <a:extLst xmlns:a="http://schemas.openxmlformats.org/drawingml/2006/main">
              <a:ext uri="{FF2B5EF4-FFF2-40B4-BE49-F238E27FC236}">
                <a16:creationId xmlns:a16="http://schemas.microsoft.com/office/drawing/2014/main" id="{757B94D4-AE91-4185-9680-C5C41D9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554863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38" name="high">
            <a:extLst xmlns:a="http://schemas.openxmlformats.org/drawingml/2006/main">
              <a:ext uri="{FF2B5EF4-FFF2-40B4-BE49-F238E27FC236}">
                <a16:creationId xmlns:a16="http://schemas.microsoft.com/office/drawing/2014/main" id="{AADCCC92-CB42-4DD7-ADF4-E1F84B6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6769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A1BA68DE-21B7-441C-8768-CD775BAA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843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0" name="emotional-accountability">
            <a:extLst xmlns:a="http://schemas.openxmlformats.org/drawingml/2006/main">
              <a:ext uri="{FF2B5EF4-FFF2-40B4-BE49-F238E27FC236}">
                <a16:creationId xmlns:a16="http://schemas.microsoft.com/office/drawing/2014/main" id="{C39D8B3F-FC5C-46BC-BA8C-8281711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484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Emotional accountability</a:t>
            </a:r>
          </a:p>
        </p:txBody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52665B88-3FAE-47FC-AD9F-C0057B9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2" name="low">
            <a:extLst xmlns:a="http://schemas.openxmlformats.org/drawingml/2006/main">
              <a:ext uri="{FF2B5EF4-FFF2-40B4-BE49-F238E27FC236}">
                <a16:creationId xmlns:a16="http://schemas.microsoft.com/office/drawing/2014/main" id="{DDF75EEE-4AD7-4F6A-8E16-E6E4287F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194F0F8D-46D3-49E8-B946-ED12405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4" name="medium">
            <a:extLst xmlns:a="http://schemas.openxmlformats.org/drawingml/2006/main">
              <a:ext uri="{FF2B5EF4-FFF2-40B4-BE49-F238E27FC236}">
                <a16:creationId xmlns:a16="http://schemas.microsoft.com/office/drawing/2014/main" id="{F026F683-D140-4D9D-B8D8-6834FEA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05A4B4DB-B846-40CB-9487-7D1654A6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652843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46" name="medium">
            <a:extLst xmlns:a="http://schemas.openxmlformats.org/drawingml/2006/main">
              <a:ext uri="{FF2B5EF4-FFF2-40B4-BE49-F238E27FC236}">
                <a16:creationId xmlns:a16="http://schemas.microsoft.com/office/drawing/2014/main" id="{195F90AE-B236-48F5-AACF-AF0A7D9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6484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47" name="cell-3-4">
            <a:extLst xmlns:a="http://schemas.openxmlformats.org/drawingml/2006/main">
              <a:ext uri="{FF2B5EF4-FFF2-40B4-BE49-F238E27FC236}">
                <a16:creationId xmlns:a16="http://schemas.microsoft.com/office/drawing/2014/main" id="{4DAB4638-D7C6-40BF-BFA4-2ED38BA3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652843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48" name="high">
            <a:extLst xmlns:a="http://schemas.openxmlformats.org/drawingml/2006/main">
              <a:ext uri="{FF2B5EF4-FFF2-40B4-BE49-F238E27FC236}">
                <a16:creationId xmlns:a16="http://schemas.microsoft.com/office/drawing/2014/main" id="{B8787E2D-DDD4-4E4A-9CD2-C6204F40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6484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49" name="cell-4-0">
            <a:extLst xmlns:a="http://schemas.openxmlformats.org/drawingml/2006/main">
              <a:ext uri="{FF2B5EF4-FFF2-40B4-BE49-F238E27FC236}">
                <a16:creationId xmlns:a16="http://schemas.microsoft.com/office/drawing/2014/main" id="{8A91CC9E-8BAE-4B2D-83BC-39C8A3D1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08240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0" name="community-loop">
            <a:extLst xmlns:a="http://schemas.openxmlformats.org/drawingml/2006/main">
              <a:ext uri="{FF2B5EF4-FFF2-40B4-BE49-F238E27FC236}">
                <a16:creationId xmlns:a16="http://schemas.microsoft.com/office/drawing/2014/main" id="{7308B88C-A8D0-419E-A633-E415D635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390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Community loop</a:t>
            </a:r>
          </a:p>
        </p:txBody>
      </p:sp>
      <p:sp>
        <p:nvSpPr>
          <p:cNvPr id="51" name="cell-4-1">
            <a:extLst xmlns:a="http://schemas.openxmlformats.org/drawingml/2006/main">
              <a:ext uri="{FF2B5EF4-FFF2-40B4-BE49-F238E27FC236}">
                <a16:creationId xmlns:a16="http://schemas.microsoft.com/office/drawing/2014/main" id="{53F16C5A-F576-403D-825A-772659C5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2" name="medium">
            <a:extLst xmlns:a="http://schemas.openxmlformats.org/drawingml/2006/main">
              <a:ext uri="{FF2B5EF4-FFF2-40B4-BE49-F238E27FC236}">
                <a16:creationId xmlns:a16="http://schemas.microsoft.com/office/drawing/2014/main" id="{5B502889-21A0-4F92-B5B6-3EE156A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53" name="cell-4-2">
            <a:extLst xmlns:a="http://schemas.openxmlformats.org/drawingml/2006/main">
              <a:ext uri="{FF2B5EF4-FFF2-40B4-BE49-F238E27FC236}">
                <a16:creationId xmlns:a16="http://schemas.microsoft.com/office/drawing/2014/main" id="{4321477F-1FCB-4E82-A84C-A493CAF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4" name="none">
            <a:extLst xmlns:a="http://schemas.openxmlformats.org/drawingml/2006/main">
              <a:ext uri="{FF2B5EF4-FFF2-40B4-BE49-F238E27FC236}">
                <a16:creationId xmlns:a16="http://schemas.microsoft.com/office/drawing/2014/main" id="{73858670-085A-4696-9A19-79DEB9E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BF3BAE00-2D9B-4999-9CAC-024AAD35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7508240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56" name="low">
            <a:extLst xmlns:a="http://schemas.openxmlformats.org/drawingml/2006/main">
              <a:ext uri="{FF2B5EF4-FFF2-40B4-BE49-F238E27FC236}">
                <a16:creationId xmlns:a16="http://schemas.microsoft.com/office/drawing/2014/main" id="{5739D666-7F34-4B4A-BB09-0525ABBF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6390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57" name="cell-4-4">
            <a:extLst xmlns:a="http://schemas.openxmlformats.org/drawingml/2006/main">
              <a:ext uri="{FF2B5EF4-FFF2-40B4-BE49-F238E27FC236}">
                <a16:creationId xmlns:a16="http://schemas.microsoft.com/office/drawing/2014/main" id="{36CF6FB9-0452-43AA-8322-8F33B94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7508240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58" name="high">
            <a:extLst xmlns:a="http://schemas.openxmlformats.org/drawingml/2006/main">
              <a:ext uri="{FF2B5EF4-FFF2-40B4-BE49-F238E27FC236}">
                <a16:creationId xmlns:a16="http://schemas.microsoft.com/office/drawing/2014/main" id="{E22BF366-1F15-4F13-ADE5-0D620B5B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76390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  <p:sp>
        <p:nvSpPr>
          <p:cNvPr id="59" name="cell-5-0">
            <a:extLst xmlns:a="http://schemas.openxmlformats.org/drawingml/2006/main">
              <a:ext uri="{FF2B5EF4-FFF2-40B4-BE49-F238E27FC236}">
                <a16:creationId xmlns:a16="http://schemas.microsoft.com/office/drawing/2014/main" id="{BDB96272-2A16-4116-8535-94A260E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88045"/>
            <a:ext cx="4252784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0" name="custom-ai-roadmap">
            <a:extLst xmlns:a="http://schemas.openxmlformats.org/drawingml/2006/main">
              <a:ext uri="{FF2B5EF4-FFF2-40B4-BE49-F238E27FC236}">
                <a16:creationId xmlns:a16="http://schemas.microsoft.com/office/drawing/2014/main" id="{BB745D4B-621F-449E-8834-FFAC283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106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8F5EF"/>
                </a:solidFill>
              </a:defRPr>
            </a:pPr>
            <a:r>
              <a:rPr sz="1500" b="1" i="0">
                <a:solidFill>
                  <a:srgbClr val="F8F5EF"/>
                </a:solidFill>
              </a:rPr>
              <a:t>Custom AI roadmap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5F6FDA33-046B-4031-9219-E68E473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834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2" name="low">
            <a:extLst xmlns:a="http://schemas.openxmlformats.org/drawingml/2006/main">
              <a:ext uri="{FF2B5EF4-FFF2-40B4-BE49-F238E27FC236}">
                <a16:creationId xmlns:a16="http://schemas.microsoft.com/office/drawing/2014/main" id="{70A9109F-EFB0-47C1-93AF-862EAB2C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Low</a:t>
            </a:r>
          </a:p>
        </p:txBody>
      </p:sp>
      <p:sp>
        <p:nvSpPr>
          <p:cNvPr id="63" name="cell-5-2">
            <a:extLst xmlns:a="http://schemas.openxmlformats.org/drawingml/2006/main">
              <a:ext uri="{FF2B5EF4-FFF2-40B4-BE49-F238E27FC236}">
                <a16:creationId xmlns:a16="http://schemas.microsoft.com/office/drawing/2014/main" id="{44D48E4F-98AD-4318-90C0-97BAAEC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323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4" name="none">
            <a:extLst xmlns:a="http://schemas.openxmlformats.org/drawingml/2006/main">
              <a:ext uri="{FF2B5EF4-FFF2-40B4-BE49-F238E27FC236}">
                <a16:creationId xmlns:a16="http://schemas.microsoft.com/office/drawing/2014/main" id="{6D2AF1C1-09C0-41C8-B439-B2C6E2A9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None</a:t>
            </a:r>
          </a:p>
        </p:txBody>
      </p:sp>
      <p:sp>
        <p:nvSpPr>
          <p:cNvPr id="65" name="cell-5-3">
            <a:extLst xmlns:a="http://schemas.openxmlformats.org/drawingml/2006/main">
              <a:ext uri="{FF2B5EF4-FFF2-40B4-BE49-F238E27FC236}">
                <a16:creationId xmlns:a16="http://schemas.microsoft.com/office/drawing/2014/main" id="{1876EF88-7118-48E5-A0AF-9D7679C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812" y="8488045"/>
            <a:ext cx="283518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116"/>
          </a:solidFill>
        </p:spPr>
      </p:sp>
      <p:sp>
        <p:nvSpPr>
          <p:cNvPr id="66" name="medium">
            <a:extLst xmlns:a="http://schemas.openxmlformats.org/drawingml/2006/main">
              <a:ext uri="{FF2B5EF4-FFF2-40B4-BE49-F238E27FC236}">
                <a16:creationId xmlns:a16="http://schemas.microsoft.com/office/drawing/2014/main" id="{0AA75423-B026-46A9-9C52-C2EB5940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61060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8F5EF"/>
                </a:solidFill>
              </a:defRPr>
            </a:pPr>
            <a:r>
              <a:rPr sz="1500" b="0" i="0">
                <a:solidFill>
                  <a:srgbClr val="F8F5EF"/>
                </a:solidFill>
              </a:rPr>
              <a:t>Medium</a:t>
            </a:r>
          </a:p>
        </p:txBody>
      </p:sp>
      <p:sp>
        <p:nvSpPr>
          <p:cNvPr id="67" name="cell-5-4">
            <a:extLst xmlns:a="http://schemas.openxmlformats.org/drawingml/2006/main">
              <a:ext uri="{FF2B5EF4-FFF2-40B4-BE49-F238E27FC236}">
                <a16:creationId xmlns:a16="http://schemas.microsoft.com/office/drawing/2014/main" id="{203FE53C-68C4-4CE0-8A61-021F371A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301" y="8488045"/>
            <a:ext cx="2976949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B0D10"/>
          </a:solidFill>
        </p:spPr>
      </p:sp>
      <p:sp>
        <p:nvSpPr>
          <p:cNvPr id="68" name="high">
            <a:extLst xmlns:a="http://schemas.openxmlformats.org/drawingml/2006/main">
              <a:ext uri="{FF2B5EF4-FFF2-40B4-BE49-F238E27FC236}">
                <a16:creationId xmlns:a16="http://schemas.microsoft.com/office/drawing/2014/main" id="{C2611D66-693A-4CB2-9C03-AF0B84C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86106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8BFFB8"/>
                </a:solidFill>
              </a:defRPr>
            </a:pPr>
            <a:r>
              <a:rPr sz="1500" b="1" i="0">
                <a:solidFill>
                  <a:srgbClr val="8BFFB8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2251521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1B63168-2CAD-4E72-8BD8-B1AE23E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86A10BC3-3261-41E1-9123-C7513BA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365D81D5-2B10-4C9F-8031-63E6090E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D2CA2DB0-4F49-4ED9-AC0B-D72D67CC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7562ADF1-EADF-4C9B-AAAC-67AF015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BUSINESS MODEL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A0B15B-E2FB-4438-BDDE-EB84DD8A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496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Accessible core guidance. Scalable ecosystem revenue.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DF14794-5B7E-4239-B3BA-52BEB3CC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202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model avoids aggressive paywalls while still creating durable revenue through premium, partner, and institutional layers.</a:t>
            </a:r>
          </a:p>
        </p:txBody>
      </p:sp>
      <p:sp>
        <p:nvSpPr>
          <p:cNvPr id="8" name="biz-free">
            <a:extLst xmlns:a="http://schemas.openxmlformats.org/drawingml/2006/main">
              <a:ext uri="{FF2B5EF4-FFF2-40B4-BE49-F238E27FC236}">
                <a16:creationId xmlns:a16="http://schemas.microsoft.com/office/drawing/2014/main" id="{B83336BF-87F8-404D-AA4C-1CE61341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free-core">
            <a:extLst xmlns:a="http://schemas.openxmlformats.org/drawingml/2006/main">
              <a:ext uri="{FF2B5EF4-FFF2-40B4-BE49-F238E27FC236}">
                <a16:creationId xmlns:a16="http://schemas.microsoft.com/office/drawing/2014/main" id="{3C0EFE62-0CDE-4340-AE0A-067325FC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8BFFB8"/>
                </a:solidFill>
              </a:defRPr>
            </a:pPr>
            <a:r>
              <a:rPr sz="2700" b="1" i="0">
                <a:solidFill>
                  <a:srgbClr val="8BFFB8"/>
                </a:solidFill>
              </a:rPr>
              <a:t>Free Core</a:t>
            </a:r>
          </a:p>
        </p:txBody>
      </p:sp>
      <p:sp>
        <p:nvSpPr>
          <p:cNvPr id="10" name="basic-workouts-health-guidance-community-acce">
            <a:extLst xmlns:a="http://schemas.openxmlformats.org/drawingml/2006/main">
              <a:ext uri="{FF2B5EF4-FFF2-40B4-BE49-F238E27FC236}">
                <a16:creationId xmlns:a16="http://schemas.microsoft.com/office/drawing/2014/main" id="{B44C2BCC-AF19-448D-B848-3A9DF77C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Basic workouts, health guidance, community access, and lightweight AI support.</a:t>
            </a:r>
          </a:p>
        </p:txBody>
      </p:sp>
      <p:sp>
        <p:nvSpPr>
          <p:cNvPr id="11" name="biz-premium">
            <a:extLst xmlns:a="http://schemas.openxmlformats.org/drawingml/2006/main">
              <a:ext uri="{FF2B5EF4-FFF2-40B4-BE49-F238E27FC236}">
                <a16:creationId xmlns:a16="http://schemas.microsoft.com/office/drawing/2014/main" id="{0172D012-554D-41DC-95BB-BCBDCCBA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premium-ai">
            <a:extLst xmlns:a="http://schemas.openxmlformats.org/drawingml/2006/main">
              <a:ext uri="{FF2B5EF4-FFF2-40B4-BE49-F238E27FC236}">
                <a16:creationId xmlns:a16="http://schemas.microsoft.com/office/drawing/2014/main" id="{B4567218-07C0-42FB-ABAE-642BDA5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Premium AI</a:t>
            </a:r>
          </a:p>
        </p:txBody>
      </p:sp>
      <p:sp>
        <p:nvSpPr>
          <p:cNvPr id="13" name="advanced-coaching-personalization-plan-genera">
            <a:extLst xmlns:a="http://schemas.openxmlformats.org/drawingml/2006/main">
              <a:ext uri="{FF2B5EF4-FFF2-40B4-BE49-F238E27FC236}">
                <a16:creationId xmlns:a16="http://schemas.microsoft.com/office/drawing/2014/main" id="{15B69F05-A7D6-4009-A9F2-783F31B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Advanced coaching, personalization, plan generation, habit analytics, and deeper memory.</a:t>
            </a:r>
          </a:p>
        </p:txBody>
      </p:sp>
      <p:sp>
        <p:nvSpPr>
          <p:cNvPr id="14" name="biz-b2b">
            <a:extLst xmlns:a="http://schemas.openxmlformats.org/drawingml/2006/main">
              <a:ext uri="{FF2B5EF4-FFF2-40B4-BE49-F238E27FC236}">
                <a16:creationId xmlns:a16="http://schemas.microsoft.com/office/drawing/2014/main" id="{A584A1BE-462D-42DC-A53E-3F76AE5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b2b-gyms">
            <a:extLst xmlns:a="http://schemas.openxmlformats.org/drawingml/2006/main">
              <a:ext uri="{FF2B5EF4-FFF2-40B4-BE49-F238E27FC236}">
                <a16:creationId xmlns:a16="http://schemas.microsoft.com/office/drawing/2014/main" id="{C4310A11-1E79-4E93-940F-1A8EE7D9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54E4FF"/>
                </a:solidFill>
              </a:defRPr>
            </a:pPr>
            <a:r>
              <a:rPr sz="2700" b="1" i="0">
                <a:solidFill>
                  <a:srgbClr val="54E4FF"/>
                </a:solidFill>
              </a:rPr>
              <a:t>B2B / Gyms</a:t>
            </a:r>
          </a:p>
        </p:txBody>
      </p:sp>
      <p:sp>
        <p:nvSpPr>
          <p:cNvPr id="16" name="gym-dashboards-trainer-tools-student-fitness-">
            <a:extLst xmlns:a="http://schemas.openxmlformats.org/drawingml/2006/main">
              <a:ext uri="{FF2B5EF4-FFF2-40B4-BE49-F238E27FC236}">
                <a16:creationId xmlns:a16="http://schemas.microsoft.com/office/drawing/2014/main" id="{4CCC4B4B-CC7E-4B10-9B7F-B612C4F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Gym dashboards, trainer tools, student fitness programs, and institutional wellness.</a:t>
            </a:r>
          </a:p>
        </p:txBody>
      </p:sp>
      <p:sp>
        <p:nvSpPr>
          <p:cNvPr id="17" name="biz-ecosystem">
            <a:extLst xmlns:a="http://schemas.openxmlformats.org/drawingml/2006/main">
              <a:ext uri="{FF2B5EF4-FFF2-40B4-BE49-F238E27FC236}">
                <a16:creationId xmlns:a16="http://schemas.microsoft.com/office/drawing/2014/main" id="{9DB21C46-D469-45A8-8B1B-A785068F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526030"/>
            <a:ext cx="4024313" cy="709422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ai-ecosystem">
            <a:extLst xmlns:a="http://schemas.openxmlformats.org/drawingml/2006/main">
              <a:ext uri="{FF2B5EF4-FFF2-40B4-BE49-F238E27FC236}">
                <a16:creationId xmlns:a16="http://schemas.microsoft.com/office/drawing/2014/main" id="{5A595E7F-7995-43D2-B7FA-ACBCCAC7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781300"/>
            <a:ext cx="3448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CE73"/>
                </a:solidFill>
              </a:defRPr>
            </a:pPr>
            <a:r>
              <a:rPr sz="2700" b="1" i="0">
                <a:solidFill>
                  <a:srgbClr val="FFCE73"/>
                </a:solidFill>
              </a:rPr>
              <a:t>AI Ecosystem</a:t>
            </a:r>
          </a:p>
        </p:txBody>
      </p:sp>
      <p:sp>
        <p:nvSpPr>
          <p:cNvPr id="19" name="creator-programs-wearable-integrations-ai-gen">
            <a:extLst xmlns:a="http://schemas.openxmlformats.org/drawingml/2006/main">
              <a:ext uri="{FF2B5EF4-FFF2-40B4-BE49-F238E27FC236}">
                <a16:creationId xmlns:a16="http://schemas.microsoft.com/office/drawing/2014/main" id="{13B021F9-37F9-4D21-808B-1030082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352800"/>
            <a:ext cx="3448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programs, wearable integrations, AI-generated content, and technical licensing.</a:t>
            </a:r>
          </a:p>
        </p:txBody>
      </p:sp>
    </p:spTree>
    <p:extLst>
      <p:ext uri="{BB962C8B-B14F-4D97-AF65-F5344CB8AC3E}">
        <p14:creationId xmlns:p14="http://schemas.microsoft.com/office/powerpoint/2010/main" val="370656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2500BD9-CBFB-4218-A8F4-7941250D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6704D741-6EB2-4850-9B91-FA078C17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C81DB237-5653-45B0-A75B-07F08874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hip-dedicated-philosophy">
            <a:extLst xmlns:a="http://schemas.openxmlformats.org/drawingml/2006/main">
              <a:ext uri="{FF2B5EF4-FFF2-40B4-BE49-F238E27FC236}">
                <a16:creationId xmlns:a16="http://schemas.microsoft.com/office/drawing/2014/main" id="{6DF6F0C0-C28B-4384-842E-F5E27CE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4515"/>
            <a:ext cx="2129028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6CB30-B0D1-4C05-8444-B5D08F2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2E3A"/>
                </a:solidFill>
              </a:defRPr>
            </a:pPr>
            <a:r>
              <a:rPr sz="1500" b="1">
                <a:solidFill>
                  <a:srgbClr val="FF2E3A"/>
                </a:solidFill>
              </a:rPr>
              <a:t>Dedicated Philosophy</a:t>
            </a:r>
          </a:p>
        </p:txBody>
      </p:sp>
      <p:sp>
        <p:nvSpPr>
          <p:cNvPr id="6" name="accessible-ai-philosophy">
            <a:extLst xmlns:a="http://schemas.openxmlformats.org/drawingml/2006/main">
              <a:ext uri="{FF2B5EF4-FFF2-40B4-BE49-F238E27FC236}">
                <a16:creationId xmlns:a16="http://schemas.microsoft.com/office/drawing/2014/main" id="{2609C7E5-58A8-434B-8C03-16E1CA35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75438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F8F5EF"/>
                </a:solidFill>
              </a:defRPr>
            </a:pPr>
            <a:r>
              <a:rPr sz="5850" b="1" i="0">
                <a:solidFill>
                  <a:srgbClr val="F8F5EF"/>
                </a:solidFill>
              </a:rPr>
              <a:t>Accessible AI Philosophy</a:t>
            </a:r>
          </a:p>
        </p:txBody>
      </p:sp>
      <p:sp>
        <p:nvSpPr>
          <p:cNvPr id="7" name="ai-for-human-improvement-not-ai-for-exploitat">
            <a:extLst xmlns:a="http://schemas.openxmlformats.org/drawingml/2006/main">
              <a:ext uri="{FF2B5EF4-FFF2-40B4-BE49-F238E27FC236}">
                <a16:creationId xmlns:a16="http://schemas.microsoft.com/office/drawing/2014/main" id="{C7FC3DB3-8AD0-4A6E-8BDC-41C57A0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49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2E3A"/>
                </a:solidFill>
              </a:defRPr>
            </a:pPr>
            <a:r>
              <a:rPr sz="3900" b="1" i="0">
                <a:solidFill>
                  <a:srgbClr val="FF2E3A"/>
                </a:solidFill>
              </a:rPr>
              <a:t>AI for human improvement, not AI for exploitation.</a:t>
            </a:r>
          </a:p>
        </p:txBody>
      </p:sp>
      <p:sp>
        <p:nvSpPr>
          <p:cNvPr id="8" name="access-1">
            <a:extLst xmlns:a="http://schemas.openxmlformats.org/drawingml/2006/main">
              <a:ext uri="{FF2B5EF4-FFF2-40B4-BE49-F238E27FC236}">
                <a16:creationId xmlns:a16="http://schemas.microsoft.com/office/drawing/2014/main" id="{6960504B-1B68-40AA-8914-DDE6FC91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975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core-health-guidance-should-remain-accessible">
            <a:extLst xmlns:a="http://schemas.openxmlformats.org/drawingml/2006/main">
              <a:ext uri="{FF2B5EF4-FFF2-40B4-BE49-F238E27FC236}">
                <a16:creationId xmlns:a16="http://schemas.microsoft.com/office/drawing/2014/main" id="{11A0A514-2248-420B-9F62-9D1B207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47434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Core health guidance should remain accessible.</a:t>
            </a:r>
          </a:p>
        </p:txBody>
      </p:sp>
      <p:sp>
        <p:nvSpPr>
          <p:cNvPr id="10" name="access-2">
            <a:extLst xmlns:a="http://schemas.openxmlformats.org/drawingml/2006/main">
              <a:ext uri="{FF2B5EF4-FFF2-40B4-BE49-F238E27FC236}">
                <a16:creationId xmlns:a16="http://schemas.microsoft.com/office/drawing/2014/main" id="{0603C2BB-7DD3-4F16-BB6F-4D603236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350" y="565975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1" name="ai-wellness-systems-should-not-be-hidden-behi">
            <a:extLst xmlns:a="http://schemas.openxmlformats.org/drawingml/2006/main">
              <a:ext uri="{FF2B5EF4-FFF2-40B4-BE49-F238E27FC236}">
                <a16:creationId xmlns:a16="http://schemas.microsoft.com/office/drawing/2014/main" id="{AEA6E2B0-A25A-4E2A-8A43-0B6F673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AI wellness systems should not be hidden behind aggressive subscriptions.</a:t>
            </a:r>
          </a:p>
        </p:txBody>
      </p:sp>
      <p:sp>
        <p:nvSpPr>
          <p:cNvPr id="12" name="access-3">
            <a:extLst xmlns:a="http://schemas.openxmlformats.org/drawingml/2006/main">
              <a:ext uri="{FF2B5EF4-FFF2-40B4-BE49-F238E27FC236}">
                <a16:creationId xmlns:a16="http://schemas.microsoft.com/office/drawing/2014/main" id="{DCE9DD8D-B623-4235-9F5F-50720500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659755"/>
            <a:ext cx="5321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3" name="scale-should-come-from-partnerships-innovatio">
            <a:extLst xmlns:a="http://schemas.openxmlformats.org/drawingml/2006/main">
              <a:ext uri="{FF2B5EF4-FFF2-40B4-BE49-F238E27FC236}">
                <a16:creationId xmlns:a16="http://schemas.microsoft.com/office/drawing/2014/main" id="{B2863F15-BFF4-42F3-A5B4-4721F69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905500"/>
            <a:ext cx="4743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8F5EF"/>
                </a:solidFill>
              </a:defRPr>
            </a:pPr>
            <a:r>
              <a:rPr sz="2475" b="1" i="0">
                <a:solidFill>
                  <a:srgbClr val="F8F5EF"/>
                </a:solidFill>
              </a:rPr>
              <a:t>Scale should come from partnerships, innovation, infrastructure, and institutions.</a:t>
            </a:r>
          </a:p>
        </p:txBody>
      </p:sp>
      <p:sp>
        <p:nvSpPr>
          <p:cNvPr id="14" name="grindhaus-ai-aims-to-grow-through-ecosystem-p">
            <a:extLst xmlns:a="http://schemas.openxmlformats.org/drawingml/2006/main">
              <a:ext uri="{FF2B5EF4-FFF2-40B4-BE49-F238E27FC236}">
                <a16:creationId xmlns:a16="http://schemas.microsoft.com/office/drawing/2014/main" id="{AE937649-2BE8-4420-A0F0-5D7D9C7A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381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8C2B8"/>
                </a:solidFill>
              </a:defRPr>
            </a:pPr>
            <a:r>
              <a:rPr sz="2100" b="0" i="0">
                <a:solidFill>
                  <a:srgbClr val="C8C2B8"/>
                </a:solidFill>
              </a:rPr>
              <a:t>GrindHaus AI aims to grow through ecosystem partnerships, technical infrastructure, institutional collaboration, and responsible innovation.</a:t>
            </a:r>
          </a:p>
        </p:txBody>
      </p:sp>
    </p:spTree>
    <p:extLst>
      <p:ext uri="{BB962C8B-B14F-4D97-AF65-F5344CB8AC3E}">
        <p14:creationId xmlns:p14="http://schemas.microsoft.com/office/powerpoint/2010/main" val="16535189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C9C07EE-3D85-4756-98D9-D9B3EE73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4F397255-5236-45C9-A87F-DAAD831F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4C7AC14-3E43-4FC5-99B5-65C67DA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D0A1F144-EE89-4347-8D72-A69EB725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F8386272-2ED5-4947-8C2F-E5F7155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ROADMAP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29DF66-4DD7-43EE-A0BD-9A3EF8D9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97726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realistic path from MVP to AI ecosystem.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346486-0C94-4C5E-98DE-687552C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248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Each phase increases technical depth, user value, and institutional research potential.</a:t>
            </a:r>
          </a:p>
        </p:txBody>
      </p:sp>
      <p:sp>
        <p:nvSpPr>
          <p:cNvPr id="8" name="phase-chip-0">
            <a:extLst xmlns:a="http://schemas.openxmlformats.org/drawingml/2006/main">
              <a:ext uri="{FF2B5EF4-FFF2-40B4-BE49-F238E27FC236}">
                <a16:creationId xmlns:a16="http://schemas.microsoft.com/office/drawing/2014/main" id="{098096FF-6D03-482E-BA81-929F0D32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9" name="phase-1">
            <a:extLst xmlns:a="http://schemas.openxmlformats.org/drawingml/2006/main">
              <a:ext uri="{FF2B5EF4-FFF2-40B4-BE49-F238E27FC236}">
                <a16:creationId xmlns:a16="http://schemas.microsoft.com/office/drawing/2014/main" id="{EFAD2DE9-F601-4F15-A760-00716DA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1</a:t>
            </a:r>
          </a:p>
        </p:txBody>
      </p:sp>
      <p:sp>
        <p:nvSpPr>
          <p:cNvPr id="10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193E44E3-4C69-4C71-9520-7DD1FDC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1" name="frontend-platform">
            <a:extLst xmlns:a="http://schemas.openxmlformats.org/drawingml/2006/main">
              <a:ext uri="{FF2B5EF4-FFF2-40B4-BE49-F238E27FC236}">
                <a16:creationId xmlns:a16="http://schemas.microsoft.com/office/drawing/2014/main" id="{F6ADA3B4-AA45-4549-95BA-68687F3C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386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Frontend Platform</a:t>
            </a:r>
          </a:p>
        </p:txBody>
      </p:sp>
      <p:sp>
        <p:nvSpPr>
          <p:cNvPr id="12" name="landing-routes-workout-nutrition-community-ui">
            <a:extLst xmlns:a="http://schemas.openxmlformats.org/drawingml/2006/main">
              <a:ext uri="{FF2B5EF4-FFF2-40B4-BE49-F238E27FC236}">
                <a16:creationId xmlns:a16="http://schemas.microsoft.com/office/drawing/2014/main" id="{EF449D83-97ED-42B7-B1F8-EE50284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659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Landing, routes, workout/nutrition/community UI, auth-ready product.</a:t>
            </a:r>
          </a:p>
        </p:txBody>
      </p:sp>
      <p:sp>
        <p:nvSpPr>
          <p:cNvPr id="13" name="phase-chip-1">
            <a:extLst xmlns:a="http://schemas.openxmlformats.org/drawingml/2006/main">
              <a:ext uri="{FF2B5EF4-FFF2-40B4-BE49-F238E27FC236}">
                <a16:creationId xmlns:a16="http://schemas.microsoft.com/office/drawing/2014/main" id="{ADCDF9A1-FF72-42D7-95FC-E26BE1B7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0914"/>
          </a:solidFill>
        </p:spPr>
      </p:sp>
      <p:sp>
        <p:nvSpPr>
          <p:cNvPr id="14" name="phase-2">
            <a:extLst xmlns:a="http://schemas.openxmlformats.org/drawingml/2006/main">
              <a:ext uri="{FF2B5EF4-FFF2-40B4-BE49-F238E27FC236}">
                <a16:creationId xmlns:a16="http://schemas.microsoft.com/office/drawing/2014/main" id="{7656CEA0-8224-467E-A24B-0DF7998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2</a:t>
            </a:r>
          </a:p>
        </p:txBody>
      </p:sp>
      <p:sp>
        <p:nvSpPr>
          <p:cNvPr id="15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6B74AC8E-DCDB-41C9-92CD-5405659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16" name="ai-companion">
            <a:extLst xmlns:a="http://schemas.openxmlformats.org/drawingml/2006/main">
              <a:ext uri="{FF2B5EF4-FFF2-40B4-BE49-F238E27FC236}">
                <a16:creationId xmlns:a16="http://schemas.microsoft.com/office/drawing/2014/main" id="{0CCC9C22-3A49-4D59-8670-86A7C703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006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AI Companion</a:t>
            </a:r>
          </a:p>
        </p:txBody>
      </p:sp>
      <p:sp>
        <p:nvSpPr>
          <p:cNvPr id="17" name="memory-chat-habit-tracking-reminders-dashboar">
            <a:extLst xmlns:a="http://schemas.openxmlformats.org/drawingml/2006/main">
              <a:ext uri="{FF2B5EF4-FFF2-40B4-BE49-F238E27FC236}">
                <a16:creationId xmlns:a16="http://schemas.microsoft.com/office/drawing/2014/main" id="{BCB744ED-82DD-46F2-89C9-D7C1834D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634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Memory, chat, habit tracking, reminders, dashboard personalization.</a:t>
            </a:r>
          </a:p>
        </p:txBody>
      </p:sp>
      <p:sp>
        <p:nvSpPr>
          <p:cNvPr id="18" name="phase-chip-2">
            <a:extLst xmlns:a="http://schemas.openxmlformats.org/drawingml/2006/main">
              <a:ext uri="{FF2B5EF4-FFF2-40B4-BE49-F238E27FC236}">
                <a16:creationId xmlns:a16="http://schemas.microsoft.com/office/drawing/2014/main" id="{EBF4495E-7A15-4CE0-A5F1-E0968090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19" name="phase-3">
            <a:extLst xmlns:a="http://schemas.openxmlformats.org/drawingml/2006/main">
              <a:ext uri="{FF2B5EF4-FFF2-40B4-BE49-F238E27FC236}">
                <a16:creationId xmlns:a16="http://schemas.microsoft.com/office/drawing/2014/main" id="{F56AA324-D899-488D-954E-5948632E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436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3</a:t>
            </a:r>
          </a:p>
        </p:txBody>
      </p:sp>
      <p:sp>
        <p:nvSpPr>
          <p:cNvPr id="20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63DD9568-A76C-4BDA-BEB4-5DFFF8B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custom-model-research">
            <a:extLst xmlns:a="http://schemas.openxmlformats.org/drawingml/2006/main">
              <a:ext uri="{FF2B5EF4-FFF2-40B4-BE49-F238E27FC236}">
                <a16:creationId xmlns:a16="http://schemas.microsoft.com/office/drawing/2014/main" id="{29AF9232-653B-4F34-8E64-6917832F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3627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Custom Model Research</a:t>
            </a:r>
          </a:p>
        </p:txBody>
      </p:sp>
      <p:sp>
        <p:nvSpPr>
          <p:cNvPr id="22" name="dataset-generation-dual-mode-routing-transfor">
            <a:extLst xmlns:a="http://schemas.openxmlformats.org/drawingml/2006/main">
              <a:ext uri="{FF2B5EF4-FFF2-40B4-BE49-F238E27FC236}">
                <a16:creationId xmlns:a16="http://schemas.microsoft.com/office/drawing/2014/main" id="{D27D211F-35FF-40C5-B104-9018195D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865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Dataset generation, dual-mode routing, transformer training experiments.</a:t>
            </a:r>
          </a:p>
        </p:txBody>
      </p:sp>
      <p:sp>
        <p:nvSpPr>
          <p:cNvPr id="23" name="phase-chip-3">
            <a:extLst xmlns:a="http://schemas.openxmlformats.org/drawingml/2006/main">
              <a:ext uri="{FF2B5EF4-FFF2-40B4-BE49-F238E27FC236}">
                <a16:creationId xmlns:a16="http://schemas.microsoft.com/office/drawing/2014/main" id="{56A3D3AC-C6DE-4D86-938A-325DCBB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3425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4" name="phase-4">
            <a:extLst xmlns:a="http://schemas.openxmlformats.org/drawingml/2006/main">
              <a:ext uri="{FF2B5EF4-FFF2-40B4-BE49-F238E27FC236}">
                <a16:creationId xmlns:a16="http://schemas.microsoft.com/office/drawing/2014/main" id="{D47EECFC-54FD-4460-99A8-52D28F0F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0570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4</a:t>
            </a:r>
          </a:p>
        </p:txBody>
      </p:sp>
      <p:sp>
        <p:nvSpPr>
          <p:cNvPr id="25" name="phase-card-3">
            <a:extLst xmlns:a="http://schemas.openxmlformats.org/drawingml/2006/main">
              <a:ext uri="{FF2B5EF4-FFF2-40B4-BE49-F238E27FC236}">
                <a16:creationId xmlns:a16="http://schemas.microsoft.com/office/drawing/2014/main" id="{735D29ED-2D25-4B7A-B54B-01AE4AE3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7710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6" name="video-ai-wearables">
            <a:extLst xmlns:a="http://schemas.openxmlformats.org/drawingml/2006/main">
              <a:ext uri="{FF2B5EF4-FFF2-40B4-BE49-F238E27FC236}">
                <a16:creationId xmlns:a16="http://schemas.microsoft.com/office/drawing/2014/main" id="{93C57222-04E8-4876-8EBB-3878712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52475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Video AI + Wearables</a:t>
            </a:r>
          </a:p>
        </p:txBody>
      </p:sp>
      <p:sp>
        <p:nvSpPr>
          <p:cNvPr id="27" name="form-analysis-generated-coaching-content-wear">
            <a:extLst xmlns:a="http://schemas.openxmlformats.org/drawingml/2006/main">
              <a:ext uri="{FF2B5EF4-FFF2-40B4-BE49-F238E27FC236}">
                <a16:creationId xmlns:a16="http://schemas.microsoft.com/office/drawing/2014/main" id="{14613B6A-2F9A-48A9-93C4-CA7F574E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581900"/>
            <a:ext cx="6648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Form analysis, generated coaching content, wearable notification loops.</a:t>
            </a:r>
          </a:p>
        </p:txBody>
      </p:sp>
      <p:sp>
        <p:nvSpPr>
          <p:cNvPr id="28" name="phase-chip-4">
            <a:extLst xmlns:a="http://schemas.openxmlformats.org/drawingml/2006/main">
              <a:ext uri="{FF2B5EF4-FFF2-40B4-BE49-F238E27FC236}">
                <a16:creationId xmlns:a16="http://schemas.microsoft.com/office/drawing/2014/main" id="{B429D356-87F3-4592-A1BE-5F838B69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14287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91F"/>
          </a:solidFill>
        </p:spPr>
      </p:sp>
      <p:sp>
        <p:nvSpPr>
          <p:cNvPr id="29" name="phase-5">
            <a:extLst xmlns:a="http://schemas.openxmlformats.org/drawingml/2006/main">
              <a:ext uri="{FF2B5EF4-FFF2-40B4-BE49-F238E27FC236}">
                <a16:creationId xmlns:a16="http://schemas.microsoft.com/office/drawing/2014/main" id="{B0230512-C21D-44FD-A21E-AFF7EDC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67750"/>
            <a:ext cx="1009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8F5EF"/>
                </a:solidFill>
              </a:defRPr>
            </a:pPr>
            <a:r>
              <a:rPr sz="1800" b="1" i="0">
                <a:solidFill>
                  <a:srgbClr val="F8F5EF"/>
                </a:solidFill>
              </a:rPr>
              <a:t>Phase 5</a:t>
            </a:r>
          </a:p>
        </p:txBody>
      </p:sp>
      <p:sp>
        <p:nvSpPr>
          <p:cNvPr id="30" name="phase-card-4">
            <a:extLst xmlns:a="http://schemas.openxmlformats.org/drawingml/2006/main">
              <a:ext uri="{FF2B5EF4-FFF2-40B4-BE49-F238E27FC236}">
                <a16:creationId xmlns:a16="http://schemas.microsoft.com/office/drawing/2014/main" id="{3ADB16C9-9B90-4FF5-BE29-5C28B828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39150"/>
            <a:ext cx="15125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31" name="global-ecosystem">
            <a:extLst xmlns:a="http://schemas.openxmlformats.org/drawingml/2006/main">
              <a:ext uri="{FF2B5EF4-FFF2-40B4-BE49-F238E27FC236}">
                <a16:creationId xmlns:a16="http://schemas.microsoft.com/office/drawing/2014/main" id="{89127CAE-3AC0-4C41-BD4D-61AE8AA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686800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F5EF"/>
                </a:solidFill>
              </a:defRPr>
            </a:pPr>
            <a:r>
              <a:rPr sz="2550" b="1" i="0">
                <a:solidFill>
                  <a:srgbClr val="F8F5EF"/>
                </a:solidFill>
              </a:rPr>
              <a:t>Global Ecosystem</a:t>
            </a:r>
          </a:p>
        </p:txBody>
      </p:sp>
      <p:sp>
        <p:nvSpPr>
          <p:cNvPr id="32" name="creator-marketplace-gym-partnerships-multilin">
            <a:extLst xmlns:a="http://schemas.openxmlformats.org/drawingml/2006/main">
              <a:ext uri="{FF2B5EF4-FFF2-40B4-BE49-F238E27FC236}">
                <a16:creationId xmlns:a16="http://schemas.microsoft.com/office/drawing/2014/main" id="{F0FD579F-CC46-43F7-A6FC-F97BC00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610600"/>
            <a:ext cx="6705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C2B8"/>
                </a:solidFill>
              </a:defRPr>
            </a:pPr>
            <a:r>
              <a:rPr sz="1800" b="0" i="0">
                <a:solidFill>
                  <a:srgbClr val="C8C2B8"/>
                </a:solidFill>
              </a:rPr>
              <a:t>Creator marketplace, gym partnerships, multilingual AI, Indian AI export.</a:t>
            </a:r>
          </a:p>
        </p:txBody>
      </p:sp>
    </p:spTree>
    <p:extLst>
      <p:ext uri="{BB962C8B-B14F-4D97-AF65-F5344CB8AC3E}">
        <p14:creationId xmlns:p14="http://schemas.microsoft.com/office/powerpoint/2010/main" val="991469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CB237D8-E2E2-45D6-969A-6800613B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3ED88014-DFA7-4537-AA0D-9DCFEBC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91914F76-D0DD-4703-A5D8-0B3E0E1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9D21A20D-64D8-4644-ADF5-946C699B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5BCF32CA-4051-4FE8-B348-876E2AF9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2400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WHY CIIIT SHOULD SUPPORT THIS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C29355-C498-4293-AF29-F0D320AD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24015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national-level AI product can start from Chandrapur.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9CB2F2-085F-4DF9-8A05-13A6615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1487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GrindHaus AI aligns with innovation, incubation, skill development, applied AI, and emerging technology infrastructure.</a:t>
            </a:r>
          </a:p>
        </p:txBody>
      </p:sp>
      <p:sp>
        <p:nvSpPr>
          <p:cNvPr id="8" name="ciiit-left">
            <a:extLst xmlns:a="http://schemas.openxmlformats.org/drawingml/2006/main">
              <a:ext uri="{FF2B5EF4-FFF2-40B4-BE49-F238E27FC236}">
                <a16:creationId xmlns:a16="http://schemas.microsoft.com/office/drawing/2014/main" id="{6CB3DD82-C3D6-4D97-860D-0106AA8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institutional-fit">
            <a:extLst xmlns:a="http://schemas.openxmlformats.org/drawingml/2006/main">
              <a:ext uri="{FF2B5EF4-FFF2-40B4-BE49-F238E27FC236}">
                <a16:creationId xmlns:a16="http://schemas.microsoft.com/office/drawing/2014/main" id="{E0F75205-17ED-4AA7-86C1-586C7D0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8F5EF"/>
                </a:solidFill>
              </a:defRPr>
            </a:pPr>
            <a:r>
              <a:rPr sz="3750" b="1" i="0">
                <a:solidFill>
                  <a:srgbClr val="F8F5EF"/>
                </a:solidFill>
              </a:rPr>
              <a:t>Institutional Fit</a:t>
            </a:r>
          </a:p>
        </p:txBody>
      </p:sp>
      <p:sp>
        <p:nvSpPr>
          <p:cNvPr id="1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FE78CC5-562B-42AB-958E-3DACFBF3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3286F6F4-060D-4E4A-9919-38B3326A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Student-led innovation with startup potential</a:t>
            </a:r>
          </a:p>
        </p:txBody>
      </p:sp>
      <p:sp>
        <p:nvSpPr>
          <p:cNvPr id="1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6B7BAC3-0F6F-4E3C-8D12-5A3451F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7B76BE7A-494F-4E7D-A893-8C5B1159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 research and model development pathway</a:t>
            </a:r>
          </a:p>
        </p:txBody>
      </p:sp>
      <p:sp>
        <p:nvSpPr>
          <p:cNvPr id="1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FB4838C1-843E-4F60-9DD8-EE13ACAD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B364EA80-EFE9-45A2-BB85-D36F44B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Hands-on full-stack engineering project</a:t>
            </a:r>
          </a:p>
        </p:txBody>
      </p:sp>
      <p:sp>
        <p:nvSpPr>
          <p:cNvPr id="16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65C5162-B853-448D-8251-C9BAFD7D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7" name="bullet-3">
            <a:extLst xmlns:a="http://schemas.openxmlformats.org/drawingml/2006/main">
              <a:ext uri="{FF2B5EF4-FFF2-40B4-BE49-F238E27FC236}">
                <a16:creationId xmlns:a16="http://schemas.microsoft.com/office/drawing/2014/main" id="{054F4048-E7F1-4B3A-8BB2-09BB6F06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Public-private innovation alignment</a:t>
            </a:r>
          </a:p>
        </p:txBody>
      </p:sp>
      <p:sp>
        <p:nvSpPr>
          <p:cNvPr id="18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20CB7F93-9F4A-495F-92CF-63E03025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19" name="bullet-4">
            <a:extLst xmlns:a="http://schemas.openxmlformats.org/drawingml/2006/main">
              <a:ext uri="{FF2B5EF4-FFF2-40B4-BE49-F238E27FC236}">
                <a16:creationId xmlns:a16="http://schemas.microsoft.com/office/drawing/2014/main" id="{20A0F3AB-6CEA-4AE9-BE21-154F9F2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Potential for internships, training, and student participation</a:t>
            </a:r>
          </a:p>
        </p:txBody>
      </p:sp>
      <p:sp>
        <p:nvSpPr>
          <p:cNvPr id="20" name="ciiit-right">
            <a:extLst xmlns:a="http://schemas.openxmlformats.org/drawingml/2006/main">
              <a:ext uri="{FF2B5EF4-FFF2-40B4-BE49-F238E27FC236}">
                <a16:creationId xmlns:a16="http://schemas.microsoft.com/office/drawing/2014/main" id="{D7F0B397-D005-4B18-B567-1B6EA27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80460"/>
            <a:ext cx="8105775" cy="5939790"/>
          </a:xfrm>
          <a:prstGeom xmlns:a="http://schemas.openxmlformats.org/drawingml/2006/main" prst="roundRect">
            <a:avLst>
              <a:gd name="adj" fmla="val 1924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21" name="ciiit-value-creation">
            <a:extLst xmlns:a="http://schemas.openxmlformats.org/drawingml/2006/main">
              <a:ext uri="{FF2B5EF4-FFF2-40B4-BE49-F238E27FC236}">
                <a16:creationId xmlns:a16="http://schemas.microsoft.com/office/drawing/2014/main" id="{D2C509C9-91F7-4741-A8FB-E2FBCFF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754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2E3A"/>
                </a:solidFill>
              </a:defRPr>
            </a:pPr>
            <a:r>
              <a:rPr sz="3750" b="1" i="0">
                <a:solidFill>
                  <a:srgbClr val="FF2E3A"/>
                </a:solidFill>
              </a:rPr>
              <a:t>CIIIT Value Creation</a:t>
            </a:r>
          </a:p>
        </p:txBody>
      </p:sp>
      <p:sp>
        <p:nvSpPr>
          <p:cNvPr id="22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8B6BFB8-7072-457C-BD30-30373A7C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DE04DD65-2843-47D3-A000-B0D49FDD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Showcase AI incubation from GCOE Chandrapur</a:t>
            </a:r>
          </a:p>
        </p:txBody>
      </p:sp>
      <p:sp>
        <p:nvSpPr>
          <p:cNvPr id="24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7377396-556D-4AC6-82AD-8364A4C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55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268B7790-CA98-49F3-BAE1-26CC410E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4579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Create a local technical talent pipeline</a:t>
            </a:r>
          </a:p>
        </p:txBody>
      </p:sp>
      <p:sp>
        <p:nvSpPr>
          <p:cNvPr id="26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76FA187-21B5-475F-B928-EBB5A4E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0018A9B1-2504-460D-8574-9372E11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9151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Use GPU/infrastructure for applied AI research</a:t>
            </a:r>
          </a:p>
        </p:txBody>
      </p:sp>
      <p:sp>
        <p:nvSpPr>
          <p:cNvPr id="28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025D5707-B9F7-419C-BFF6-97ED0A5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46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29" name="bullet-3">
            <a:extLst xmlns:a="http://schemas.openxmlformats.org/drawingml/2006/main">
              <a:ext uri="{FF2B5EF4-FFF2-40B4-BE49-F238E27FC236}">
                <a16:creationId xmlns:a16="http://schemas.microsoft.com/office/drawing/2014/main" id="{07497B28-E043-4786-9DFE-AAE0318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3723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Build a product that can represent regional innovation nationally</a:t>
            </a:r>
          </a:p>
        </p:txBody>
      </p:sp>
      <p:sp>
        <p:nvSpPr>
          <p:cNvPr id="30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685BD21F-A117-4447-AE46-51938D18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92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2E3A"/>
          </a:solidFill>
        </p:spPr>
      </p:sp>
      <p:sp>
        <p:nvSpPr>
          <p:cNvPr id="31" name="bullet-4">
            <a:extLst xmlns:a="http://schemas.openxmlformats.org/drawingml/2006/main">
              <a:ext uri="{FF2B5EF4-FFF2-40B4-BE49-F238E27FC236}">
                <a16:creationId xmlns:a16="http://schemas.microsoft.com/office/drawing/2014/main" id="{2A332330-A56F-45BE-AF73-0F01F49B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829550"/>
            <a:ext cx="727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Connect academia, government, and startup execution</a:t>
            </a:r>
          </a:p>
        </p:txBody>
      </p:sp>
    </p:spTree>
    <p:extLst>
      <p:ext uri="{BB962C8B-B14F-4D97-AF65-F5344CB8AC3E}">
        <p14:creationId xmlns:p14="http://schemas.microsoft.com/office/powerpoint/2010/main" val="26554751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6DE1A1D-9F34-4B9C-BF76-E8CCF43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95756616-A771-4210-B28C-9DA9251F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DDA9C4C1-CEC8-4187-90BB-49BEB83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6F4B6BB-C28A-42E7-85A7-FA18979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2C152170-AA8F-4431-ACB4-24AE419C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WHAT WE NEED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53487-0A87-41C6-8B28-BF9F7916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12192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Support that converts a strong MVP into a scalable AI venture.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D5875C-572F-4AD6-ADFF-41964A8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ask is practical: infrastructure, mentorship, incubation, and technical guidance.</a:t>
            </a:r>
          </a:p>
        </p:txBody>
      </p:sp>
      <p:sp>
        <p:nvSpPr>
          <p:cNvPr id="8" name="need-gpu">
            <a:extLst xmlns:a="http://schemas.openxmlformats.org/drawingml/2006/main">
              <a:ext uri="{FF2B5EF4-FFF2-40B4-BE49-F238E27FC236}">
                <a16:creationId xmlns:a16="http://schemas.microsoft.com/office/drawing/2014/main" id="{D2BFF598-17AF-4256-BB9C-A32A3ACC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gpu-systems">
            <a:extLst xmlns:a="http://schemas.openxmlformats.org/drawingml/2006/main">
              <a:ext uri="{FF2B5EF4-FFF2-40B4-BE49-F238E27FC236}">
                <a16:creationId xmlns:a16="http://schemas.microsoft.com/office/drawing/2014/main" id="{A4E39317-7921-4002-AEAD-7A91D82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GPU Systems</a:t>
            </a:r>
          </a:p>
        </p:txBody>
      </p:sp>
      <p:sp>
        <p:nvSpPr>
          <p:cNvPr id="10" name="high-end-gpu-access-for-model-training-local-">
            <a:extLst xmlns:a="http://schemas.openxmlformats.org/drawingml/2006/main">
              <a:ext uri="{FF2B5EF4-FFF2-40B4-BE49-F238E27FC236}">
                <a16:creationId xmlns:a16="http://schemas.microsoft.com/office/drawing/2014/main" id="{01F38090-FF43-4893-89B7-AF400D4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High-end GPU access for model training, local inference tests, and AI video experiments.</a:t>
            </a:r>
          </a:p>
        </p:txBody>
      </p:sp>
      <p:sp>
        <p:nvSpPr>
          <p:cNvPr id="11" name="need-incubation">
            <a:extLst xmlns:a="http://schemas.openxmlformats.org/drawingml/2006/main">
              <a:ext uri="{FF2B5EF4-FFF2-40B4-BE49-F238E27FC236}">
                <a16:creationId xmlns:a16="http://schemas.microsoft.com/office/drawing/2014/main" id="{3B3B12DA-78A3-4715-9DFF-50D6194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incubation">
            <a:extLst xmlns:a="http://schemas.openxmlformats.org/drawingml/2006/main">
              <a:ext uri="{FF2B5EF4-FFF2-40B4-BE49-F238E27FC236}">
                <a16:creationId xmlns:a16="http://schemas.microsoft.com/office/drawing/2014/main" id="{8456713C-0560-42B1-9A2B-4A6DB1FA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Incubation</a:t>
            </a:r>
          </a:p>
        </p:txBody>
      </p:sp>
      <p:sp>
        <p:nvSpPr>
          <p:cNvPr id="13" name="workspace-structure-founder-guidance-product-">
            <a:extLst xmlns:a="http://schemas.openxmlformats.org/drawingml/2006/main">
              <a:ext uri="{FF2B5EF4-FFF2-40B4-BE49-F238E27FC236}">
                <a16:creationId xmlns:a16="http://schemas.microsoft.com/office/drawing/2014/main" id="{50163675-CA46-4705-B4F3-7F65CF8F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Workspace, structure, founder guidance, product reviews, and investor readiness.</a:t>
            </a:r>
          </a:p>
        </p:txBody>
      </p:sp>
      <p:sp>
        <p:nvSpPr>
          <p:cNvPr id="14" name="need-mentors">
            <a:extLst xmlns:a="http://schemas.openxmlformats.org/drawingml/2006/main">
              <a:ext uri="{FF2B5EF4-FFF2-40B4-BE49-F238E27FC236}">
                <a16:creationId xmlns:a16="http://schemas.microsoft.com/office/drawing/2014/main" id="{ADD34E9B-396F-41D6-9BC6-173E6F3D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3474720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mentorship">
            <a:extLst xmlns:a="http://schemas.openxmlformats.org/drawingml/2006/main">
              <a:ext uri="{FF2B5EF4-FFF2-40B4-BE49-F238E27FC236}">
                <a16:creationId xmlns:a16="http://schemas.microsoft.com/office/drawing/2014/main" id="{D43FB0B7-E4DA-4900-A33A-893AC7B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147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Mentorship</a:t>
            </a:r>
          </a:p>
        </p:txBody>
      </p:sp>
      <p:sp>
        <p:nvSpPr>
          <p:cNvPr id="16" name="ai-healthcare-fitness-startup-legal-and-busin">
            <a:extLst xmlns:a="http://schemas.openxmlformats.org/drawingml/2006/main">
              <a:ext uri="{FF2B5EF4-FFF2-40B4-BE49-F238E27FC236}">
                <a16:creationId xmlns:a16="http://schemas.microsoft.com/office/drawing/2014/main" id="{AE02DF0A-34B4-4AB5-9C2A-807A72D4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2672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AI, healthcare, fitness, startup, legal, and business model mentorship.</a:t>
            </a:r>
          </a:p>
        </p:txBody>
      </p:sp>
      <p:sp>
        <p:nvSpPr>
          <p:cNvPr id="17" name="need-research">
            <a:extLst xmlns:a="http://schemas.openxmlformats.org/drawingml/2006/main">
              <a:ext uri="{FF2B5EF4-FFF2-40B4-BE49-F238E27FC236}">
                <a16:creationId xmlns:a16="http://schemas.microsoft.com/office/drawing/2014/main" id="{CAB795BE-FCAD-4801-BC00-53FAF3E0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research-ecosystem">
            <a:extLst xmlns:a="http://schemas.openxmlformats.org/drawingml/2006/main">
              <a:ext uri="{FF2B5EF4-FFF2-40B4-BE49-F238E27FC236}">
                <a16:creationId xmlns:a16="http://schemas.microsoft.com/office/drawing/2014/main" id="{D5A1AC9D-0ABD-45BD-9A8B-E612AA85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Research Ecosystem</a:t>
            </a:r>
          </a:p>
        </p:txBody>
      </p:sp>
      <p:sp>
        <p:nvSpPr>
          <p:cNvPr id="19" name="faculty-guidance-student-research-groups-data">
            <a:extLst xmlns:a="http://schemas.openxmlformats.org/drawingml/2006/main">
              <a:ext uri="{FF2B5EF4-FFF2-40B4-BE49-F238E27FC236}">
                <a16:creationId xmlns:a16="http://schemas.microsoft.com/office/drawing/2014/main" id="{3158187D-40AB-4065-99FF-F9178E5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Faculty guidance, student research groups, dataset work, and responsible AI validation.</a:t>
            </a:r>
          </a:p>
        </p:txBody>
      </p:sp>
      <p:sp>
        <p:nvSpPr>
          <p:cNvPr id="20" name="need-cloud">
            <a:extLst xmlns:a="http://schemas.openxmlformats.org/drawingml/2006/main">
              <a:ext uri="{FF2B5EF4-FFF2-40B4-BE49-F238E27FC236}">
                <a16:creationId xmlns:a16="http://schemas.microsoft.com/office/drawing/2014/main" id="{F6E45074-9F09-4476-BBB6-E3109E07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1" name="infrastructure">
            <a:extLst xmlns:a="http://schemas.openxmlformats.org/drawingml/2006/main">
              <a:ext uri="{FF2B5EF4-FFF2-40B4-BE49-F238E27FC236}">
                <a16:creationId xmlns:a16="http://schemas.microsoft.com/office/drawing/2014/main" id="{CE3B259C-6B5E-4DC9-A457-408917E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Infrastructure</a:t>
            </a:r>
          </a:p>
        </p:txBody>
      </p:sp>
      <p:sp>
        <p:nvSpPr>
          <p:cNvPr id="22" name="deployment-support-testing-monitoring-databas">
            <a:extLst xmlns:a="http://schemas.openxmlformats.org/drawingml/2006/main">
              <a:ext uri="{FF2B5EF4-FFF2-40B4-BE49-F238E27FC236}">
                <a16:creationId xmlns:a16="http://schemas.microsoft.com/office/drawing/2014/main" id="{047B7300-2194-4A17-A2B5-FE30E39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Deployment support, testing, monitoring, databases, security, and scaling architecture.</a:t>
            </a:r>
          </a:p>
        </p:txBody>
      </p:sp>
      <p:sp>
        <p:nvSpPr>
          <p:cNvPr id="23" name="need-network">
            <a:extLst xmlns:a="http://schemas.openxmlformats.org/drawingml/2006/main">
              <a:ext uri="{FF2B5EF4-FFF2-40B4-BE49-F238E27FC236}">
                <a16:creationId xmlns:a16="http://schemas.microsoft.com/office/drawing/2014/main" id="{AA973429-044E-48FD-A892-FF3AB68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4050" y="6661785"/>
            <a:ext cx="54229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24" name="partnerships">
            <a:extLst xmlns:a="http://schemas.openxmlformats.org/drawingml/2006/main">
              <a:ext uri="{FF2B5EF4-FFF2-40B4-BE49-F238E27FC236}">
                <a16:creationId xmlns:a16="http://schemas.microsoft.com/office/drawing/2014/main" id="{18A4FCC7-EFB1-4E4A-9830-BBDC9A3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15150"/>
            <a:ext cx="485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2E3A"/>
                </a:solidFill>
              </a:defRPr>
            </a:pPr>
            <a:r>
              <a:rPr sz="2700" b="1" i="0">
                <a:solidFill>
                  <a:srgbClr val="FF2E3A"/>
                </a:solidFill>
              </a:rPr>
              <a:t>Partnerships</a:t>
            </a:r>
          </a:p>
        </p:txBody>
      </p:sp>
      <p:sp>
        <p:nvSpPr>
          <p:cNvPr id="25" name="gyms-colleges-sports-clubs-health-programs-an">
            <a:extLst xmlns:a="http://schemas.openxmlformats.org/drawingml/2006/main">
              <a:ext uri="{FF2B5EF4-FFF2-40B4-BE49-F238E27FC236}">
                <a16:creationId xmlns:a16="http://schemas.microsoft.com/office/drawing/2014/main" id="{4A6C21E6-D6CE-4AF0-B03C-3AF6ECE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467600"/>
            <a:ext cx="485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Gyms, colleges, sports clubs, health programs, and early user pilots.</a:t>
            </a:r>
          </a:p>
        </p:txBody>
      </p:sp>
    </p:spTree>
    <p:extLst>
      <p:ext uri="{BB962C8B-B14F-4D97-AF65-F5344CB8AC3E}">
        <p14:creationId xmlns:p14="http://schemas.microsoft.com/office/powerpoint/2010/main" val="20288026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5A223A6-2C75-4002-8251-80E182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2168E08A-45CF-4127-8608-5942CE1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5B5FB277-FA67-4849-ACD8-D51ACC04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kicker-rule">
            <a:extLst xmlns:a="http://schemas.openxmlformats.org/drawingml/2006/main">
              <a:ext uri="{FF2B5EF4-FFF2-40B4-BE49-F238E27FC236}">
                <a16:creationId xmlns:a16="http://schemas.microsoft.com/office/drawing/2014/main" id="{2B30344E-574D-430B-8AF8-192E565A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E50914"/>
            </a:solidFill>
            <a:prstDash val="solid"/>
          </a:ln>
        </p:spPr>
      </p:sp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EE284937-434F-4073-8785-56AF71C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667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2E3A"/>
                </a:solidFill>
              </a:defRPr>
            </a:pPr>
            <a:r>
              <a:rPr sz="1350" b="1" i="0">
                <a:solidFill>
                  <a:srgbClr val="FF2E3A"/>
                </a:solidFill>
              </a:rPr>
              <a:t>LONG-TERM IMPACT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A29EE4-1B77-478E-9908-E60EC90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13030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8F5EF"/>
                </a:solidFill>
              </a:defRPr>
            </a:pPr>
            <a:r>
              <a:rPr sz="4350" b="1" i="0">
                <a:solidFill>
                  <a:srgbClr val="F8F5EF"/>
                </a:solidFill>
              </a:rPr>
              <a:t>A platform that improves people and builds AI capability.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F28354-4ABA-4DF2-BE08-9B56249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744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The impact extends beyond users into students, institutions, local innovation, and India's AI product ecosystem.</a:t>
            </a:r>
          </a:p>
        </p:txBody>
      </p:sp>
      <p:sp>
        <p:nvSpPr>
          <p:cNvPr id="8" name="impact-health">
            <a:extLst xmlns:a="http://schemas.openxmlformats.org/drawingml/2006/main">
              <a:ext uri="{FF2B5EF4-FFF2-40B4-BE49-F238E27FC236}">
                <a16:creationId xmlns:a16="http://schemas.microsoft.com/office/drawing/2014/main" id="{13133391-9616-494B-B148-D99898F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9" name="health-transformation">
            <a:extLst xmlns:a="http://schemas.openxmlformats.org/drawingml/2006/main">
              <a:ext uri="{FF2B5EF4-FFF2-40B4-BE49-F238E27FC236}">
                <a16:creationId xmlns:a16="http://schemas.microsoft.com/office/drawing/2014/main" id="{5E1864BC-4318-4E9D-8EC8-E3C6A16D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Health Transformation</a:t>
            </a:r>
          </a:p>
        </p:txBody>
      </p:sp>
      <p:sp>
        <p:nvSpPr>
          <p:cNvPr id="10" name="better-consistency-habits-strength-nutrition-">
            <a:extLst xmlns:a="http://schemas.openxmlformats.org/drawingml/2006/main">
              <a:ext uri="{FF2B5EF4-FFF2-40B4-BE49-F238E27FC236}">
                <a16:creationId xmlns:a16="http://schemas.microsoft.com/office/drawing/2014/main" id="{6DF28141-3DDC-4C94-BD89-2E4819B7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Better consistency, habits, strength, nutrition, and self-belief.</a:t>
            </a:r>
          </a:p>
        </p:txBody>
      </p:sp>
      <p:sp>
        <p:nvSpPr>
          <p:cNvPr id="11" name="impact-ai">
            <a:extLst xmlns:a="http://schemas.openxmlformats.org/drawingml/2006/main">
              <a:ext uri="{FF2B5EF4-FFF2-40B4-BE49-F238E27FC236}">
                <a16:creationId xmlns:a16="http://schemas.microsoft.com/office/drawing/2014/main" id="{1A6D6071-44B8-4328-B7EE-A2E6620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2" name="ai-research">
            <a:extLst xmlns:a="http://schemas.openxmlformats.org/drawingml/2006/main">
              <a:ext uri="{FF2B5EF4-FFF2-40B4-BE49-F238E27FC236}">
                <a16:creationId xmlns:a16="http://schemas.microsoft.com/office/drawing/2014/main" id="{69BC9A7C-2559-4EA5-BEA3-6FB49943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AI Research</a:t>
            </a:r>
          </a:p>
        </p:txBody>
      </p:sp>
      <p:sp>
        <p:nvSpPr>
          <p:cNvPr id="13" name="applied-model-training-routing-memory-systems">
            <a:extLst xmlns:a="http://schemas.openxmlformats.org/drawingml/2006/main">
              <a:ext uri="{FF2B5EF4-FFF2-40B4-BE49-F238E27FC236}">
                <a16:creationId xmlns:a16="http://schemas.microsoft.com/office/drawing/2014/main" id="{EBEBDAF5-76D9-419E-9328-6368DDB6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Applied model training, routing, memory systems, and local inference research.</a:t>
            </a:r>
          </a:p>
        </p:txBody>
      </p:sp>
      <p:sp>
        <p:nvSpPr>
          <p:cNvPr id="14" name="impact-students">
            <a:extLst xmlns:a="http://schemas.openxmlformats.org/drawingml/2006/main">
              <a:ext uri="{FF2B5EF4-FFF2-40B4-BE49-F238E27FC236}">
                <a16:creationId xmlns:a16="http://schemas.microsoft.com/office/drawing/2014/main" id="{72094DF4-F25A-4EEE-98CE-144F30F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5" name="student-opportunities">
            <a:extLst xmlns:a="http://schemas.openxmlformats.org/drawingml/2006/main">
              <a:ext uri="{FF2B5EF4-FFF2-40B4-BE49-F238E27FC236}">
                <a16:creationId xmlns:a16="http://schemas.microsoft.com/office/drawing/2014/main" id="{3DF2C5B6-7CBD-49E8-807C-553435F7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Student Opportunities</a:t>
            </a:r>
          </a:p>
        </p:txBody>
      </p:sp>
      <p:sp>
        <p:nvSpPr>
          <p:cNvPr id="16" name="internships-open-projects-startup-learning-an">
            <a:extLst xmlns:a="http://schemas.openxmlformats.org/drawingml/2006/main">
              <a:ext uri="{FF2B5EF4-FFF2-40B4-BE49-F238E27FC236}">
                <a16:creationId xmlns:a16="http://schemas.microsoft.com/office/drawing/2014/main" id="{3FC361A8-C09C-461F-865A-CDDF7CEB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3448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Internships, open projects, startup learning, and technical upskilling.</a:t>
            </a:r>
          </a:p>
        </p:txBody>
      </p:sp>
      <p:sp>
        <p:nvSpPr>
          <p:cNvPr id="17" name="impact-india">
            <a:extLst xmlns:a="http://schemas.openxmlformats.org/drawingml/2006/main">
              <a:ext uri="{FF2B5EF4-FFF2-40B4-BE49-F238E27FC236}">
                <a16:creationId xmlns:a16="http://schemas.microsoft.com/office/drawing/2014/main" id="{29938707-D3D1-4C18-8B96-79E9BB5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731770"/>
            <a:ext cx="4024313" cy="6888480"/>
          </a:xfrm>
          <a:prstGeom xmlns:a="http://schemas.openxmlformats.org/drawingml/2006/main" prst="roundRect">
            <a:avLst>
              <a:gd name="adj" fmla="val 2840"/>
            </a:avLst>
          </a:prstGeom>
          <a:solidFill xmlns:a="http://schemas.openxmlformats.org/drawingml/2006/main">
            <a:srgbClr val="111217"/>
          </a:solidFill>
        </p:spPr>
      </p:sp>
      <p:sp>
        <p:nvSpPr>
          <p:cNvPr id="18" name="indian-ai-product">
            <a:extLst xmlns:a="http://schemas.openxmlformats.org/drawingml/2006/main">
              <a:ext uri="{FF2B5EF4-FFF2-40B4-BE49-F238E27FC236}">
                <a16:creationId xmlns:a16="http://schemas.microsoft.com/office/drawing/2014/main" id="{A8FD75F8-71CE-43E3-8C0A-BDC800BF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971800"/>
            <a:ext cx="344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2E3A"/>
                </a:solidFill>
              </a:defRPr>
            </a:pPr>
            <a:r>
              <a:rPr sz="2550" b="1" i="0">
                <a:solidFill>
                  <a:srgbClr val="FF2E3A"/>
                </a:solidFill>
              </a:rPr>
              <a:t>Indian AI Product</a:t>
            </a:r>
          </a:p>
        </p:txBody>
      </p:sp>
      <p:sp>
        <p:nvSpPr>
          <p:cNvPr id="19" name="a-global-product-narrative-built-from-a-regio">
            <a:extLst xmlns:a="http://schemas.openxmlformats.org/drawingml/2006/main">
              <a:ext uri="{FF2B5EF4-FFF2-40B4-BE49-F238E27FC236}">
                <a16:creationId xmlns:a16="http://schemas.microsoft.com/office/drawing/2014/main" id="{0984035F-D550-4035-8EDF-7740BAC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524250"/>
            <a:ext cx="3448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8C2B8"/>
                </a:solidFill>
              </a:defRPr>
            </a:pPr>
            <a:r>
              <a:rPr sz="1875" b="0" i="0">
                <a:solidFill>
                  <a:srgbClr val="C8C2B8"/>
                </a:solidFill>
              </a:rPr>
              <a:t>A global product narrative built from a regional innovation ecosystem.</a:t>
            </a:r>
          </a:p>
        </p:txBody>
      </p:sp>
    </p:spTree>
    <p:extLst>
      <p:ext uri="{BB962C8B-B14F-4D97-AF65-F5344CB8AC3E}">
        <p14:creationId xmlns:p14="http://schemas.microsoft.com/office/powerpoint/2010/main" val="206040092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0CFAFC57-AAC3-4D71-BF39-94B72EC9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6"/>
          </a:solidFill>
        </p:spPr>
      </p:sp>
      <p:sp>
        <p:nvSpPr>
          <p:cNvPr id="2" name="top-glow">
            <a:extLst xmlns:a="http://schemas.openxmlformats.org/drawingml/2006/main">
              <a:ext uri="{FF2B5EF4-FFF2-40B4-BE49-F238E27FC236}">
                <a16:creationId xmlns:a16="http://schemas.microsoft.com/office/drawing/2014/main" id="{D96D8985-C6D5-4DD0-BD51-803E6E2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070B"/>
          </a:solidFill>
        </p:spPr>
      </p:sp>
      <p:sp>
        <p:nvSpPr>
          <p:cNvPr id="3" name="bottom-line">
            <a:extLst xmlns:a="http://schemas.openxmlformats.org/drawingml/2006/main">
              <a:ext uri="{FF2B5EF4-FFF2-40B4-BE49-F238E27FC236}">
                <a16:creationId xmlns:a16="http://schemas.microsoft.com/office/drawing/2014/main" id="{2149098C-3A09-4A4F-8A55-1586BE9F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</p:spPr>
      </p:sp>
      <p:sp>
        <p:nvSpPr>
          <p:cNvPr id="4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0EF8E38B-1FFF-4DFA-A386-33E9D27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8387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8F5EF"/>
                </a:solidFill>
              </a:defRPr>
            </a:pPr>
            <a:r>
              <a:rPr sz="6150" b="1" i="0">
                <a:solidFill>
                  <a:srgbClr val="F8F5EF"/>
                </a:solidFill>
              </a:rPr>
              <a:t>GRINDHAUS AI</a:t>
            </a:r>
          </a:p>
        </p:txBody>
      </p:sp>
      <p:sp>
        <p:nvSpPr>
          <p:cNvPr id="5" name="closing-sub">
            <a:extLst xmlns:a="http://schemas.openxmlformats.org/drawingml/2006/main">
              <a:ext uri="{FF2B5EF4-FFF2-40B4-BE49-F238E27FC236}">
                <a16:creationId xmlns:a16="http://schemas.microsoft.com/office/drawing/2014/main" id="{292198D0-25F6-4195-B0F7-87812D3D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7410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F2E3A"/>
                </a:solidFill>
              </a:defRPr>
            </a:pPr>
            <a:r>
              <a:rPr sz="3000" b="1" i="0">
                <a:solidFill>
                  <a:srgbClr val="FF2E3A"/>
                </a:solidFill>
              </a:rPr>
              <a:t>The Future of AI-Powered Human Performance</a:t>
            </a:r>
          </a:p>
        </p:txBody>
      </p:sp>
      <p:sp>
        <p:nvSpPr>
          <p:cNvPr id="6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686B6813-89C3-4F7C-92CD-A8BB6087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8C2B8"/>
                </a:solidFill>
              </a:defRPr>
            </a:pPr>
            <a:r>
              <a:rPr sz="2175" b="0" i="0">
                <a:solidFill>
                  <a:srgbClr val="C8C2B8"/>
                </a:solidFill>
              </a:rPr>
              <a:t>We are building AI that helps people become stronger, healthier, more consistent, and more capable.</a:t>
            </a:r>
          </a:p>
        </p:txBody>
      </p:sp>
      <p:sp>
        <p:nvSpPr>
          <p:cNvPr id="7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08BFB6EC-8787-461E-B934-DE27B8C4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25590"/>
            <a:ext cx="9906000" cy="830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0B0D"/>
          </a:solidFill>
        </p:spPr>
      </p:sp>
      <p:sp>
        <p:nvSpPr>
          <p:cNvPr id="8" name="built-in-chandrapur-designed-for-the-world-">
            <a:extLst xmlns:a="http://schemas.openxmlformats.org/drawingml/2006/main">
              <a:ext uri="{FF2B5EF4-FFF2-40B4-BE49-F238E27FC236}">
                <a16:creationId xmlns:a16="http://schemas.microsoft.com/office/drawing/2014/main" id="{8890D22A-9D88-46E9-A643-0C758D4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838950"/>
            <a:ext cx="904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8F5EF"/>
                </a:solidFill>
              </a:defRPr>
            </a:pPr>
            <a:r>
              <a:rPr sz="2700" b="1" i="0">
                <a:solidFill>
                  <a:srgbClr val="F8F5EF"/>
                </a:solidFill>
              </a:rPr>
              <a:t>Built in Chandrapur. Designed for the world.</a:t>
            </a:r>
          </a:p>
        </p:txBody>
      </p:sp>
    </p:spTree>
    <p:extLst>
      <p:ext uri="{BB962C8B-B14F-4D97-AF65-F5344CB8AC3E}">
        <p14:creationId xmlns:p14="http://schemas.microsoft.com/office/powerpoint/2010/main" val="1235134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2026-05-20T17:44:20.0150000Z</dcterms:created>
  <dcterms:modified xsi:type="dcterms:W3CDTF">2026-05-20T17:44:20.0150000Z</dcterms:modified>
</coreProperties>
</file>