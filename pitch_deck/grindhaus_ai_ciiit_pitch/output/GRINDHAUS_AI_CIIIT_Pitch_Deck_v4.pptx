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28cf4d6881446f" /><Relationship Type="http://schemas.openxmlformats.org/officeDocument/2006/relationships/extended-properties" Target="/docProps/app.xml" Id="R7fdacedb73414992" /><Relationship Type="http://schemas.openxmlformats.org/officeDocument/2006/relationships/officeDocument" Target="/ppt/presentation.xml" Id="R23c3e3e5373c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4f53a35f04dc3"/>
  </p:sldMasterIdLst>
  <p:notesMasterIdLst>
    <p:notesMasterId xmlns:r="http://schemas.openxmlformats.org/officeDocument/2006/relationships" r:id="Rb4fb4b92a4974dcc"/>
  </p:notesMasterIdLst>
  <p:sldIdLst>
    <p:sldId xmlns:r="http://schemas.openxmlformats.org/officeDocument/2006/relationships" id="256" r:id="R45189cdbcefe4817"/>
    <p:sldId xmlns:r="http://schemas.openxmlformats.org/officeDocument/2006/relationships" id="257" r:id="Re6498295981643e6"/>
    <p:sldId xmlns:r="http://schemas.openxmlformats.org/officeDocument/2006/relationships" id="258" r:id="R7179384a95e54d88"/>
    <p:sldId xmlns:r="http://schemas.openxmlformats.org/officeDocument/2006/relationships" id="259" r:id="Rb615967aaa364549"/>
    <p:sldId xmlns:r="http://schemas.openxmlformats.org/officeDocument/2006/relationships" id="260" r:id="R9c9904ecf48d466b"/>
    <p:sldId xmlns:r="http://schemas.openxmlformats.org/officeDocument/2006/relationships" id="261" r:id="R2515a10786d240f9"/>
    <p:sldId xmlns:r="http://schemas.openxmlformats.org/officeDocument/2006/relationships" id="262" r:id="R2a614142a06b4062"/>
    <p:sldId xmlns:r="http://schemas.openxmlformats.org/officeDocument/2006/relationships" id="263" r:id="Re7add69a59754401"/>
    <p:sldId xmlns:r="http://schemas.openxmlformats.org/officeDocument/2006/relationships" id="264" r:id="R43cdfdcbf0ee4fc5"/>
    <p:sldId xmlns:r="http://schemas.openxmlformats.org/officeDocument/2006/relationships" id="265" r:id="R47095f64d3b0483b"/>
    <p:sldId xmlns:r="http://schemas.openxmlformats.org/officeDocument/2006/relationships" id="266" r:id="Rca4ee16e29d54c0f"/>
    <p:sldId xmlns:r="http://schemas.openxmlformats.org/officeDocument/2006/relationships" id="267" r:id="Rb09e7dba41e24893"/>
    <p:sldId xmlns:r="http://schemas.openxmlformats.org/officeDocument/2006/relationships" id="268" r:id="R211babed4f874483"/>
    <p:sldId xmlns:r="http://schemas.openxmlformats.org/officeDocument/2006/relationships" id="269" r:id="R6fe44836cc924aca"/>
    <p:sldId xmlns:r="http://schemas.openxmlformats.org/officeDocument/2006/relationships" id="270" r:id="R51a88fd9115649a1"/>
    <p:sldId xmlns:r="http://schemas.openxmlformats.org/officeDocument/2006/relationships" id="271" r:id="R40307b724b3f41f5"/>
    <p:sldId xmlns:r="http://schemas.openxmlformats.org/officeDocument/2006/relationships" id="272" r:id="R9bda0ee57d924b71"/>
    <p:sldId xmlns:r="http://schemas.openxmlformats.org/officeDocument/2006/relationships" id="273" r:id="R95d0aaab22544ddf"/>
    <p:sldId xmlns:r="http://schemas.openxmlformats.org/officeDocument/2006/relationships" id="274" r:id="R76320322cd4d494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4f53a35f04dc3" /><Relationship Type="http://schemas.openxmlformats.org/officeDocument/2006/relationships/theme" Target="/ppt/theme/theme1.xml" Id="Rad984809c32742d8" /><Relationship Type="http://schemas.openxmlformats.org/officeDocument/2006/relationships/notesMaster" Target="/ppt/notesMasters/notesMaster1.xml" Id="Rb4fb4b92a4974dcc" /><Relationship Type="http://schemas.openxmlformats.org/officeDocument/2006/relationships/presProps" Target="/ppt/presProps.xml" Id="R2b23cd2321f3451d" /><Relationship Type="http://schemas.openxmlformats.org/officeDocument/2006/relationships/viewProps" Target="/ppt/viewProps.xml" Id="R60cfdd7d18d74ecc" /><Relationship Type="http://schemas.openxmlformats.org/officeDocument/2006/relationships/tableStyles" Target="/ppt/tableStyles.xml" Id="R9860052b128447b9" /><Relationship Type="http://schemas.openxmlformats.org/officeDocument/2006/relationships/slide" Target="/ppt/slides/slide1.xml" Id="R45189cdbcefe4817" /><Relationship Type="http://schemas.openxmlformats.org/officeDocument/2006/relationships/slide" Target="/ppt/slides/slide2.xml" Id="Re6498295981643e6" /><Relationship Type="http://schemas.openxmlformats.org/officeDocument/2006/relationships/slide" Target="/ppt/slides/slide3.xml" Id="R7179384a95e54d88" /><Relationship Type="http://schemas.openxmlformats.org/officeDocument/2006/relationships/slide" Target="/ppt/slides/slide4.xml" Id="Rb615967aaa364549" /><Relationship Type="http://schemas.openxmlformats.org/officeDocument/2006/relationships/slide" Target="/ppt/slides/slide5.xml" Id="R9c9904ecf48d466b" /><Relationship Type="http://schemas.openxmlformats.org/officeDocument/2006/relationships/slide" Target="/ppt/slides/slide6.xml" Id="R2515a10786d240f9" /><Relationship Type="http://schemas.openxmlformats.org/officeDocument/2006/relationships/slide" Target="/ppt/slides/slide7.xml" Id="R2a614142a06b4062" /><Relationship Type="http://schemas.openxmlformats.org/officeDocument/2006/relationships/slide" Target="/ppt/slides/slide8.xml" Id="Re7add69a59754401" /><Relationship Type="http://schemas.openxmlformats.org/officeDocument/2006/relationships/slide" Target="/ppt/slides/slide9.xml" Id="R43cdfdcbf0ee4fc5" /><Relationship Type="http://schemas.openxmlformats.org/officeDocument/2006/relationships/slide" Target="/ppt/slides/slide10.xml" Id="R47095f64d3b0483b" /><Relationship Type="http://schemas.openxmlformats.org/officeDocument/2006/relationships/slide" Target="/ppt/slides/slide11.xml" Id="Rca4ee16e29d54c0f" /><Relationship Type="http://schemas.openxmlformats.org/officeDocument/2006/relationships/slide" Target="/ppt/slides/slide12.xml" Id="Rb09e7dba41e24893" /><Relationship Type="http://schemas.openxmlformats.org/officeDocument/2006/relationships/slide" Target="/ppt/slides/slide13.xml" Id="R211babed4f874483" /><Relationship Type="http://schemas.openxmlformats.org/officeDocument/2006/relationships/slide" Target="/ppt/slides/slide14.xml" Id="R6fe44836cc924aca" /><Relationship Type="http://schemas.openxmlformats.org/officeDocument/2006/relationships/slide" Target="/ppt/slides/slide15.xml" Id="R51a88fd9115649a1" /><Relationship Type="http://schemas.openxmlformats.org/officeDocument/2006/relationships/slide" Target="/ppt/slides/slide16.xml" Id="R40307b724b3f41f5" /><Relationship Type="http://schemas.openxmlformats.org/officeDocument/2006/relationships/slide" Target="/ppt/slides/slide17.xml" Id="R9bda0ee57d924b71" /><Relationship Type="http://schemas.openxmlformats.org/officeDocument/2006/relationships/slide" Target="/ppt/slides/slide18.xml" Id="R95d0aaab22544ddf" /><Relationship Type="http://schemas.openxmlformats.org/officeDocument/2006/relationships/slide" Target="/ppt/slides/slide19.xml" Id="R76320322cd4d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671baabd7e4d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e0cd981944112" /><Relationship Type="http://schemas.openxmlformats.org/officeDocument/2006/relationships/notesMaster" Target="/ppt/notesMasters/notesMaster1.xml" Id="Raf14a51ec092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9694ba6984771" /><Relationship Type="http://schemas.openxmlformats.org/officeDocument/2006/relationships/notesMaster" Target="/ppt/notesMasters/notesMaster1.xml" Id="R345aeb0e75cd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76c3073f0434e" /><Relationship Type="http://schemas.openxmlformats.org/officeDocument/2006/relationships/notesMaster" Target="/ppt/notesMasters/notesMaster1.xml" Id="Rcafe46b14c324b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64164fe2c643bf" /><Relationship Type="http://schemas.openxmlformats.org/officeDocument/2006/relationships/notesMaster" Target="/ppt/notesMasters/notesMaster1.xml" Id="R68d5832de919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9a30888bde4222" /><Relationship Type="http://schemas.openxmlformats.org/officeDocument/2006/relationships/notesMaster" Target="/ppt/notesMasters/notesMaster1.xml" Id="R2de97905710e48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5faa8e5164c81" /><Relationship Type="http://schemas.openxmlformats.org/officeDocument/2006/relationships/notesMaster" Target="/ppt/notesMasters/notesMaster1.xml" Id="Re62ed392879e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cd2bb14e64fb7" /><Relationship Type="http://schemas.openxmlformats.org/officeDocument/2006/relationships/notesMaster" Target="/ppt/notesMasters/notesMaster1.xml" Id="R572e121386bc43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ffd258b8e14daa" /><Relationship Type="http://schemas.openxmlformats.org/officeDocument/2006/relationships/notesMaster" Target="/ppt/notesMasters/notesMaster1.xml" Id="R20e42dfd1bb646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be7759178e4fbd" /><Relationship Type="http://schemas.openxmlformats.org/officeDocument/2006/relationships/notesMaster" Target="/ppt/notesMasters/notesMaster1.xml" Id="R6a6705d22cff49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38b8d1e70b43f2" /><Relationship Type="http://schemas.openxmlformats.org/officeDocument/2006/relationships/notesMaster" Target="/ppt/notesMasters/notesMaster1.xml" Id="Rc08a38cb688e40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ae67591ca747f8" /><Relationship Type="http://schemas.openxmlformats.org/officeDocument/2006/relationships/notesMaster" Target="/ppt/notesMasters/notesMaster1.xml" Id="R8481b2c6efd24e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096f44737e48ef" /><Relationship Type="http://schemas.openxmlformats.org/officeDocument/2006/relationships/notesMaster" Target="/ppt/notesMasters/notesMaster1.xml" Id="R89dcdeb94d0641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4155716b5493a" /><Relationship Type="http://schemas.openxmlformats.org/officeDocument/2006/relationships/notesMaster" Target="/ppt/notesMasters/notesMaster1.xml" Id="R5a3efae6cf2d40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ae4dee122b4e09" /><Relationship Type="http://schemas.openxmlformats.org/officeDocument/2006/relationships/notesMaster" Target="/ppt/notesMasters/notesMaster1.xml" Id="R6580feba424a47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bce27c785e4ec0" /><Relationship Type="http://schemas.openxmlformats.org/officeDocument/2006/relationships/notesMaster" Target="/ppt/notesMasters/notesMaster1.xml" Id="R367a88f9289f46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9b43a043d4a03" /><Relationship Type="http://schemas.openxmlformats.org/officeDocument/2006/relationships/notesMaster" Target="/ppt/notesMasters/notesMaster1.xml" Id="R21818294a7f940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35589037d44070" /><Relationship Type="http://schemas.openxmlformats.org/officeDocument/2006/relationships/notesMaster" Target="/ppt/notesMasters/notesMaster1.xml" Id="R50f6ca48f59b44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86c4ff1aa84254" /><Relationship Type="http://schemas.openxmlformats.org/officeDocument/2006/relationships/notesMaster" Target="/ppt/notesMasters/notesMaster1.xml" Id="R29fdc79f921346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2a46fc12634a10" /><Relationship Type="http://schemas.openxmlformats.org/officeDocument/2006/relationships/notesMaster" Target="/ppt/notesMasters/notesMaster1.xml" Id="R4cb8ccd784fe48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confidence: this is not just a fitness app. Position GrindHaus AI as a human-performance AI ecosystem built from Chandrapur for global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pain: people know what to do, but they fail because systems are not adaptive enough. Mention WHO numbers as market/context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audience feel the ambition: GrindHaus is a performance operating system. The key phrase to repeat is: an intelligent companion that evolves with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as an ecosystem. Each module has standalone value, but the AI companion connects them into a personalized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technical heart of the pitch. Stress the separation between expert mode and companion mode. That avoids unsafe tone mixing and creates a better user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workout intelligence is not only a list of exercises. The real value is adaptive planning and progressive overload based on user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nutrition sound practical, not medical. We are building behavior support, not replacing doctors or dieticians.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community to retention. Investors and incubators care about usage loops. Community creates accountability and organic growth.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execution maturity. The app is not a static landing page. It has frontend, backend, auth, API structure, AI memory, and a future research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grounded. We are not claiming to capture the whole market. The point is that the timing is strong: AI infrastructure, digital health, wellness behavior, and fitness apps are all growing.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GrindHaus to India's AI future. Say: if India can build AI for commerce and productivity, it can also build AI for human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competitors. Say each solves part of the problem, but GrindHaus combines the missing pieces into one adaptive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point: accessible does not mean non-commercial. The business scales through layers and partnerships, not by locking basic health guidance away from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CIIIT and government alignment. It shows values: inclusive technology, responsible AI, and ecosystem-led 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on execution: Phase 1 and 2 are product/MVP. Later phases need support, compute, mentorship, and research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government-funding alignment slide. Make it about institutional impact, not only your startup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specific. You are not just asking for money; you are asking for an environment where technical innovation can mature.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institutional argument here: GrindHaus can become both a business and a local AI capability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conviction. Pause before the final line. This is the line they should remember: Built in Chandrapur. Designed for the world.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8ef3eb5ac41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048ada14b945ed" /><Relationship Type="http://schemas.openxmlformats.org/officeDocument/2006/relationships/slideLayout" Target="/ppt/slideLayouts/slideLayout2.xml" Id="R2958a97907f9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58a97907f9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f952e67f24ddd" /><Relationship Type="http://schemas.openxmlformats.org/officeDocument/2006/relationships/notesSlide" Target="/ppt/notesSlides/notesSlide1.xml" Id="Re96c3e85fadf4e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bc279308454355" /><Relationship Type="http://schemas.openxmlformats.org/officeDocument/2006/relationships/notesSlide" Target="/ppt/notesSlides/notesSlide2.xml" Id="R0582370f43d845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ef38c3d8954f0f" /><Relationship Type="http://schemas.openxmlformats.org/officeDocument/2006/relationships/notesSlide" Target="/ppt/notesSlides/notesSlide3.xml" Id="R73c621c668fd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50a7af2d04b3f" /><Relationship Type="http://schemas.openxmlformats.org/officeDocument/2006/relationships/notesSlide" Target="/ppt/notesSlides/notesSlide4.xml" Id="R814d6966168a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4ba073ee545d3" /><Relationship Type="http://schemas.openxmlformats.org/officeDocument/2006/relationships/notesSlide" Target="/ppt/notesSlides/notesSlide5.xml" Id="R7c65046ddf5b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b65361e064bde" /><Relationship Type="http://schemas.openxmlformats.org/officeDocument/2006/relationships/notesSlide" Target="/ppt/notesSlides/notesSlide6.xml" Id="R99ab0dbba9a1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a9871667a40ee" /><Relationship Type="http://schemas.openxmlformats.org/officeDocument/2006/relationships/notesSlide" Target="/ppt/notesSlides/notesSlide7.xml" Id="R2eba14f13e5b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ca71f6bbc4bf7" /><Relationship Type="http://schemas.openxmlformats.org/officeDocument/2006/relationships/notesSlide" Target="/ppt/notesSlides/notesSlide8.xml" Id="Rf84cc859108044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a2cc752ce4d77" /><Relationship Type="http://schemas.openxmlformats.org/officeDocument/2006/relationships/notesSlide" Target="/ppt/notesSlides/notesSlide9.xml" Id="R532e30a85d23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5a3a01245445c" /><Relationship Type="http://schemas.openxmlformats.org/officeDocument/2006/relationships/chart" Target="/ppt/slides/charts/chart1.xml" Id="R1f694e71ec3440e5" /><Relationship Type="http://schemas.openxmlformats.org/officeDocument/2006/relationships/notesSlide" Target="/ppt/notesSlides/notesSlide10.xml" Id="R4c4d1caf0a4e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cefa8704d42dd" /><Relationship Type="http://schemas.openxmlformats.org/officeDocument/2006/relationships/notesSlide" Target="/ppt/notesSlides/notesSlide11.xml" Id="Rc665d37efe0849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ee48b7d474c7c" /><Relationship Type="http://schemas.openxmlformats.org/officeDocument/2006/relationships/notesSlide" Target="/ppt/notesSlides/notesSlide12.xml" Id="Rcdc3ffcf357f44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78a801acc3438e" /><Relationship Type="http://schemas.openxmlformats.org/officeDocument/2006/relationships/notesSlide" Target="/ppt/notesSlides/notesSlide13.xml" Id="R0b55017aff1e4e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cb852b9583482d" /><Relationship Type="http://schemas.openxmlformats.org/officeDocument/2006/relationships/notesSlide" Target="/ppt/notesSlides/notesSlide14.xml" Id="R433d74e97df644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6705f814c4365" /><Relationship Type="http://schemas.openxmlformats.org/officeDocument/2006/relationships/notesSlide" Target="/ppt/notesSlides/notesSlide15.xml" Id="Rfecb59e3485145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deaf7910a4ded" /><Relationship Type="http://schemas.openxmlformats.org/officeDocument/2006/relationships/notesSlide" Target="/ppt/notesSlides/notesSlide16.xml" Id="Rec1a3cda93934c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d7f700564b431e" /><Relationship Type="http://schemas.openxmlformats.org/officeDocument/2006/relationships/notesSlide" Target="/ppt/notesSlides/notesSlide17.xml" Id="R968ad8c5405c43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ee062d6954bde" /><Relationship Type="http://schemas.openxmlformats.org/officeDocument/2006/relationships/notesSlide" Target="/ppt/notesSlides/notesSlide18.xml" Id="Re74bbc5a9fb045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482a4d6334be2" /><Relationship Type="http://schemas.openxmlformats.org/officeDocument/2006/relationships/notesSlide" Target="/ppt/notesSlides/notesSlide19.xml" Id="R7657c19d8d8d4e8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USD Bn</c:v>
          </c:tx>
          <c:cat>
            <c:strLit>
              <c:ptCount val="4"/>
              <c:pt idx="0">
                <c:v>Global fitness apps 2024</c:v>
              </c:pt>
              <c:pt idx="1">
                <c:v>Global wellness apps 2030</c:v>
              </c:pt>
              <c:pt idx="2">
                <c:v>India digital health 2024</c:v>
              </c:pt>
              <c:pt idx="3">
                <c:v>India digital health 2033</c:v>
              </c:pt>
            </c:strLit>
          </c:cat>
          <c:val>
            <c:numLit>
              <c:formatCode/>
              <c:ptCount val="4"/>
              <c:pt idx="0">
                <c:v>10.6</c:v>
              </c:pt>
              <c:pt idx="1">
                <c:v>26.2</c:v>
              </c:pt>
              <c:pt idx="2">
                <c:v>14.5</c:v>
              </c:pt>
              <c:pt idx="3">
                <c:v>107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97FC807-98F0-4A7A-99E0-1DB2F1C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82686BE5-3127-40D0-99BF-7A37511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B75C6CCC-D033-4EB9-9BCF-F7336416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prepared-for-ciiit-gcoe-chandrapur">
            <a:extLst xmlns:a="http://schemas.openxmlformats.org/drawingml/2006/main">
              <a:ext uri="{FF2B5EF4-FFF2-40B4-BE49-F238E27FC236}">
                <a16:creationId xmlns:a16="http://schemas.microsoft.com/office/drawing/2014/main" id="{2BF5B4D9-1DE5-4765-8EA8-75E1917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8870"/>
            <a:ext cx="53340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5DA0-6DD6-4160-B92D-A6B5F336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Prepared for CIIIT | GCOE Chandrapur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0CCC9F4-57E8-4F8D-ADD8-CB133893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66103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F8F5EF"/>
                </a:solidFill>
              </a:defRPr>
            </a:pPr>
            <a:r>
              <a:rPr sz="840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DBAB09-6F9B-412D-8D92-15BC72C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8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E3CC1463-943A-43C1-B0A1-919BDF3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90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An intelligent fitness ecosystem combining AI coaching, behavioral memory, nutrition intelligence, community accountability, and future custom LLM research.</a:t>
            </a:r>
          </a:p>
        </p:txBody>
      </p:sp>
      <p:sp>
        <p:nvSpPr>
          <p:cNvPr id="9" name="cover-founder">
            <a:extLst xmlns:a="http://schemas.openxmlformats.org/drawingml/2006/main">
              <a:ext uri="{FF2B5EF4-FFF2-40B4-BE49-F238E27FC236}">
                <a16:creationId xmlns:a16="http://schemas.microsoft.com/office/drawing/2014/main" id="{957082D6-43D1-4377-BC2B-329727E8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643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D8990"/>
                </a:solidFill>
              </a:defRPr>
            </a:pPr>
            <a:r>
              <a:rPr sz="1575" b="0" i="0">
                <a:solidFill>
                  <a:srgbClr val="8D8990"/>
                </a:solidFill>
              </a:rPr>
              <a:t>Founder: GrindHaus AI Team | Government College of Engineering, Chandrapur</a:t>
            </a:r>
          </a:p>
        </p:txBody>
      </p:sp>
      <p:sp>
        <p:nvSpPr>
          <p:cNvPr id="10" name="ai-core">
            <a:extLst xmlns:a="http://schemas.openxmlformats.org/drawingml/2006/main">
              <a:ext uri="{FF2B5EF4-FFF2-40B4-BE49-F238E27FC236}">
                <a16:creationId xmlns:a16="http://schemas.microsoft.com/office/drawing/2014/main" id="{2F8CFD77-CD34-4808-87EA-7F9F380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21280"/>
            <a:ext cx="4476750" cy="447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">
            <a:extLst xmlns:a="http://schemas.openxmlformats.org/drawingml/2006/main">
              <a:ext uri="{FF2B5EF4-FFF2-40B4-BE49-F238E27FC236}">
                <a16:creationId xmlns:a16="http://schemas.microsoft.com/office/drawing/2014/main" id="{B10846E2-EDB3-473F-BF7C-658672A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33800"/>
            <a:ext cx="3733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2E3A"/>
                </a:solidFill>
              </a:defRPr>
            </a:pPr>
            <a:r>
              <a:rPr sz="8850" b="1" i="0">
                <a:solidFill>
                  <a:srgbClr val="FF2E3A"/>
                </a:solidFill>
              </a:rPr>
              <a:t>AI</a:t>
            </a:r>
          </a:p>
        </p:txBody>
      </p:sp>
      <p:sp>
        <p:nvSpPr>
          <p:cNvPr id="12" name="performance-brain">
            <a:extLst xmlns:a="http://schemas.openxmlformats.org/drawingml/2006/main">
              <a:ext uri="{FF2B5EF4-FFF2-40B4-BE49-F238E27FC236}">
                <a16:creationId xmlns:a16="http://schemas.microsoft.com/office/drawing/2014/main" id="{04AF1CDE-9AE3-4983-BFBD-61A14E7D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5780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5EF"/>
                </a:solidFill>
              </a:defRPr>
            </a:pPr>
            <a:r>
              <a:rPr sz="2100" b="1" i="0">
                <a:solidFill>
                  <a:srgbClr val="F8F5EF"/>
                </a:solidFill>
              </a:rPr>
              <a:t>Performance Brain</a:t>
            </a:r>
          </a:p>
        </p:txBody>
      </p:sp>
      <p:sp>
        <p:nvSpPr>
          <p:cNvPr id="13" name="memory-coaching-behavior">
            <a:extLst xmlns:a="http://schemas.openxmlformats.org/drawingml/2006/main">
              <a:ext uri="{FF2B5EF4-FFF2-40B4-BE49-F238E27FC236}">
                <a16:creationId xmlns:a16="http://schemas.microsoft.com/office/drawing/2014/main" id="{A2019E92-49D7-4CEB-AAA0-78D2505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7531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8C2B8"/>
                </a:solidFill>
              </a:defRPr>
            </a:pPr>
            <a:r>
              <a:rPr sz="1500" b="0" i="0">
                <a:solidFill>
                  <a:srgbClr val="C8C2B8"/>
                </a:solidFill>
              </a:rPr>
              <a:t>Memory + Coaching + Behavior</a:t>
            </a:r>
          </a:p>
        </p:txBody>
      </p:sp>
      <p:sp>
        <p:nvSpPr>
          <p:cNvPr id="14" name="chip-fitness">
            <a:extLst xmlns:a="http://schemas.openxmlformats.org/drawingml/2006/main">
              <a:ext uri="{FF2B5EF4-FFF2-40B4-BE49-F238E27FC236}">
                <a16:creationId xmlns:a16="http://schemas.microsoft.com/office/drawing/2014/main" id="{9C583CA8-D9DA-4CC9-9F99-4AC3F6A2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26948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8FB50-9E33-4AE1-A868-85B6A3A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3723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Fitness</a:t>
            </a:r>
          </a:p>
        </p:txBody>
      </p:sp>
      <p:sp>
        <p:nvSpPr>
          <p:cNvPr id="16" name="chip-nutrition">
            <a:extLst xmlns:a="http://schemas.openxmlformats.org/drawingml/2006/main">
              <a:ext uri="{FF2B5EF4-FFF2-40B4-BE49-F238E27FC236}">
                <a16:creationId xmlns:a16="http://schemas.microsoft.com/office/drawing/2014/main" id="{D9A05B20-7B88-420A-82E2-02692DC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69480"/>
            <a:ext cx="17526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AE34E-3DF4-4C0E-9369-68D4DBB6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372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Nutrition</a:t>
            </a:r>
          </a:p>
        </p:txBody>
      </p:sp>
      <p:sp>
        <p:nvSpPr>
          <p:cNvPr id="18" name="chip-companion-ai">
            <a:extLst xmlns:a="http://schemas.openxmlformats.org/drawingml/2006/main">
              <a:ext uri="{FF2B5EF4-FFF2-40B4-BE49-F238E27FC236}">
                <a16:creationId xmlns:a16="http://schemas.microsoft.com/office/drawing/2014/main" id="{15C2634A-6CE3-4F61-AEF1-7983CCBA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269480"/>
            <a:ext cx="21526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1B0D7-493F-4B54-99F7-710A7C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737235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Companion AI</a:t>
            </a:r>
          </a:p>
        </p:txBody>
      </p:sp>
    </p:spTree>
    <p:extLst>
      <p:ext uri="{BB962C8B-B14F-4D97-AF65-F5344CB8AC3E}">
        <p14:creationId xmlns:p14="http://schemas.microsoft.com/office/powerpoint/2010/main" val="36911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9DCE66C-4AD0-4CA0-8A57-DD756F6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C5671C84-7538-46A8-9E7C-6FAA535D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9966977-86BC-4B17-95FE-4018A36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9D17AE0-4733-4405-9AAE-0ABE8FF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51446A2-5697-4EC9-B794-3F0D9F1D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THE PROBLEM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D34AFF-240C-40DB-B308-120AB91E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12077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Fitness failure is usually not an information problem.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45C83F-3DD2-4A38-AA81-4369213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076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It is a consistency, personalization, and accountability problem.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2954C572-003D-4796-9B0B-702F41A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79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31-">
            <a:extLst xmlns:a="http://schemas.openxmlformats.org/drawingml/2006/main">
              <a:ext uri="{FF2B5EF4-FFF2-40B4-BE49-F238E27FC236}">
                <a16:creationId xmlns:a16="http://schemas.microsoft.com/office/drawing/2014/main" id="{86D0D58D-242F-4FAB-9B95-2CD27548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31%</a:t>
            </a:r>
          </a:p>
        </p:txBody>
      </p:sp>
      <p:sp>
        <p:nvSpPr>
          <p:cNvPr id="10" name="global-adults-physically-inactive">
            <a:extLst xmlns:a="http://schemas.openxmlformats.org/drawingml/2006/main">
              <a:ext uri="{FF2B5EF4-FFF2-40B4-BE49-F238E27FC236}">
                <a16:creationId xmlns:a16="http://schemas.microsoft.com/office/drawing/2014/main" id="{9947E4F4-3529-440F-9DC5-DF15FFB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43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global adults physically inactive</a:t>
            </a:r>
          </a:p>
        </p:txBody>
      </p:sp>
      <p:sp>
        <p:nvSpPr>
          <p:cNvPr id="11" name="who-estimates-1-8b-adults-are-not-active-enou">
            <a:extLst xmlns:a="http://schemas.openxmlformats.org/drawingml/2006/main">
              <a:ext uri="{FF2B5EF4-FFF2-40B4-BE49-F238E27FC236}">
                <a16:creationId xmlns:a16="http://schemas.microsoft.com/office/drawing/2014/main" id="{71A3797E-9E12-42FA-9269-ACE6786D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29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WHO estimates 1.8B adults are not active enough.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9BAF81EE-5DB0-4689-9F45-487956F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683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80-">
            <a:extLst xmlns:a="http://schemas.openxmlformats.org/drawingml/2006/main">
              <a:ext uri="{FF2B5EF4-FFF2-40B4-BE49-F238E27FC236}">
                <a16:creationId xmlns:a16="http://schemas.microsoft.com/office/drawing/2014/main" id="{9331DCB0-CA50-4A51-8A32-9E27138F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80%</a:t>
            </a:r>
          </a:p>
        </p:txBody>
      </p:sp>
      <p:sp>
        <p:nvSpPr>
          <p:cNvPr id="14" name="adolescents-below-activity-guidelines">
            <a:extLst xmlns:a="http://schemas.openxmlformats.org/drawingml/2006/main">
              <a:ext uri="{FF2B5EF4-FFF2-40B4-BE49-F238E27FC236}">
                <a16:creationId xmlns:a16="http://schemas.microsoft.com/office/drawing/2014/main" id="{593B321E-F532-45C4-B8B0-AD45AFCB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adolescents below activity guidelines</a:t>
            </a:r>
          </a:p>
        </p:txBody>
      </p:sp>
      <p:sp>
        <p:nvSpPr>
          <p:cNvPr id="15" name="the-next-generation-is-already-forming-low-ac">
            <a:extLst xmlns:a="http://schemas.openxmlformats.org/drawingml/2006/main">
              <a:ext uri="{FF2B5EF4-FFF2-40B4-BE49-F238E27FC236}">
                <a16:creationId xmlns:a16="http://schemas.microsoft.com/office/drawing/2014/main" id="{CD063A6A-0355-493C-BC58-58DB5596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295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The next generation is already forming low-activity habits.</a:t>
            </a:r>
          </a:p>
        </p:txBody>
      </p:sp>
      <p:sp>
        <p:nvSpPr>
          <p:cNvPr id="16" name="stat-3">
            <a:extLst xmlns:a="http://schemas.openxmlformats.org/drawingml/2006/main">
              <a:ext uri="{FF2B5EF4-FFF2-40B4-BE49-F238E27FC236}">
                <a16:creationId xmlns:a16="http://schemas.microsoft.com/office/drawing/2014/main" id="{E9E13F5D-0315-4923-AFB9-31323A68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456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behavior">
            <a:extLst xmlns:a="http://schemas.openxmlformats.org/drawingml/2006/main">
              <a:ext uri="{FF2B5EF4-FFF2-40B4-BE49-F238E27FC236}">
                <a16:creationId xmlns:a16="http://schemas.microsoft.com/office/drawing/2014/main" id="{FBC2C408-2AE3-4758-BDD7-6F5EBBB4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00950"/>
            <a:ext cx="2171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Behavior</a:t>
            </a:r>
          </a:p>
        </p:txBody>
      </p:sp>
      <p:sp>
        <p:nvSpPr>
          <p:cNvPr id="18" name="core-drop-off-driver">
            <a:extLst xmlns:a="http://schemas.openxmlformats.org/drawingml/2006/main">
              <a:ext uri="{FF2B5EF4-FFF2-40B4-BE49-F238E27FC236}">
                <a16:creationId xmlns:a16="http://schemas.microsoft.com/office/drawing/2014/main" id="{7CE04B18-8819-423F-8906-E04B07A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95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core drop-off driver</a:t>
            </a:r>
          </a:p>
        </p:txBody>
      </p:sp>
      <p:sp>
        <p:nvSpPr>
          <p:cNvPr id="19" name="generic-plans-fail-when-life-stress-fatigue-a">
            <a:extLst xmlns:a="http://schemas.openxmlformats.org/drawingml/2006/main">
              <a:ext uri="{FF2B5EF4-FFF2-40B4-BE49-F238E27FC236}">
                <a16:creationId xmlns:a16="http://schemas.microsoft.com/office/drawing/2014/main" id="{05529115-4870-4C3D-B704-7D20264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0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Generic plans fail when life, stress, fatigue, and routine change.</a:t>
            </a:r>
          </a:p>
        </p:txBody>
      </p:sp>
      <p:sp>
        <p:nvSpPr>
          <p:cNvPr id="2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BC68EE92-FBB9-421A-ADE1-072FCBA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887980"/>
            <a:ext cx="7842250" cy="6732270"/>
          </a:xfrm>
          <a:prstGeom xmlns:a="http://schemas.openxmlformats.org/drawingml/2006/main" prst="roundRect">
            <a:avLst>
              <a:gd name="adj" fmla="val 16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rrent-fitness-products-are-built-like-libra">
            <a:extLst xmlns:a="http://schemas.openxmlformats.org/drawingml/2006/main">
              <a:ext uri="{FF2B5EF4-FFF2-40B4-BE49-F238E27FC236}">
                <a16:creationId xmlns:a16="http://schemas.microsoft.com/office/drawing/2014/main" id="{086BA3E8-D3A5-4138-82D4-5199F8C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62674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8F5EF"/>
                </a:solidFill>
              </a:defRPr>
            </a:pPr>
            <a:r>
              <a:rPr sz="3600" b="1" i="0">
                <a:solidFill>
                  <a:srgbClr val="F8F5EF"/>
                </a:solidFill>
              </a:rPr>
              <a:t>Current fitness products are built like libraries.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5591F78-758D-4AC7-94DD-AD7D11F8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0115A3B8-A306-4813-840B-7DB2CC5B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45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show workouts but do not understand behavior.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A29CCAE-255F-4CEC-AD31-9D17CFE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7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650705E3-CDD8-4020-A192-38DF2C3D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track data but rarely create emotional accountability.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9D7E6F2-5EBC-4D04-B533-E6C3F43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3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A19C975E-5C4E-4AC1-9E8F-E533B41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389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monetize guidance aggressively instead of improving access.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315A040-4916-4808-89F8-0A04DCCA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54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7BFA1B1A-1F01-4798-8CC4-6C7AA7ED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315200"/>
            <a:ext cx="678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do not adapt deeply to missed days, goals, fatigue, or motivation.</a:t>
            </a:r>
          </a:p>
        </p:txBody>
      </p:sp>
    </p:spTree>
    <p:extLst>
      <p:ext uri="{BB962C8B-B14F-4D97-AF65-F5344CB8AC3E}">
        <p14:creationId xmlns:p14="http://schemas.microsoft.com/office/powerpoint/2010/main" val="13064688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9B6859E-F286-45F0-8CDE-72F50B7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BF8E145A-2F0D-45F8-AD90-FD503ED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4CF93D82-74CF-4E77-AC23-501EB5B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vision">
            <a:extLst xmlns:a="http://schemas.openxmlformats.org/drawingml/2006/main">
              <a:ext uri="{FF2B5EF4-FFF2-40B4-BE49-F238E27FC236}">
                <a16:creationId xmlns:a16="http://schemas.microsoft.com/office/drawing/2014/main" id="{22A9DE0B-6430-49AE-8E65-B88C6DDB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988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ACA60-549E-42D6-9786-DC7AAF7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Vision</a:t>
            </a:r>
          </a:p>
        </p:txBody>
      </p:sp>
      <p:sp>
        <p:nvSpPr>
          <p:cNvPr id="6" name="not-a-fitness-app-">
            <a:extLst xmlns:a="http://schemas.openxmlformats.org/drawingml/2006/main">
              <a:ext uri="{FF2B5EF4-FFF2-40B4-BE49-F238E27FC236}">
                <a16:creationId xmlns:a16="http://schemas.microsoft.com/office/drawing/2014/main" id="{1CC72036-513A-4FEE-944D-874ED06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5276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F8F5EF"/>
                </a:solidFill>
              </a:defRPr>
            </a:pPr>
            <a:r>
              <a:rPr sz="5700" b="1" i="0">
                <a:solidFill>
                  <a:srgbClr val="F8F5EF"/>
                </a:solidFill>
              </a:rPr>
              <a:t>Not a fitness app.</a:t>
            </a:r>
          </a:p>
        </p:txBody>
      </p:sp>
      <p:sp>
        <p:nvSpPr>
          <p:cNvPr id="7" name="an-intelligent-companion-that-evolves-with-th">
            <a:extLst xmlns:a="http://schemas.openxmlformats.org/drawingml/2006/main">
              <a:ext uri="{FF2B5EF4-FFF2-40B4-BE49-F238E27FC236}">
                <a16:creationId xmlns:a16="http://schemas.microsoft.com/office/drawing/2014/main" id="{7C704233-AEBD-48CD-9998-53F0249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9467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2E3A"/>
                </a:solidFill>
              </a:defRPr>
            </a:pPr>
            <a:r>
              <a:rPr sz="3450" b="1" i="0">
                <a:solidFill>
                  <a:srgbClr val="FF2E3A"/>
                </a:solidFill>
              </a:rPr>
              <a:t>An intelligent companion that evolves with the user.</a:t>
            </a:r>
          </a:p>
        </p:txBody>
      </p:sp>
      <p:sp>
        <p:nvSpPr>
          <p:cNvPr id="8" name="the-long-term-platform-becomes-a-performance-">
            <a:extLst xmlns:a="http://schemas.openxmlformats.org/drawingml/2006/main">
              <a:ext uri="{FF2B5EF4-FFF2-40B4-BE49-F238E27FC236}">
                <a16:creationId xmlns:a16="http://schemas.microsoft.com/office/drawing/2014/main" id="{5BA2AFFA-868C-498B-B809-B68F5BA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12439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8C2B8"/>
                </a:solidFill>
              </a:defRPr>
            </a:pPr>
            <a:r>
              <a:rPr sz="2250" b="0" i="0">
                <a:solidFill>
                  <a:srgbClr val="C8C2B8"/>
                </a:solidFill>
              </a:rPr>
              <a:t>The long-term platform becomes a performance layer around daily life: training, food, recovery, motivation, community, wearables, and AI-generated coaching experiences.</a:t>
            </a:r>
          </a:p>
        </p:txBody>
      </p:sp>
      <p:sp>
        <p:nvSpPr>
          <p:cNvPr id="9" name="chip-personal-memory">
            <a:extLst xmlns:a="http://schemas.openxmlformats.org/drawingml/2006/main">
              <a:ext uri="{FF2B5EF4-FFF2-40B4-BE49-F238E27FC236}">
                <a16:creationId xmlns:a16="http://schemas.microsoft.com/office/drawing/2014/main" id="{9DBFD3EB-8A30-4142-891E-227C0B23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00875"/>
            <a:ext cx="25527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5A440-DA95-4F08-8642-F0EE0F4F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056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Personal memory</a:t>
            </a:r>
          </a:p>
        </p:txBody>
      </p:sp>
      <p:sp>
        <p:nvSpPr>
          <p:cNvPr id="11" name="chip-adaptive-recommendations">
            <a:extLst xmlns:a="http://schemas.openxmlformats.org/drawingml/2006/main">
              <a:ext uri="{FF2B5EF4-FFF2-40B4-BE49-F238E27FC236}">
                <a16:creationId xmlns:a16="http://schemas.microsoft.com/office/drawing/2014/main" id="{5664EDA9-05F6-4624-9072-720D600B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000875"/>
            <a:ext cx="37528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F8471-1DBF-4C7C-A3F5-9732F293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056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Adaptive recommendations</a:t>
            </a:r>
          </a:p>
        </p:txBody>
      </p:sp>
      <p:sp>
        <p:nvSpPr>
          <p:cNvPr id="13" name="chip-accessible-guidance">
            <a:extLst xmlns:a="http://schemas.openxmlformats.org/drawingml/2006/main">
              <a:ext uri="{FF2B5EF4-FFF2-40B4-BE49-F238E27FC236}">
                <a16:creationId xmlns:a16="http://schemas.microsoft.com/office/drawing/2014/main" id="{088B768B-CA35-433B-8977-B682823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000875"/>
            <a:ext cx="30861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99CB4-022C-40BD-B3CD-1C3FFC3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056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Accessible guidance</a:t>
            </a:r>
          </a:p>
        </p:txBody>
      </p:sp>
      <p:sp>
        <p:nvSpPr>
          <p:cNvPr id="15" name="chip-indian-ai-product">
            <a:extLst xmlns:a="http://schemas.openxmlformats.org/drawingml/2006/main">
              <a:ext uri="{FF2B5EF4-FFF2-40B4-BE49-F238E27FC236}">
                <a16:creationId xmlns:a16="http://schemas.microsoft.com/office/drawing/2014/main" id="{9582B6E1-00E6-4744-B04C-6A92FBC6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00875"/>
            <a:ext cx="28194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C60D3-1162-4A34-A2FA-B4C3FF5E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1056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Indian AI product</a:t>
            </a:r>
          </a:p>
        </p:txBody>
      </p:sp>
    </p:spTree>
    <p:extLst>
      <p:ext uri="{BB962C8B-B14F-4D97-AF65-F5344CB8AC3E}">
        <p14:creationId xmlns:p14="http://schemas.microsoft.com/office/powerpoint/2010/main" val="18452091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57EA959-71D4-4488-933C-BEF106B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2F16CD3-DF4A-4F45-98F3-0E40789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6B151FC-11CF-4200-AD39-9627470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E937877-2713-4BC7-AD4A-8F0C5FD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BF9778D-A79D-43CD-93D6-2BD1A2E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PRODUCT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170AC8-81CA-40F0-B5AD-CFD06146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02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Five modules. One adaptive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FFD365-8915-449C-9BFA-FBDE6BD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94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unified user journey from discovery to coaching, tracking, community, and long-term personalization.</a:t>
            </a:r>
          </a:p>
        </p:txBody>
      </p:sp>
      <p:sp>
        <p:nvSpPr>
          <p:cNvPr id="8" name="module-workouts">
            <a:extLst xmlns:a="http://schemas.openxmlformats.org/drawingml/2006/main">
              <a:ext uri="{FF2B5EF4-FFF2-40B4-BE49-F238E27FC236}">
                <a16:creationId xmlns:a16="http://schemas.microsoft.com/office/drawing/2014/main" id="{4A5E2E6B-5CC9-4A98-9212-67235CA8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workout-library">
            <a:extLst xmlns:a="http://schemas.openxmlformats.org/drawingml/2006/main">
              <a:ext uri="{FF2B5EF4-FFF2-40B4-BE49-F238E27FC236}">
                <a16:creationId xmlns:a16="http://schemas.microsoft.com/office/drawing/2014/main" id="{FDBC19D6-AD07-40CC-9FA6-8422968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Workout Library</a:t>
            </a:r>
          </a:p>
        </p:txBody>
      </p:sp>
      <p:sp>
        <p:nvSpPr>
          <p:cNvPr id="10" name="structured-exercise-discovery-plans-muscle-gr">
            <a:extLst xmlns:a="http://schemas.openxmlformats.org/drawingml/2006/main">
              <a:ext uri="{FF2B5EF4-FFF2-40B4-BE49-F238E27FC236}">
                <a16:creationId xmlns:a16="http://schemas.microsoft.com/office/drawing/2014/main" id="{7622D75C-2D2D-49DE-BE3E-20F4C41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609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Structured exercise discovery, plans, muscle groups, and progression logic.</a:t>
            </a:r>
          </a:p>
        </p:txBody>
      </p:sp>
      <p:sp>
        <p:nvSpPr>
          <p:cNvPr id="11" name="module-technique">
            <a:extLst xmlns:a="http://schemas.openxmlformats.org/drawingml/2006/main">
              <a:ext uri="{FF2B5EF4-FFF2-40B4-BE49-F238E27FC236}">
                <a16:creationId xmlns:a16="http://schemas.microsoft.com/office/drawing/2014/main" id="{497C0FCD-286D-496A-B71F-4EE5DC0F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technique-intelligence">
            <a:extLst xmlns:a="http://schemas.openxmlformats.org/drawingml/2006/main">
              <a:ext uri="{FF2B5EF4-FFF2-40B4-BE49-F238E27FC236}">
                <a16:creationId xmlns:a16="http://schemas.microsoft.com/office/drawing/2014/main" id="{7FB182C6-3E56-4DB4-AC96-37CC9B2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609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Technique Intelligence</a:t>
            </a:r>
          </a:p>
        </p:txBody>
      </p:sp>
      <p:sp>
        <p:nvSpPr>
          <p:cNvPr id="13" name="exercise-form-education-targeted-muscles-and-">
            <a:extLst xmlns:a="http://schemas.openxmlformats.org/drawingml/2006/main">
              <a:ext uri="{FF2B5EF4-FFF2-40B4-BE49-F238E27FC236}">
                <a16:creationId xmlns:a16="http://schemas.microsoft.com/office/drawing/2014/main" id="{5C41DCC3-25C4-492A-9453-901185F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Exercise form education, targeted muscles, and future video guidance.</a:t>
            </a:r>
          </a:p>
        </p:txBody>
      </p:sp>
      <p:sp>
        <p:nvSpPr>
          <p:cNvPr id="14" name="module-nutrition">
            <a:extLst xmlns:a="http://schemas.openxmlformats.org/drawingml/2006/main">
              <a:ext uri="{FF2B5EF4-FFF2-40B4-BE49-F238E27FC236}">
                <a16:creationId xmlns:a16="http://schemas.microsoft.com/office/drawing/2014/main" id="{493FFD33-5964-4C6C-A239-DA006C0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nutrition-system">
            <a:extLst xmlns:a="http://schemas.openxmlformats.org/drawingml/2006/main">
              <a:ext uri="{FF2B5EF4-FFF2-40B4-BE49-F238E27FC236}">
                <a16:creationId xmlns:a16="http://schemas.microsoft.com/office/drawing/2014/main" id="{273B5763-64CA-4FCA-A357-8EF0958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Nutrition System</a:t>
            </a:r>
          </a:p>
        </p:txBody>
      </p:sp>
      <p:sp>
        <p:nvSpPr>
          <p:cNvPr id="16" name="macros-hydration-diet-suggestions-and-behavio">
            <a:extLst xmlns:a="http://schemas.openxmlformats.org/drawingml/2006/main">
              <a:ext uri="{FF2B5EF4-FFF2-40B4-BE49-F238E27FC236}">
                <a16:creationId xmlns:a16="http://schemas.microsoft.com/office/drawing/2014/main" id="{FB786CD1-15C0-49B6-95ED-F30D2AC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Macros, hydration, diet suggestions, and behavior-aware reminders.</a:t>
            </a:r>
          </a:p>
        </p:txBody>
      </p:sp>
      <p:sp>
        <p:nvSpPr>
          <p:cNvPr id="17" name="module-community">
            <a:extLst xmlns:a="http://schemas.openxmlformats.org/drawingml/2006/main">
              <a:ext uri="{FF2B5EF4-FFF2-40B4-BE49-F238E27FC236}">
                <a16:creationId xmlns:a16="http://schemas.microsoft.com/office/drawing/2014/main" id="{342C8005-3313-4F0B-8BE5-2E9A3A6D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community-system">
            <a:extLst xmlns:a="http://schemas.openxmlformats.org/drawingml/2006/main">
              <a:ext uri="{FF2B5EF4-FFF2-40B4-BE49-F238E27FC236}">
                <a16:creationId xmlns:a16="http://schemas.microsoft.com/office/drawing/2014/main" id="{D4ADC3E0-7EB5-4E6B-A132-C196136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Community System</a:t>
            </a:r>
          </a:p>
        </p:txBody>
      </p:sp>
      <p:sp>
        <p:nvSpPr>
          <p:cNvPr id="19" name="accountability-progress-sharing-social-motiva">
            <a:extLst xmlns:a="http://schemas.openxmlformats.org/drawingml/2006/main">
              <a:ext uri="{FF2B5EF4-FFF2-40B4-BE49-F238E27FC236}">
                <a16:creationId xmlns:a16="http://schemas.microsoft.com/office/drawing/2014/main" id="{F202A4DC-FBDE-40C6-A9BF-9798D790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Accountability, progress sharing, social motivation, and creator pathways.</a:t>
            </a:r>
          </a:p>
        </p:txBody>
      </p:sp>
      <p:sp>
        <p:nvSpPr>
          <p:cNvPr id="20" name="module-ai">
            <a:extLst xmlns:a="http://schemas.openxmlformats.org/drawingml/2006/main">
              <a:ext uri="{FF2B5EF4-FFF2-40B4-BE49-F238E27FC236}">
                <a16:creationId xmlns:a16="http://schemas.microsoft.com/office/drawing/2014/main" id="{155380C6-7188-43DD-AD2C-1E2FEA4E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41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80B0D"/>
          </a:solidFill>
        </p:spPr>
      </p:sp>
      <p:sp>
        <p:nvSpPr>
          <p:cNvPr id="21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98D56596-601D-4AAC-90CE-4876303C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2E3A"/>
                </a:solidFill>
              </a:defRPr>
            </a:pPr>
            <a:r>
              <a:rPr sz="240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22" name="memory-driven-coaching-that-adapts-across-exp">
            <a:extLst xmlns:a="http://schemas.openxmlformats.org/drawingml/2006/main">
              <a:ext uri="{FF2B5EF4-FFF2-40B4-BE49-F238E27FC236}">
                <a16:creationId xmlns:a16="http://schemas.microsoft.com/office/drawing/2014/main" id="{0F1CB32E-19B5-4052-8623-3131583F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Memory-driven coaching that adapts across expert and companion modes.</a:t>
            </a:r>
          </a:p>
        </p:txBody>
      </p:sp>
    </p:spTree>
    <p:extLst>
      <p:ext uri="{BB962C8B-B14F-4D97-AF65-F5344CB8AC3E}">
        <p14:creationId xmlns:p14="http://schemas.microsoft.com/office/powerpoint/2010/main" val="16113038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5FFC426-D757-48D9-884A-C1B4618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A1FF62A-72DD-48BD-B057-B5C90259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A8CE9C1-DD5E-4715-924B-8696C16E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9E17B2F7-422D-4042-A5BC-C69B897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FAF6F05-55FD-47D8-9034-DEAC2F88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5D6827-C211-4796-891D-E65732E6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190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coach that remembers context, not just a chatbot.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1983A4-D54F-436C-B326-63C2138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68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Dual-mode intelligence separates factual fitness guidance from warm companion support.</a:t>
            </a:r>
          </a:p>
        </p:txBody>
      </p:sp>
      <p:sp>
        <p:nvSpPr>
          <p:cNvPr id="8" name="node-0-user-signal">
            <a:extLst xmlns:a="http://schemas.openxmlformats.org/drawingml/2006/main">
              <a:ext uri="{FF2B5EF4-FFF2-40B4-BE49-F238E27FC236}">
                <a16:creationId xmlns:a16="http://schemas.microsoft.com/office/drawing/2014/main" id="{12245B4D-5B51-4C62-B62E-A4FA636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EB19A-2837-426C-9C3C-545B6CCD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User Signal</a:t>
            </a:r>
          </a:p>
        </p:txBody>
      </p:sp>
      <p:sp>
        <p:nvSpPr>
          <p:cNvPr id="10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966A7EFC-CC51-4349-A341-C47AF74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node-1-memory-layer">
            <a:extLst xmlns:a="http://schemas.openxmlformats.org/drawingml/2006/main">
              <a:ext uri="{FF2B5EF4-FFF2-40B4-BE49-F238E27FC236}">
                <a16:creationId xmlns:a16="http://schemas.microsoft.com/office/drawing/2014/main" id="{8DAC5D1C-704B-4824-81B3-E66B61B0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3941C-830D-401E-BF1C-F0C9E508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Memory Layer</a:t>
            </a:r>
          </a:p>
        </p:txBody>
      </p:sp>
      <p:sp>
        <p:nvSpPr>
          <p:cNvPr id="13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E4489EAF-3183-4793-B0C6-0FD7F96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4" name="node-2-ai-router">
            <a:extLst xmlns:a="http://schemas.openxmlformats.org/drawingml/2006/main">
              <a:ext uri="{FF2B5EF4-FFF2-40B4-BE49-F238E27FC236}">
                <a16:creationId xmlns:a16="http://schemas.microsoft.com/office/drawing/2014/main" id="{2194A988-9654-417C-9B74-605AAAE6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1B990-15A3-4459-B1E7-9F210B4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AI Router</a:t>
            </a:r>
          </a:p>
        </p:txBody>
      </p:sp>
      <p:sp>
        <p:nvSpPr>
          <p:cNvPr id="16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5ABBFF0D-6309-4E53-85E3-E57A55F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node-3-response-engine">
            <a:extLst xmlns:a="http://schemas.openxmlformats.org/drawingml/2006/main">
              <a:ext uri="{FF2B5EF4-FFF2-40B4-BE49-F238E27FC236}">
                <a16:creationId xmlns:a16="http://schemas.microsoft.com/office/drawing/2014/main" id="{D37A26D7-02E7-40DC-AE74-0C413A5C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035EA-E567-4CE3-85E7-9E9F9188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Response Engine</a:t>
            </a:r>
          </a:p>
        </p:txBody>
      </p:sp>
      <p:sp>
        <p:nvSpPr>
          <p:cNvPr id="19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42C47324-177D-4B53-9E88-20A379D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node-4-adaptive-action">
            <a:extLst xmlns:a="http://schemas.openxmlformats.org/drawingml/2006/main">
              <a:ext uri="{FF2B5EF4-FFF2-40B4-BE49-F238E27FC236}">
                <a16:creationId xmlns:a16="http://schemas.microsoft.com/office/drawing/2014/main" id="{40C90D3D-D9EA-418F-971B-E87372E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3FAEA-B4E5-49E6-ACC2-A6FD052E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Adaptive Action</a:t>
            </a:r>
          </a:p>
        </p:txBody>
      </p:sp>
    </p:spTree>
    <p:extLst>
      <p:ext uri="{BB962C8B-B14F-4D97-AF65-F5344CB8AC3E}">
        <p14:creationId xmlns:p14="http://schemas.microsoft.com/office/powerpoint/2010/main" val="9470260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E0F611E-7BA0-40CF-A705-063638B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136232B8-0A34-4425-B1B1-26B98F96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FE6DC60-E7AF-4BF0-97F1-DCC7D98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058AAA42-B074-4E20-B3F5-6540C6C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7D04690-250E-4F47-ACEF-7B00663E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WORKOUT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B0624D-60CC-428F-A7A8-3B9B46D9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From static exercises to adaptive progression.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254D84-46DC-4FAE-9276-8AA6015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172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can evolve from workout discovery into a behavior-aware training engine.</a:t>
            </a:r>
          </a:p>
        </p:txBody>
      </p:sp>
      <p:sp>
        <p:nvSpPr>
          <p:cNvPr id="8" name="muscle-map">
            <a:extLst xmlns:a="http://schemas.openxmlformats.org/drawingml/2006/main">
              <a:ext uri="{FF2B5EF4-FFF2-40B4-BE49-F238E27FC236}">
                <a16:creationId xmlns:a16="http://schemas.microsoft.com/office/drawing/2014/main" id="{76BD5E01-6002-4C5D-85BD-916BE17A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7700486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targeted-muscle-graph">
            <a:extLst xmlns:a="http://schemas.openxmlformats.org/drawingml/2006/main">
              <a:ext uri="{FF2B5EF4-FFF2-40B4-BE49-F238E27FC236}">
                <a16:creationId xmlns:a16="http://schemas.microsoft.com/office/drawing/2014/main" id="{9D4EE532-1585-4A1E-93EC-FF53AB3E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6934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2E3A"/>
                </a:solidFill>
              </a:defRPr>
            </a:pPr>
            <a:r>
              <a:rPr sz="2250" b="1" i="0">
                <a:solidFill>
                  <a:srgbClr val="FF2E3A"/>
                </a:solidFill>
              </a:rPr>
              <a:t>TARGETED MUSCLE GRAPH</a:t>
            </a:r>
          </a:p>
        </p:txBody>
      </p:sp>
      <p:sp>
        <p:nvSpPr>
          <p:cNvPr id="10" name="muscle-0">
            <a:extLst xmlns:a="http://schemas.openxmlformats.org/drawingml/2006/main">
              <a:ext uri="{FF2B5EF4-FFF2-40B4-BE49-F238E27FC236}">
                <a16:creationId xmlns:a16="http://schemas.microsoft.com/office/drawing/2014/main" id="{C4E1807C-79EA-4C3D-91B0-55A58B8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1" name="chest">
            <a:extLst xmlns:a="http://schemas.openxmlformats.org/drawingml/2006/main">
              <a:ext uri="{FF2B5EF4-FFF2-40B4-BE49-F238E27FC236}">
                <a16:creationId xmlns:a16="http://schemas.microsoft.com/office/drawing/2014/main" id="{AA9436BA-AA74-4333-8198-D5C81DA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Chest</a:t>
            </a:r>
          </a:p>
        </p:txBody>
      </p:sp>
      <p:sp>
        <p:nvSpPr>
          <p:cNvPr id="12" name="muscle-1">
            <a:extLst xmlns:a="http://schemas.openxmlformats.org/drawingml/2006/main">
              <a:ext uri="{FF2B5EF4-FFF2-40B4-BE49-F238E27FC236}">
                <a16:creationId xmlns:a16="http://schemas.microsoft.com/office/drawing/2014/main" id="{48C9C5E9-E5E1-48F7-B958-FA92222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3" name="back">
            <a:extLst xmlns:a="http://schemas.openxmlformats.org/drawingml/2006/main">
              <a:ext uri="{FF2B5EF4-FFF2-40B4-BE49-F238E27FC236}">
                <a16:creationId xmlns:a16="http://schemas.microsoft.com/office/drawing/2014/main" id="{FFF321D4-61C0-4D1C-9A2A-68568584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Back</a:t>
            </a:r>
          </a:p>
        </p:txBody>
      </p:sp>
      <p:sp>
        <p:nvSpPr>
          <p:cNvPr id="14" name="muscle-2">
            <a:extLst xmlns:a="http://schemas.openxmlformats.org/drawingml/2006/main">
              <a:ext uri="{FF2B5EF4-FFF2-40B4-BE49-F238E27FC236}">
                <a16:creationId xmlns:a16="http://schemas.microsoft.com/office/drawing/2014/main" id="{7F556FC9-8D31-4672-B5DD-D805C2D6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5" name="shoulders">
            <a:extLst xmlns:a="http://schemas.openxmlformats.org/drawingml/2006/main">
              <a:ext uri="{FF2B5EF4-FFF2-40B4-BE49-F238E27FC236}">
                <a16:creationId xmlns:a16="http://schemas.microsoft.com/office/drawing/2014/main" id="{5CC82B38-BB38-40F7-85C4-528D391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Shoulders</a:t>
            </a:r>
          </a:p>
        </p:txBody>
      </p:sp>
      <p:sp>
        <p:nvSpPr>
          <p:cNvPr id="16" name="muscle-3">
            <a:extLst xmlns:a="http://schemas.openxmlformats.org/drawingml/2006/main">
              <a:ext uri="{FF2B5EF4-FFF2-40B4-BE49-F238E27FC236}">
                <a16:creationId xmlns:a16="http://schemas.microsoft.com/office/drawing/2014/main" id="{C69315B7-72D4-4DA3-8882-436781C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legs">
            <a:extLst xmlns:a="http://schemas.openxmlformats.org/drawingml/2006/main">
              <a:ext uri="{FF2B5EF4-FFF2-40B4-BE49-F238E27FC236}">
                <a16:creationId xmlns:a16="http://schemas.microsoft.com/office/drawing/2014/main" id="{AF24C0ED-3AA1-456F-85A7-B7869D25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Legs</a:t>
            </a:r>
          </a:p>
        </p:txBody>
      </p:sp>
      <p:sp>
        <p:nvSpPr>
          <p:cNvPr id="18" name="muscle-4">
            <a:extLst xmlns:a="http://schemas.openxmlformats.org/drawingml/2006/main">
              <a:ext uri="{FF2B5EF4-FFF2-40B4-BE49-F238E27FC236}">
                <a16:creationId xmlns:a16="http://schemas.microsoft.com/office/drawing/2014/main" id="{F19972C5-B3B6-466F-97EE-F46C215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9" name="arms">
            <a:extLst xmlns:a="http://schemas.openxmlformats.org/drawingml/2006/main">
              <a:ext uri="{FF2B5EF4-FFF2-40B4-BE49-F238E27FC236}">
                <a16:creationId xmlns:a16="http://schemas.microsoft.com/office/drawing/2014/main" id="{864BB4EF-EDE1-41F5-9FDD-B00BD4BF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Arms</a:t>
            </a:r>
          </a:p>
        </p:txBody>
      </p:sp>
      <p:sp>
        <p:nvSpPr>
          <p:cNvPr id="20" name="muscle-5">
            <a:extLst xmlns:a="http://schemas.openxmlformats.org/drawingml/2006/main">
              <a:ext uri="{FF2B5EF4-FFF2-40B4-BE49-F238E27FC236}">
                <a16:creationId xmlns:a16="http://schemas.microsoft.com/office/drawing/2014/main" id="{B0FEF0A4-B7C6-4DC1-BA21-5CBF630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1" name="core">
            <a:extLst xmlns:a="http://schemas.openxmlformats.org/drawingml/2006/main">
              <a:ext uri="{FF2B5EF4-FFF2-40B4-BE49-F238E27FC236}">
                <a16:creationId xmlns:a16="http://schemas.microsoft.com/office/drawing/2014/main" id="{1498651D-83A7-46F7-9254-56B0E51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Core</a:t>
            </a:r>
          </a:p>
        </p:txBody>
      </p:sp>
      <p:sp>
        <p:nvSpPr>
          <p:cNvPr id="22" name="exercise-selection-muscle-targeting-volume-tr">
            <a:extLst xmlns:a="http://schemas.openxmlformats.org/drawingml/2006/main">
              <a:ext uri="{FF2B5EF4-FFF2-40B4-BE49-F238E27FC236}">
                <a16:creationId xmlns:a16="http://schemas.microsoft.com/office/drawing/2014/main" id="{7E747D86-9B88-4CB0-B4FA-64411F6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829550"/>
            <a:ext cx="662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Exercise selection → muscle targeting → volume tracking → progressive overload</a:t>
            </a:r>
          </a:p>
        </p:txBody>
      </p:sp>
      <p:sp>
        <p:nvSpPr>
          <p:cNvPr id="23" name="workout-feature-1">
            <a:extLst xmlns:a="http://schemas.openxmlformats.org/drawingml/2006/main">
              <a:ext uri="{FF2B5EF4-FFF2-40B4-BE49-F238E27FC236}">
                <a16:creationId xmlns:a16="http://schemas.microsoft.com/office/drawing/2014/main" id="{A16E1F91-2BF5-46A5-BAA2-359502C9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8046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200C5FDF-E7C6-4CD3-9C21-516D849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4C71B548-6478-4045-A280-D31FA2F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Targeted muscle selection</a:t>
            </a:r>
          </a:p>
        </p:txBody>
      </p:sp>
      <p:sp>
        <p:nvSpPr>
          <p:cNvPr id="2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0A014BB-D447-432A-BBE6-A5B88CF0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906D15C3-5808-4378-B5CF-74CE5728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Exercise recommendations by goal</a:t>
            </a:r>
          </a:p>
        </p:txBody>
      </p:sp>
      <p:sp>
        <p:nvSpPr>
          <p:cNvPr id="2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DFDC683-9477-4581-BB5E-89640AA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CB635BD3-1105-4231-93D5-476E5C00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Beginner-to-advanced plan logic</a:t>
            </a:r>
          </a:p>
        </p:txBody>
      </p:sp>
      <p:sp>
        <p:nvSpPr>
          <p:cNvPr id="30" name="workout-feature-2">
            <a:extLst xmlns:a="http://schemas.openxmlformats.org/drawingml/2006/main">
              <a:ext uri="{FF2B5EF4-FFF2-40B4-BE49-F238E27FC236}">
                <a16:creationId xmlns:a16="http://schemas.microsoft.com/office/drawing/2014/main" id="{00B9F5E5-B6EA-4805-9D5C-EECE73D8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564261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EE46847-BCB5-49ED-9F93-352A0AF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8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0D5865C6-7849-4ED9-A453-408F5A44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Progressive overload recommendations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252A2C6-EC53-4719-97CB-5C6A4D6E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5303F376-E539-4501-B19E-384132A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436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Missed-session recovery planning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5EB5B04-FBE9-4D09-BA67-A8B9986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9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02D51B16-5F82-438D-9FF2-7C9D2C40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00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Future form correction with video AI</a:t>
            </a:r>
          </a:p>
        </p:txBody>
      </p:sp>
      <p:sp>
        <p:nvSpPr>
          <p:cNvPr id="37" name="workout-feature-3">
            <a:extLst xmlns:a="http://schemas.openxmlformats.org/drawingml/2006/main">
              <a:ext uri="{FF2B5EF4-FFF2-40B4-BE49-F238E27FC236}">
                <a16:creationId xmlns:a16="http://schemas.microsoft.com/office/drawing/2014/main" id="{64CD23A5-0298-4E53-B7C2-A28EEC16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7604760"/>
            <a:ext cx="8511064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38" name="future-direction-ai-generated-weekly-programs">
            <a:extLst xmlns:a="http://schemas.openxmlformats.org/drawingml/2006/main">
              <a:ext uri="{FF2B5EF4-FFF2-40B4-BE49-F238E27FC236}">
                <a16:creationId xmlns:a16="http://schemas.microsoft.com/office/drawing/2014/main" id="{1734302D-9FC9-41CB-B83E-1FBCA50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848600"/>
            <a:ext cx="794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8F5EF"/>
                </a:solidFill>
              </a:defRPr>
            </a:pPr>
            <a:r>
              <a:rPr sz="1875" b="1" i="0">
                <a:solidFill>
                  <a:srgbClr val="F8F5EF"/>
                </a:solidFill>
              </a:rPr>
              <a:t>Future direction: AI-generated weekly programs adapt to adherence, sleep, soreness, equipment, and body-composition goals.</a:t>
            </a:r>
          </a:p>
        </p:txBody>
      </p:sp>
    </p:spTree>
    <p:extLst>
      <p:ext uri="{BB962C8B-B14F-4D97-AF65-F5344CB8AC3E}">
        <p14:creationId xmlns:p14="http://schemas.microsoft.com/office/powerpoint/2010/main" val="6055388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B921749-9BF1-45E8-BBA6-FE582E1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88A9E024-47C0-415B-99D4-5A2A74DF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E0144A3-BC2D-4D96-8250-279A6D8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3515D5C5-C549-4122-B9BA-84C00AF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047C0A6-6B8E-48BA-8015-DE8E85E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47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NUTRITION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12C58E-FD30-4A22-ABBC-3BEAFE0F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668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Food guidance that adapts to goals and habits.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63F8A0-CA83-4145-A4A2-E242F9F1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system turns daily nutrition signals into small, actionable coaching moments.</a:t>
            </a:r>
          </a:p>
        </p:txBody>
      </p:sp>
      <p:sp>
        <p:nvSpPr>
          <p:cNvPr id="8" name="nutrition-macros">
            <a:extLst xmlns:a="http://schemas.openxmlformats.org/drawingml/2006/main">
              <a:ext uri="{FF2B5EF4-FFF2-40B4-BE49-F238E27FC236}">
                <a16:creationId xmlns:a16="http://schemas.microsoft.com/office/drawing/2014/main" id="{DE02868B-E0E1-444D-A6CF-3075A8A3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5010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120g">
            <a:extLst xmlns:a="http://schemas.openxmlformats.org/drawingml/2006/main">
              <a:ext uri="{FF2B5EF4-FFF2-40B4-BE49-F238E27FC236}">
                <a16:creationId xmlns:a16="http://schemas.microsoft.com/office/drawing/2014/main" id="{95F3BA1C-41F0-4807-A141-BEE32F64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18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120g</a:t>
            </a:r>
          </a:p>
        </p:txBody>
      </p:sp>
      <p:sp>
        <p:nvSpPr>
          <p:cNvPr id="10" name="protein-target">
            <a:extLst xmlns:a="http://schemas.openxmlformats.org/drawingml/2006/main">
              <a:ext uri="{FF2B5EF4-FFF2-40B4-BE49-F238E27FC236}">
                <a16:creationId xmlns:a16="http://schemas.microsoft.com/office/drawing/2014/main" id="{608DBFA6-954B-426F-9AB3-617B05C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20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protein target</a:t>
            </a:r>
          </a:p>
        </p:txBody>
      </p:sp>
      <p:sp>
        <p:nvSpPr>
          <p:cNvPr id="11" name="example-muscle-gain-target">
            <a:extLst xmlns:a="http://schemas.openxmlformats.org/drawingml/2006/main">
              <a:ext uri="{FF2B5EF4-FFF2-40B4-BE49-F238E27FC236}">
                <a16:creationId xmlns:a16="http://schemas.microsoft.com/office/drawing/2014/main" id="{E823E808-1C9E-4366-B9D3-4D12A6E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Example muscle-gain target</a:t>
            </a:r>
          </a:p>
        </p:txBody>
      </p:sp>
      <p:sp>
        <p:nvSpPr>
          <p:cNvPr id="12" name="3l">
            <a:extLst xmlns:a="http://schemas.openxmlformats.org/drawingml/2006/main">
              <a:ext uri="{FF2B5EF4-FFF2-40B4-BE49-F238E27FC236}">
                <a16:creationId xmlns:a16="http://schemas.microsoft.com/office/drawing/2014/main" id="{D39CDEC7-9FA0-4B22-B8C1-7445EA73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55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3L</a:t>
            </a:r>
          </a:p>
        </p:txBody>
      </p:sp>
      <p:sp>
        <p:nvSpPr>
          <p:cNvPr id="13" name="water-target">
            <a:extLst xmlns:a="http://schemas.openxmlformats.org/drawingml/2006/main">
              <a:ext uri="{FF2B5EF4-FFF2-40B4-BE49-F238E27FC236}">
                <a16:creationId xmlns:a16="http://schemas.microsoft.com/office/drawing/2014/main" id="{1D5D7AE4-BE77-4B61-B5F1-85BA742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1066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water target</a:t>
            </a:r>
          </a:p>
        </p:txBody>
      </p:sp>
      <p:sp>
        <p:nvSpPr>
          <p:cNvPr id="14" name="hydration-habit-loop">
            <a:extLst xmlns:a="http://schemas.openxmlformats.org/drawingml/2006/main">
              <a:ext uri="{FF2B5EF4-FFF2-40B4-BE49-F238E27FC236}">
                <a16:creationId xmlns:a16="http://schemas.microsoft.com/office/drawing/2014/main" id="{5A2EE763-2B87-4C3A-A3E6-47C40CD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95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Hydration habit loop</a:t>
            </a:r>
          </a:p>
        </p:txBody>
      </p:sp>
      <p:sp>
        <p:nvSpPr>
          <p:cNvPr id="15" name="4x">
            <a:extLst xmlns:a="http://schemas.openxmlformats.org/drawingml/2006/main">
              <a:ext uri="{FF2B5EF4-FFF2-40B4-BE49-F238E27FC236}">
                <a16:creationId xmlns:a16="http://schemas.microsoft.com/office/drawing/2014/main" id="{DC8F1EBD-832F-41E1-B16B-4922F39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571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4x</a:t>
            </a:r>
          </a:p>
        </p:txBody>
      </p:sp>
      <p:sp>
        <p:nvSpPr>
          <p:cNvPr id="16" name="meal-timing">
            <a:extLst xmlns:a="http://schemas.openxmlformats.org/drawingml/2006/main">
              <a:ext uri="{FF2B5EF4-FFF2-40B4-BE49-F238E27FC236}">
                <a16:creationId xmlns:a16="http://schemas.microsoft.com/office/drawing/2014/main" id="{F1C00B55-CEDF-44D9-B8CD-B6864EE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meal timing</a:t>
            </a:r>
          </a:p>
        </p:txBody>
      </p:sp>
      <p:sp>
        <p:nvSpPr>
          <p:cNvPr id="17" name="practical-daily-structure">
            <a:extLst xmlns:a="http://schemas.openxmlformats.org/drawingml/2006/main">
              <a:ext uri="{FF2B5EF4-FFF2-40B4-BE49-F238E27FC236}">
                <a16:creationId xmlns:a16="http://schemas.microsoft.com/office/drawing/2014/main" id="{631055E6-3D48-4413-AAE8-E5C1819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Practical daily structure</a:t>
            </a:r>
          </a:p>
        </p:txBody>
      </p:sp>
      <p:sp>
        <p:nvSpPr>
          <p:cNvPr id="18" name="nutrition-bullets">
            <a:extLst xmlns:a="http://schemas.openxmlformats.org/drawingml/2006/main">
              <a:ext uri="{FF2B5EF4-FFF2-40B4-BE49-F238E27FC236}">
                <a16:creationId xmlns:a16="http://schemas.microsoft.com/office/drawing/2014/main" id="{8CA563D3-6178-4B37-ABDF-757B1FD9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2160"/>
            <a:ext cx="8501063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A3A5089-5552-422D-8BF0-31BE2F7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2448F447-29E1-4539-8AF7-6B45B29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Goal-specific diet generation</a:t>
            </a:r>
          </a:p>
        </p:txBody>
      </p:sp>
      <p:sp>
        <p:nvSpPr>
          <p:cNvPr id="2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086DA88-36D6-407F-BF8E-B8516C6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8E1D594D-92CA-4AA0-8F33-E272193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53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Macro and hydration tracking</a:t>
            </a:r>
          </a:p>
        </p:txBody>
      </p:sp>
      <p:sp>
        <p:nvSpPr>
          <p:cNvPr id="2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C023DD8-3C90-4CF0-BCEC-09E7E01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72245BFD-300C-43AF-89C5-FBA60CE6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10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gap reminders</a:t>
            </a:r>
          </a:p>
        </p:txBody>
      </p:sp>
      <p:sp>
        <p:nvSpPr>
          <p:cNvPr id="2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C0B46D2-AE3A-4A20-8DB5-9A8BE52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6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6" name="bullet-3">
            <a:extLst xmlns:a="http://schemas.openxmlformats.org/drawingml/2006/main">
              <a:ext uri="{FF2B5EF4-FFF2-40B4-BE49-F238E27FC236}">
                <a16:creationId xmlns:a16="http://schemas.microsoft.com/office/drawing/2014/main" id="{91B04450-F3F9-4192-9C4C-663EEA25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676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Context-aware meal suggestions</a:t>
            </a:r>
          </a:p>
        </p:txBody>
      </p:sp>
      <p:sp>
        <p:nvSpPr>
          <p:cNvPr id="27" name="nutrition-note">
            <a:extLst xmlns:a="http://schemas.openxmlformats.org/drawingml/2006/main">
              <a:ext uri="{FF2B5EF4-FFF2-40B4-BE49-F238E27FC236}">
                <a16:creationId xmlns:a16="http://schemas.microsoft.com/office/drawing/2014/main" id="{828B5786-9F29-4EA0-BA87-77F85FD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57235"/>
            <a:ext cx="8501063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018"/>
          </a:solidFill>
        </p:spPr>
      </p:sp>
      <p:sp>
        <p:nvSpPr>
          <p:cNvPr id="28" name="the-ai-converts-health-data-into-one-next-bes">
            <a:extLst xmlns:a="http://schemas.openxmlformats.org/drawingml/2006/main">
              <a:ext uri="{FF2B5EF4-FFF2-40B4-BE49-F238E27FC236}">
                <a16:creationId xmlns:a16="http://schemas.microsoft.com/office/drawing/2014/main" id="{A1D0F84B-D78A-43E2-9C64-A9DAAEE8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1060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The AI converts health data into one next best action.</a:t>
            </a:r>
          </a:p>
        </p:txBody>
      </p:sp>
      <p:sp>
        <p:nvSpPr>
          <p:cNvPr id="29" name="nutrition-flow">
            <a:extLst xmlns:a="http://schemas.openxmlformats.org/drawingml/2006/main">
              <a:ext uri="{FF2B5EF4-FFF2-40B4-BE49-F238E27FC236}">
                <a16:creationId xmlns:a16="http://schemas.microsoft.com/office/drawing/2014/main" id="{46F5B814-E4B2-44AE-ABF2-749E843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3680460"/>
            <a:ext cx="7691438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0" name="input-signals">
            <a:extLst xmlns:a="http://schemas.openxmlformats.org/drawingml/2006/main">
              <a:ext uri="{FF2B5EF4-FFF2-40B4-BE49-F238E27FC236}">
                <a16:creationId xmlns:a16="http://schemas.microsoft.com/office/drawing/2014/main" id="{6AE7FE74-039C-4975-AC16-35C02BF7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Input signals</a:t>
            </a:r>
          </a:p>
        </p:txBody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BE3D9BE-3E69-4648-9249-B8452B2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40E53CE3-8F21-4CF5-B55E-86C0552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Goal: muscle gain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2B11487-5033-4700-92FB-53C84AF7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22385587-6108-4721-BDDE-EE9CAB7A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578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Weight: 82kg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74A3EA4-6716-45CA-97C2-F4748FF7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7D43C191-CCF1-4414-8A8B-335D79C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today: 60g</a:t>
            </a:r>
          </a:p>
        </p:txBody>
      </p:sp>
      <p:sp>
        <p:nvSpPr>
          <p:cNvPr id="37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8592990D-A896-4AC9-9A6B-1C8F17A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8" name="bullet-3">
            <a:extLst xmlns:a="http://schemas.openxmlformats.org/drawingml/2006/main">
              <a:ext uri="{FF2B5EF4-FFF2-40B4-BE49-F238E27FC236}">
                <a16:creationId xmlns:a16="http://schemas.microsoft.com/office/drawing/2014/main" id="{60911AA5-299F-4CC2-AE09-054F44A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722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Water today: 1.2L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40642C-C488-49D8-9C36-A6EA415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124700"/>
            <a:ext cx="689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31"/>
          </a:solidFill>
          <a:ln xmlns:a="http://schemas.openxmlformats.org/drawingml/2006/main" w="0">
            <a:solidFill>
              <a:srgbClr val="2B2B31"/>
            </a:solidFill>
            <a:prstDash val="solid"/>
          </a:ln>
        </p:spPr>
      </p:sp>
      <p:sp>
        <p:nvSpPr>
          <p:cNvPr id="40" name="ai-output">
            <a:extLst xmlns:a="http://schemas.openxmlformats.org/drawingml/2006/main">
              <a:ext uri="{FF2B5EF4-FFF2-40B4-BE49-F238E27FC236}">
                <a16:creationId xmlns:a16="http://schemas.microsoft.com/office/drawing/2014/main" id="{B8EDB3F6-5E88-4CF9-816A-8F2A48C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41045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AI output</a:t>
            </a:r>
          </a:p>
        </p:txBody>
      </p:sp>
      <p:sp>
        <p:nvSpPr>
          <p:cNvPr id="41" name="you-are-behind-on-protein-and-hydration-today">
            <a:extLst xmlns:a="http://schemas.openxmlformats.org/drawingml/2006/main">
              <a:ext uri="{FF2B5EF4-FFF2-40B4-BE49-F238E27FC236}">
                <a16:creationId xmlns:a16="http://schemas.microsoft.com/office/drawing/2014/main" id="{26C9A7FB-3F1D-400A-B94C-14B63273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0"/>
            <a:ext cx="6896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You are behind on protein and hydration today. Add one high-protein meal and 800ml water before dinner.</a:t>
            </a:r>
          </a:p>
        </p:txBody>
      </p:sp>
    </p:spTree>
    <p:extLst>
      <p:ext uri="{BB962C8B-B14F-4D97-AF65-F5344CB8AC3E}">
        <p14:creationId xmlns:p14="http://schemas.microsoft.com/office/powerpoint/2010/main" val="16225505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9C1FD52-7079-4282-96DD-5D610E5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65B09A9-8310-4E28-9C78-9C6D266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D09A166-BE06-43C7-89E6-B21FC85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8E4BEDB8-B79D-4539-A608-21ED2F11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32E01C2B-7B05-4D34-96C0-BABA33A2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COMMUNITY + SOCIAL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94C1C3-722A-4356-A261-4FB42223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Accountability is a product feature.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7620A7-7AA9-4954-A659-C349051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People continue when they feel seen, challenged, and supported.</a:t>
            </a:r>
          </a:p>
        </p:txBody>
      </p:sp>
      <p:sp>
        <p:nvSpPr>
          <p:cNvPr id="8" name="community-left">
            <a:extLst xmlns:a="http://schemas.openxmlformats.org/drawingml/2006/main">
              <a:ext uri="{FF2B5EF4-FFF2-40B4-BE49-F238E27FC236}">
                <a16:creationId xmlns:a16="http://schemas.microsoft.com/office/drawing/2014/main" id="{D692D034-0D08-49DF-BABA-58125F55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8096250" cy="6888480"/>
          </a:xfrm>
          <a:prstGeom xmlns:a="http://schemas.openxmlformats.org/drawingml/2006/main" prst="roundRect">
            <a:avLst>
              <a:gd name="adj" fmla="val 1659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74C55533-43B1-47F6-BB5A-8BAD9467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752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8F5EF"/>
                </a:solidFill>
              </a:defRPr>
            </a:pPr>
            <a:r>
              <a:rPr sz="39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10" name="node-0-post">
            <a:extLst xmlns:a="http://schemas.openxmlformats.org/drawingml/2006/main">
              <a:ext uri="{FF2B5EF4-FFF2-40B4-BE49-F238E27FC236}">
                <a16:creationId xmlns:a16="http://schemas.microsoft.com/office/drawing/2014/main" id="{E2597F08-7F12-4169-ABDD-3C3A820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6F1CC-6D7A-4949-93DB-00E84AA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Post</a:t>
            </a:r>
          </a:p>
        </p:txBody>
      </p:sp>
      <p:sp>
        <p:nvSpPr>
          <p:cNvPr id="12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16555BD4-60B2-4C1C-A27A-A9024FD7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node-1-reaction">
            <a:extLst xmlns:a="http://schemas.openxmlformats.org/drawingml/2006/main">
              <a:ext uri="{FF2B5EF4-FFF2-40B4-BE49-F238E27FC236}">
                <a16:creationId xmlns:a16="http://schemas.microsoft.com/office/drawing/2014/main" id="{414285D8-35B5-433D-8575-E19636E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7E5A1-5CDF-4CF6-8742-87325F2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Reaction</a:t>
            </a:r>
          </a:p>
        </p:txBody>
      </p:sp>
      <p:sp>
        <p:nvSpPr>
          <p:cNvPr id="15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4956AFCE-93B4-48D9-8795-4156962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6" name="node-2-challenge">
            <a:extLst xmlns:a="http://schemas.openxmlformats.org/drawingml/2006/main">
              <a:ext uri="{FF2B5EF4-FFF2-40B4-BE49-F238E27FC236}">
                <a16:creationId xmlns:a16="http://schemas.microsoft.com/office/drawing/2014/main" id="{C43B43C5-7BB6-458A-A109-FDE96213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41350-CC4B-4C85-9E75-4A0ECD7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Challenge</a:t>
            </a:r>
          </a:p>
        </p:txBody>
      </p:sp>
      <p:sp>
        <p:nvSpPr>
          <p:cNvPr id="18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A7975DBC-963A-48C9-8436-B5D1231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node-3-progress">
            <a:extLst xmlns:a="http://schemas.openxmlformats.org/drawingml/2006/main">
              <a:ext uri="{FF2B5EF4-FFF2-40B4-BE49-F238E27FC236}">
                <a16:creationId xmlns:a16="http://schemas.microsoft.com/office/drawing/2014/main" id="{E274F5D8-A10A-477A-84BE-DC7C3080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9E4B-608C-4502-A93D-A6A91097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Progress</a:t>
            </a:r>
          </a:p>
        </p:txBody>
      </p:sp>
      <p:sp>
        <p:nvSpPr>
          <p:cNvPr id="21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1D4289E7-A615-4E5C-8548-BA58E15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node-4-retention">
            <a:extLst xmlns:a="http://schemas.openxmlformats.org/drawingml/2006/main">
              <a:ext uri="{FF2B5EF4-FFF2-40B4-BE49-F238E27FC236}">
                <a16:creationId xmlns:a16="http://schemas.microsoft.com/office/drawing/2014/main" id="{E37E2498-3851-4BEF-ADD9-41686BF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B9C29-C77C-4C87-9B40-C39F4CA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Retention</a:t>
            </a:r>
          </a:p>
        </p:txBody>
      </p:sp>
      <p:sp>
        <p:nvSpPr>
          <p:cNvPr id="24" name="future-creator-layer-trainers-students-athlet">
            <a:extLst xmlns:a="http://schemas.openxmlformats.org/drawingml/2006/main">
              <a:ext uri="{FF2B5EF4-FFF2-40B4-BE49-F238E27FC236}">
                <a16:creationId xmlns:a16="http://schemas.microsoft.com/office/drawing/2014/main" id="{698E087B-CFCD-4A03-890C-31A6A18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34200"/>
            <a:ext cx="7524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8C2B8"/>
                </a:solidFill>
              </a:defRPr>
            </a:pPr>
            <a:r>
              <a:rPr sz="2025" b="0" i="0">
                <a:solidFill>
                  <a:srgbClr val="C8C2B8"/>
                </a:solidFill>
              </a:rPr>
              <a:t>Future creator layer: trainers, students, athletes, and local gyms can publish challenges, plans, and transformation journeys.</a:t>
            </a:r>
          </a:p>
        </p:txBody>
      </p:sp>
      <p:sp>
        <p:nvSpPr>
          <p:cNvPr id="25" name="community-1">
            <a:extLst xmlns:a="http://schemas.openxmlformats.org/drawingml/2006/main">
              <a:ext uri="{FF2B5EF4-FFF2-40B4-BE49-F238E27FC236}">
                <a16:creationId xmlns:a16="http://schemas.microsoft.com/office/drawing/2014/main" id="{CC1C15D3-893D-4A17-B836-67B89589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317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1F356C5-057C-4B59-A849-DA9B24D6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EE4D1311-DFE2-4B3B-AA1B-DB52BD7E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71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 sharing</a:t>
            </a:r>
          </a:p>
        </p:txBody>
      </p:sp>
      <p:sp>
        <p:nvSpPr>
          <p:cNvPr id="2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555BCC3-3074-4828-8A8B-418709BE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1">
            <a:extLst xmlns:a="http://schemas.openxmlformats.org/drawingml/2006/main">
              <a:ext uri="{FF2B5EF4-FFF2-40B4-BE49-F238E27FC236}">
                <a16:creationId xmlns:a16="http://schemas.microsoft.com/office/drawing/2014/main" id="{16D5F6AC-4E47-455B-82E0-06062E04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Live accountability posts</a:t>
            </a:r>
          </a:p>
        </p:txBody>
      </p:sp>
      <p:sp>
        <p:nvSpPr>
          <p:cNvPr id="3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5FE5585-4F42-4D03-B00E-907416B5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2">
            <a:extLst xmlns:a="http://schemas.openxmlformats.org/drawingml/2006/main">
              <a:ext uri="{FF2B5EF4-FFF2-40B4-BE49-F238E27FC236}">
                <a16:creationId xmlns:a16="http://schemas.microsoft.com/office/drawing/2014/main" id="{9BCF4789-C649-4FE5-80A4-68F1377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AI-assisted encouragement</a:t>
            </a:r>
          </a:p>
        </p:txBody>
      </p:sp>
      <p:sp>
        <p:nvSpPr>
          <p:cNvPr id="3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3641E94-9701-4555-B3B7-6B80A61C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3">
            <a:extLst xmlns:a="http://schemas.openxmlformats.org/drawingml/2006/main">
              <a:ext uri="{FF2B5EF4-FFF2-40B4-BE49-F238E27FC236}">
                <a16:creationId xmlns:a16="http://schemas.microsoft.com/office/drawing/2014/main" id="{1DCAC3E7-0F08-475C-B6CB-00D9AE4A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43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Group challenges</a:t>
            </a:r>
          </a:p>
        </p:txBody>
      </p:sp>
      <p:sp>
        <p:nvSpPr>
          <p:cNvPr id="34" name="community-2">
            <a:extLst xmlns:a="http://schemas.openxmlformats.org/drawingml/2006/main">
              <a:ext uri="{FF2B5EF4-FFF2-40B4-BE49-F238E27FC236}">
                <a16:creationId xmlns:a16="http://schemas.microsoft.com/office/drawing/2014/main" id="{76B8BD6F-0700-4702-92D8-655FF7B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463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F90246A-6672-471C-A74E-F62233A3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AD7EA3CA-8056-44B3-9E45-3F165D7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86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College fitness clubs</a:t>
            </a:r>
          </a:p>
        </p:txBody>
      </p:sp>
      <p:sp>
        <p:nvSpPr>
          <p:cNvPr id="3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1C6131D-2C73-403C-86B8-564784F5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83B7774A-4387-4B78-8A45-0397BBD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9436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 partnerships</a:t>
            </a:r>
          </a:p>
        </p:txBody>
      </p:sp>
      <p:sp>
        <p:nvSpPr>
          <p:cNvPr id="3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850C0F7-B301-4D7B-BAEE-133EBBB5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DA2E7DBF-638D-4261-B131-011061A9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00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Creator-led programs</a:t>
            </a:r>
          </a:p>
        </p:txBody>
      </p:sp>
      <p:sp>
        <p:nvSpPr>
          <p:cNvPr id="41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62D0E8B0-5AA9-4A86-B596-DCF30AFF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F24222EE-7671-4C12-816C-1D98A087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58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Regional health communities</a:t>
            </a:r>
          </a:p>
        </p:txBody>
      </p:sp>
      <p:sp>
        <p:nvSpPr>
          <p:cNvPr id="43" name="community-3">
            <a:extLst xmlns:a="http://schemas.openxmlformats.org/drawingml/2006/main">
              <a:ext uri="{FF2B5EF4-FFF2-40B4-BE49-F238E27FC236}">
                <a16:creationId xmlns:a16="http://schemas.microsoft.com/office/drawing/2014/main" id="{5C47AA03-0DBE-4088-B062-095BA54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760970"/>
            <a:ext cx="8096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44" name="social-proof-can-become-the-growth-engine-use">
            <a:extLst xmlns:a="http://schemas.openxmlformats.org/drawingml/2006/main">
              <a:ext uri="{FF2B5EF4-FFF2-40B4-BE49-F238E27FC236}">
                <a16:creationId xmlns:a16="http://schemas.microsoft.com/office/drawing/2014/main" id="{E23F82C6-FBAE-4FFA-B4F7-247BA3C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00100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5EF"/>
                </a:solidFill>
              </a:defRPr>
            </a:pPr>
            <a:r>
              <a:rPr sz="2325" b="1" i="0">
                <a:solidFill>
                  <a:srgbClr val="F8F5EF"/>
                </a:solidFill>
              </a:rPr>
              <a:t>Social proof can become the growth engine: users invite friends because consistency is easier together.</a:t>
            </a:r>
          </a:p>
        </p:txBody>
      </p:sp>
    </p:spTree>
    <p:extLst>
      <p:ext uri="{BB962C8B-B14F-4D97-AF65-F5344CB8AC3E}">
        <p14:creationId xmlns:p14="http://schemas.microsoft.com/office/powerpoint/2010/main" val="2955644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7B06063-2A47-4D04-AE9B-8967A2D7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0F35402-FBCE-488C-84C4-5AA31E9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6870FFD-2DE7-4E0D-A3FE-BF158BE3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FC1A9CC7-2E68-434D-B699-8655BB8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C64C2777-624B-4B7D-8F37-4BA7C26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TECH STACK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60D015-D5C2-46E1-9CBB-C762F52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1539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Built like a scalable SaaS, evolving into an AI research platform.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F218F3-3E8A-40EE-99A9-A4E03DB0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24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current architecture separates product, backend services, AI memory, and future model development.</a:t>
            </a:r>
          </a:p>
        </p:txBody>
      </p:sp>
      <p:sp>
        <p:nvSpPr>
          <p:cNvPr id="8" name="tech-front">
            <a:extLst xmlns:a="http://schemas.openxmlformats.org/drawingml/2006/main">
              <a:ext uri="{FF2B5EF4-FFF2-40B4-BE49-F238E27FC236}">
                <a16:creationId xmlns:a16="http://schemas.microsoft.com/office/drawing/2014/main" id="{EEC7B6E5-C606-49F9-961F-5B9BFFD7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ontend">
            <a:extLst xmlns:a="http://schemas.openxmlformats.org/drawingml/2006/main">
              <a:ext uri="{FF2B5EF4-FFF2-40B4-BE49-F238E27FC236}">
                <a16:creationId xmlns:a16="http://schemas.microsoft.com/office/drawing/2014/main" id="{EAFF7BE5-301B-4D12-97A2-FD43EBC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Frontend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0E73D45-AB2F-429D-B570-C7F36F8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A15E17DB-C499-492A-9571-AED69B2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React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A515FE8-12C1-42DE-8211-4664A6CF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EFCEC4D7-4B7F-40B7-A93D-60F5D895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Framer Motion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4B9919F-F381-4BD5-9C28-465C984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7FAEBCF8-4F4F-4610-94CF-B615C1C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Styled Components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D178433-69B6-48A6-B1C4-BA72F388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7316DF75-CE15-419C-AFDF-EA2FFE21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Lenis smooth scroll</a:t>
            </a:r>
          </a:p>
        </p:txBody>
      </p:sp>
      <p:sp>
        <p:nvSpPr>
          <p:cNvPr id="18" name="tech-back">
            <a:extLst xmlns:a="http://schemas.openxmlformats.org/drawingml/2006/main">
              <a:ext uri="{FF2B5EF4-FFF2-40B4-BE49-F238E27FC236}">
                <a16:creationId xmlns:a16="http://schemas.microsoft.com/office/drawing/2014/main" id="{60F84340-6F3B-4C13-BCFC-F21E354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ackend">
            <a:extLst xmlns:a="http://schemas.openxmlformats.org/drawingml/2006/main">
              <a:ext uri="{FF2B5EF4-FFF2-40B4-BE49-F238E27FC236}">
                <a16:creationId xmlns:a16="http://schemas.microsoft.com/office/drawing/2014/main" id="{1C029CD0-0C69-4E9A-8487-48500E46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Backend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CE6B3EB-9695-455E-9530-47902E67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5141B9F4-398E-4F0B-8462-DD168A3A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Node.js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631B458-60A1-486C-BDFE-B58B69E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DBFC62FA-9B6A-430F-A006-52FB02E3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Express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6603874-E01B-4D95-B7F9-8224360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721C02DB-7A47-41EB-9246-64C9BB2F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JWT auth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09D74BA-2B4C-4A61-90CD-859A24E8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3">
            <a:extLst xmlns:a="http://schemas.openxmlformats.org/drawingml/2006/main">
              <a:ext uri="{FF2B5EF4-FFF2-40B4-BE49-F238E27FC236}">
                <a16:creationId xmlns:a16="http://schemas.microsoft.com/office/drawing/2014/main" id="{A92206C6-315D-47C6-9A39-2E77A95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API v1 routes</a:t>
            </a:r>
          </a:p>
        </p:txBody>
      </p:sp>
      <p:sp>
        <p:nvSpPr>
          <p:cNvPr id="28" name="tech-ai">
            <a:extLst xmlns:a="http://schemas.openxmlformats.org/drawingml/2006/main">
              <a:ext uri="{FF2B5EF4-FFF2-40B4-BE49-F238E27FC236}">
                <a16:creationId xmlns:a16="http://schemas.microsoft.com/office/drawing/2014/main" id="{5CE47230-9B70-44E1-B5BF-9B63022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9" name="ai-layer">
            <a:extLst xmlns:a="http://schemas.openxmlformats.org/drawingml/2006/main">
              <a:ext uri="{FF2B5EF4-FFF2-40B4-BE49-F238E27FC236}">
                <a16:creationId xmlns:a16="http://schemas.microsoft.com/office/drawing/2014/main" id="{926A2263-C5F7-4B80-A197-0A6E86EC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AI Layer</a:t>
            </a:r>
          </a:p>
        </p:txBody>
      </p:sp>
      <p:sp>
        <p:nvSpPr>
          <p:cNvPr id="3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B7DB891-91B2-4FA6-A9AC-4435044B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0">
            <a:extLst xmlns:a="http://schemas.openxmlformats.org/drawingml/2006/main">
              <a:ext uri="{FF2B5EF4-FFF2-40B4-BE49-F238E27FC236}">
                <a16:creationId xmlns:a16="http://schemas.microsoft.com/office/drawing/2014/main" id="{1D207CBF-2B41-47F3-AE63-BEBA2D4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Memory service</a:t>
            </a:r>
          </a:p>
        </p:txBody>
      </p:sp>
      <p:sp>
        <p:nvSpPr>
          <p:cNvPr id="3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2B09FAF-F586-47C8-970D-15225778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1">
            <a:extLst xmlns:a="http://schemas.openxmlformats.org/drawingml/2006/main">
              <a:ext uri="{FF2B5EF4-FFF2-40B4-BE49-F238E27FC236}">
                <a16:creationId xmlns:a16="http://schemas.microsoft.com/office/drawing/2014/main" id="{B43997BE-10A9-4F6B-AFF8-33F857D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Routing engine</a:t>
            </a:r>
          </a:p>
        </p:txBody>
      </p:sp>
      <p:sp>
        <p:nvSpPr>
          <p:cNvPr id="3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1B66189-9EE7-44F7-995C-B420832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5" name="bullet-2">
            <a:extLst xmlns:a="http://schemas.openxmlformats.org/drawingml/2006/main">
              <a:ext uri="{FF2B5EF4-FFF2-40B4-BE49-F238E27FC236}">
                <a16:creationId xmlns:a16="http://schemas.microsoft.com/office/drawing/2014/main" id="{0B1FA312-EF63-4B3A-9E3C-B7787EF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Notification triggers</a:t>
            </a:r>
          </a:p>
        </p:txBody>
      </p:sp>
      <p:sp>
        <p:nvSpPr>
          <p:cNvPr id="3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DA0DF88-17CD-432D-9CCB-1636C0DA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7" name="bullet-3">
            <a:extLst xmlns:a="http://schemas.openxmlformats.org/drawingml/2006/main">
              <a:ext uri="{FF2B5EF4-FFF2-40B4-BE49-F238E27FC236}">
                <a16:creationId xmlns:a16="http://schemas.microsoft.com/office/drawing/2014/main" id="{FE4A7CB0-EB0C-4EAE-814A-2949CE8D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Custom transformer research</a:t>
            </a:r>
          </a:p>
        </p:txBody>
      </p:sp>
      <p:sp>
        <p:nvSpPr>
          <p:cNvPr id="38" name="tech-future">
            <a:extLst xmlns:a="http://schemas.openxmlformats.org/drawingml/2006/main">
              <a:ext uri="{FF2B5EF4-FFF2-40B4-BE49-F238E27FC236}">
                <a16:creationId xmlns:a16="http://schemas.microsoft.com/office/drawing/2014/main" id="{1336B32F-E96D-469E-96F3-06B5742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9" name="future">
            <a:extLst xmlns:a="http://schemas.openxmlformats.org/drawingml/2006/main">
              <a:ext uri="{FF2B5EF4-FFF2-40B4-BE49-F238E27FC236}">
                <a16:creationId xmlns:a16="http://schemas.microsoft.com/office/drawing/2014/main" id="{62A0CBDD-0BB7-46EE-9766-1C7F8DA9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Future</a:t>
            </a:r>
          </a:p>
        </p:txBody>
      </p:sp>
      <p:sp>
        <p:nvSpPr>
          <p:cNvPr id="4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1A9880A-436F-4C5D-916F-9735CE6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1" name="bullet-0">
            <a:extLst xmlns:a="http://schemas.openxmlformats.org/drawingml/2006/main">
              <a:ext uri="{FF2B5EF4-FFF2-40B4-BE49-F238E27FC236}">
                <a16:creationId xmlns:a16="http://schemas.microsoft.com/office/drawing/2014/main" id="{BC9C4E39-30BE-40FC-AF55-AB6D173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C++ inference</a:t>
            </a:r>
          </a:p>
        </p:txBody>
      </p:sp>
      <p:sp>
        <p:nvSpPr>
          <p:cNvPr id="4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8573EB9-D1F0-456F-A594-B1B4641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3" name="bullet-1">
            <a:extLst xmlns:a="http://schemas.openxmlformats.org/drawingml/2006/main">
              <a:ext uri="{FF2B5EF4-FFF2-40B4-BE49-F238E27FC236}">
                <a16:creationId xmlns:a16="http://schemas.microsoft.com/office/drawing/2014/main" id="{B6A77DEA-976A-4161-B589-6598344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Wearables</a:t>
            </a:r>
          </a:p>
        </p:txBody>
      </p:sp>
      <p:sp>
        <p:nvSpPr>
          <p:cNvPr id="4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BEEFC7D-1219-4BB6-9D98-C6DE7B7D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5" name="bullet-2">
            <a:extLst xmlns:a="http://schemas.openxmlformats.org/drawingml/2006/main">
              <a:ext uri="{FF2B5EF4-FFF2-40B4-BE49-F238E27FC236}">
                <a16:creationId xmlns:a16="http://schemas.microsoft.com/office/drawing/2014/main" id="{10B7458A-4037-4BAE-8898-AA05E360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video generation</a:t>
            </a:r>
          </a:p>
        </p:txBody>
      </p:sp>
      <p:sp>
        <p:nvSpPr>
          <p:cNvPr id="4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33D216B9-00A3-4940-BDAC-ECD7665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7" name="bullet-3">
            <a:extLst xmlns:a="http://schemas.openxmlformats.org/drawingml/2006/main">
              <a:ext uri="{FF2B5EF4-FFF2-40B4-BE49-F238E27FC236}">
                <a16:creationId xmlns:a16="http://schemas.microsoft.com/office/drawing/2014/main" id="{9ED2DB63-C0A3-43E0-80B1-3028DE1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Institutional GPU training</a:t>
            </a:r>
          </a:p>
        </p:txBody>
      </p:sp>
    </p:spTree>
    <p:extLst>
      <p:ext uri="{BB962C8B-B14F-4D97-AF65-F5344CB8AC3E}">
        <p14:creationId xmlns:p14="http://schemas.microsoft.com/office/powerpoint/2010/main" val="12440385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6D70CDC-6C66-44C4-ACC0-4F2C13C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689041F6-9B92-4B01-8F5E-B6F0234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C6FBCDB-92EC-458B-85A2-4EF979D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502F3891-5E77-4C01-86CC-CA10F016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432B2E2A-8D0E-4F56-B6EB-821925F3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95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MARKET OPPORTUNITY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D67A2-4FAC-439C-A1BF-165730AE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AI + digital health + fitness is converging now.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6B3E85-4620-4DE4-A6E2-767CA9AE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53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sits at the intersection of personalized AI, wellness apps, digital health, and youth fitness behavior.</a:t>
            </a:r>
          </a:p>
        </p:txBody>
      </p:sp>
      <p:sp>
        <p:nvSpPr>
          <p:cNvPr id="8" name="market-m1">
            <a:extLst xmlns:a="http://schemas.openxmlformats.org/drawingml/2006/main">
              <a:ext uri="{FF2B5EF4-FFF2-40B4-BE49-F238E27FC236}">
                <a16:creationId xmlns:a16="http://schemas.microsoft.com/office/drawing/2014/main" id="{1F5D1B54-0318-4917-8DF7-004F1EF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42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-106-97b">
            <a:extLst xmlns:a="http://schemas.openxmlformats.org/drawingml/2006/main">
              <a:ext uri="{FF2B5EF4-FFF2-40B4-BE49-F238E27FC236}">
                <a16:creationId xmlns:a16="http://schemas.microsoft.com/office/drawing/2014/main" id="{C07E2C3D-D4F0-4FD8-9558-2498543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28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$106.97B</a:t>
            </a:r>
          </a:p>
        </p:txBody>
      </p:sp>
      <p:sp>
        <p:nvSpPr>
          <p:cNvPr id="10" name="india-digital-health-market-by-2033">
            <a:extLst xmlns:a="http://schemas.openxmlformats.org/drawingml/2006/main">
              <a:ext uri="{FF2B5EF4-FFF2-40B4-BE49-F238E27FC236}">
                <a16:creationId xmlns:a16="http://schemas.microsoft.com/office/drawing/2014/main" id="{EE3DAB78-61B8-4820-8E40-6C49813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 digital health market by 2033</a:t>
            </a:r>
          </a:p>
        </p:txBody>
      </p:sp>
      <p:sp>
        <p:nvSpPr>
          <p:cNvPr id="11" name="grand-view-research-projection">
            <a:extLst xmlns:a="http://schemas.openxmlformats.org/drawingml/2006/main">
              <a:ext uri="{FF2B5EF4-FFF2-40B4-BE49-F238E27FC236}">
                <a16:creationId xmlns:a16="http://schemas.microsoft.com/office/drawing/2014/main" id="{97D0767D-CD80-4D47-B6E3-875390A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Grand View Research projection</a:t>
            </a:r>
          </a:p>
        </p:txBody>
      </p:sp>
      <p:sp>
        <p:nvSpPr>
          <p:cNvPr id="12" name="market-m2">
            <a:extLst xmlns:a="http://schemas.openxmlformats.org/drawingml/2006/main">
              <a:ext uri="{FF2B5EF4-FFF2-40B4-BE49-F238E27FC236}">
                <a16:creationId xmlns:a16="http://schemas.microsoft.com/office/drawing/2014/main" id="{5DC0AD86-A896-4659-A8C4-7FEAEC01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54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14-1-">
            <a:extLst xmlns:a="http://schemas.openxmlformats.org/drawingml/2006/main">
              <a:ext uri="{FF2B5EF4-FFF2-40B4-BE49-F238E27FC236}">
                <a16:creationId xmlns:a16="http://schemas.microsoft.com/office/drawing/2014/main" id="{F6359304-2A6E-4449-A099-36F37E5E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485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14.1%</a:t>
            </a:r>
          </a:p>
        </p:txBody>
      </p:sp>
      <p:sp>
        <p:nvSpPr>
          <p:cNvPr id="14" name="fitness-mhealth-apps-cagr">
            <a:extLst xmlns:a="http://schemas.openxmlformats.org/drawingml/2006/main">
              <a:ext uri="{FF2B5EF4-FFF2-40B4-BE49-F238E27FC236}">
                <a16:creationId xmlns:a16="http://schemas.microsoft.com/office/drawing/2014/main" id="{6270CA19-7A5B-4D93-8264-2B93DAD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236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fitness mHealth apps CAGR</a:t>
            </a:r>
          </a:p>
        </p:txBody>
      </p:sp>
      <p:sp>
        <p:nvSpPr>
          <p:cNvPr id="15" name="global-2024-2030-estimate">
            <a:extLst xmlns:a="http://schemas.openxmlformats.org/drawingml/2006/main">
              <a:ext uri="{FF2B5EF4-FFF2-40B4-BE49-F238E27FC236}">
                <a16:creationId xmlns:a16="http://schemas.microsoft.com/office/drawing/2014/main" id="{57444170-505C-49AB-9A9D-A12DC12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Global 2024-2030 estimate</a:t>
            </a:r>
          </a:p>
        </p:txBody>
      </p:sp>
      <p:sp>
        <p:nvSpPr>
          <p:cNvPr id="16" name="market-m3">
            <a:extLst xmlns:a="http://schemas.openxmlformats.org/drawingml/2006/main">
              <a:ext uri="{FF2B5EF4-FFF2-40B4-BE49-F238E27FC236}">
                <a16:creationId xmlns:a16="http://schemas.microsoft.com/office/drawing/2014/main" id="{D74EDC81-EAAB-495C-B826-D253E8B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66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-10-300cr-">
            <a:extLst xmlns:a="http://schemas.openxmlformats.org/drawingml/2006/main">
              <a:ext uri="{FF2B5EF4-FFF2-40B4-BE49-F238E27FC236}">
                <a16:creationId xmlns:a16="http://schemas.microsoft.com/office/drawing/2014/main" id="{D5E103B1-19BF-4039-9E71-6E34AF13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0"/>
            <a:ext cx="2762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₹10,300Cr+</a:t>
            </a:r>
          </a:p>
        </p:txBody>
      </p:sp>
      <p:sp>
        <p:nvSpPr>
          <p:cNvPr id="18" name="indiaai-mission-outlay">
            <a:extLst xmlns:a="http://schemas.openxmlformats.org/drawingml/2006/main">
              <a:ext uri="{FF2B5EF4-FFF2-40B4-BE49-F238E27FC236}">
                <a16:creationId xmlns:a16="http://schemas.microsoft.com/office/drawing/2014/main" id="{8A2F451A-25D3-44EC-A778-FA93FDC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943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IndiaAI Mission outlay</a:t>
            </a:r>
          </a:p>
        </p:txBody>
      </p:sp>
      <p:sp>
        <p:nvSpPr>
          <p:cNvPr id="19" name="national-push-for-ai-compute-and-startups">
            <a:extLst xmlns:a="http://schemas.openxmlformats.org/drawingml/2006/main">
              <a:ext uri="{FF2B5EF4-FFF2-40B4-BE49-F238E27FC236}">
                <a16:creationId xmlns:a16="http://schemas.microsoft.com/office/drawing/2014/main" id="{E2304126-9F4A-45F8-A7BA-77751214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821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National push for AI compute and startups</a:t>
            </a:r>
          </a:p>
        </p:txBody>
      </p:sp>
      <p:sp>
        <p:nvSpPr>
          <p:cNvPr id="20" name="market-chart-panel">
            <a:extLst xmlns:a="http://schemas.openxmlformats.org/drawingml/2006/main">
              <a:ext uri="{FF2B5EF4-FFF2-40B4-BE49-F238E27FC236}">
                <a16:creationId xmlns:a16="http://schemas.microsoft.com/office/drawing/2014/main" id="{A12E1750-537A-4178-B032-E0A8860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04260"/>
            <a:ext cx="8511064" cy="6015990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market-expansion-signals">
            <a:extLst xmlns:a="http://schemas.openxmlformats.org/drawingml/2006/main">
              <a:ext uri="{FF2B5EF4-FFF2-40B4-BE49-F238E27FC236}">
                <a16:creationId xmlns:a16="http://schemas.microsoft.com/office/drawing/2014/main" id="{4148F8EC-C271-492D-9BEF-2361C098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7867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Market expansion signals</a:t>
            </a:r>
          </a:p>
        </p:txBody>
      </p:sp>
      <p:graphicFrame>
        <p:nvGraphicFramePr>
          <p:cNvPr id="22" name="market-chart-main"/>
          <p:cNvGraphicFramePr/>
          <p:nvPr/>
        </p:nvGraphicFramePr>
        <p:xfrm>
          <a:off xmlns:a="http://schemas.openxmlformats.org/drawingml/2006/main" x="9319736" y="4431030"/>
          <a:ext xmlns:a="http://schemas.openxmlformats.org/drawingml/2006/main" cx="7863364" cy="45796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694e71ec3440e5"/>
          </a:graphicData>
        </a:graphic>
      </p:graphicFrame>
      <p:sp>
        <p:nvSpPr>
          <p:cNvPr id="23" name="sources-who-grand-view-research-pib-indiaai-m">
            <a:extLst xmlns:a="http://schemas.openxmlformats.org/drawingml/2006/main">
              <a:ext uri="{FF2B5EF4-FFF2-40B4-BE49-F238E27FC236}">
                <a16:creationId xmlns:a16="http://schemas.microsoft.com/office/drawing/2014/main" id="{87879153-EA59-46CC-8ED5-62BD92AC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63050"/>
            <a:ext cx="7867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D8990"/>
                </a:solidFill>
              </a:defRPr>
            </a:pPr>
            <a:r>
              <a:rPr sz="1125" b="0" i="0">
                <a:solidFill>
                  <a:srgbClr val="8D8990"/>
                </a:solidFill>
              </a:rPr>
              <a:t>Sources: WHO, Grand View Research, PIB IndiaAI Mission.</a:t>
            </a:r>
          </a:p>
        </p:txBody>
      </p:sp>
    </p:spTree>
    <p:extLst>
      <p:ext uri="{BB962C8B-B14F-4D97-AF65-F5344CB8AC3E}">
        <p14:creationId xmlns:p14="http://schemas.microsoft.com/office/powerpoint/2010/main" val="1175854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46BDF8A-DBE3-4766-AAF5-37C7CFD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0B8B22C-971F-4886-A20A-1A186A93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5FBD64C-802F-4D02-94D7-E38C2A9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94D8FE1B-4F42-48B1-AD1D-6C3DB4C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C9DE3FE-4BF5-40E8-A288-B3958F5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NOW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F23F37-79EA-410D-B85D-6E9A0275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80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infrastructure finally exists for personal AI wellness.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F889B3-57B5-4D4D-85D5-8CB3056D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60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next generation of health products will not be passive trackers. They will be active companions.</a:t>
            </a:r>
          </a:p>
        </p:txBody>
      </p:sp>
      <p:sp>
        <p:nvSpPr>
          <p:cNvPr id="8" name="why-ai">
            <a:extLst xmlns:a="http://schemas.openxmlformats.org/drawingml/2006/main">
              <a:ext uri="{FF2B5EF4-FFF2-40B4-BE49-F238E27FC236}">
                <a16:creationId xmlns:a16="http://schemas.microsoft.com/office/drawing/2014/main" id="{EE2A323E-EFD2-4AAA-AF06-59A1448E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ai-adoption">
            <a:extLst xmlns:a="http://schemas.openxmlformats.org/drawingml/2006/main">
              <a:ext uri="{FF2B5EF4-FFF2-40B4-BE49-F238E27FC236}">
                <a16:creationId xmlns:a16="http://schemas.microsoft.com/office/drawing/2014/main" id="{E9DC7599-205C-4660-B9EE-AC01908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adoption</a:t>
            </a:r>
          </a:p>
        </p:txBody>
      </p:sp>
      <p:sp>
        <p:nvSpPr>
          <p:cNvPr id="10" name="users-now-understand-ai-assistants-and-expect">
            <a:extLst xmlns:a="http://schemas.openxmlformats.org/drawingml/2006/main">
              <a:ext uri="{FF2B5EF4-FFF2-40B4-BE49-F238E27FC236}">
                <a16:creationId xmlns:a16="http://schemas.microsoft.com/office/drawing/2014/main" id="{22C175CA-1BC8-4E0A-AC96-7051097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Users now understand AI assistants and expect personalization.</a:t>
            </a:r>
          </a:p>
        </p:txBody>
      </p:sp>
      <p:sp>
        <p:nvSpPr>
          <p:cNvPr id="11" name="why-health">
            <a:extLst xmlns:a="http://schemas.openxmlformats.org/drawingml/2006/main">
              <a:ext uri="{FF2B5EF4-FFF2-40B4-BE49-F238E27FC236}">
                <a16:creationId xmlns:a16="http://schemas.microsoft.com/office/drawing/2014/main" id="{04FD03AB-CB64-4EB1-9CD5-BE95F368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health-urgency">
            <a:extLst xmlns:a="http://schemas.openxmlformats.org/drawingml/2006/main">
              <a:ext uri="{FF2B5EF4-FFF2-40B4-BE49-F238E27FC236}">
                <a16:creationId xmlns:a16="http://schemas.microsoft.com/office/drawing/2014/main" id="{228672CC-7839-45B0-AE50-6E1A48A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Health urgency</a:t>
            </a:r>
          </a:p>
        </p:txBody>
      </p:sp>
      <p:sp>
        <p:nvSpPr>
          <p:cNvPr id="13" name="physical-inactivity-and-lifestyle-diseases-cr">
            <a:extLst xmlns:a="http://schemas.openxmlformats.org/drawingml/2006/main">
              <a:ext uri="{FF2B5EF4-FFF2-40B4-BE49-F238E27FC236}">
                <a16:creationId xmlns:a16="http://schemas.microsoft.com/office/drawing/2014/main" id="{496EB6DB-E82E-433B-9677-24B9E28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Physical inactivity and lifestyle diseases create public health pressure.</a:t>
            </a:r>
          </a:p>
        </p:txBody>
      </p:sp>
      <p:sp>
        <p:nvSpPr>
          <p:cNvPr id="14" name="why-wearables">
            <a:extLst xmlns:a="http://schemas.openxmlformats.org/drawingml/2006/main">
              <a:ext uri="{FF2B5EF4-FFF2-40B4-BE49-F238E27FC236}">
                <a16:creationId xmlns:a16="http://schemas.microsoft.com/office/drawing/2014/main" id="{F7A0C66D-3B2D-4C33-AF3F-43E8A01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wearable-data">
            <a:extLst xmlns:a="http://schemas.openxmlformats.org/drawingml/2006/main">
              <a:ext uri="{FF2B5EF4-FFF2-40B4-BE49-F238E27FC236}">
                <a16:creationId xmlns:a16="http://schemas.microsoft.com/office/drawing/2014/main" id="{89128978-9E95-4957-BADF-70DD2CF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Wearable data</a:t>
            </a:r>
          </a:p>
        </p:txBody>
      </p:sp>
      <p:sp>
        <p:nvSpPr>
          <p:cNvPr id="16" name="more-users-generate-signals-that-can-power-ad">
            <a:extLst xmlns:a="http://schemas.openxmlformats.org/drawingml/2006/main">
              <a:ext uri="{FF2B5EF4-FFF2-40B4-BE49-F238E27FC236}">
                <a16:creationId xmlns:a16="http://schemas.microsoft.com/office/drawing/2014/main" id="{44634383-6BDA-4AC0-AE6C-3AF6E30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More users generate signals that can power adaptive recommendations.</a:t>
            </a:r>
          </a:p>
        </p:txBody>
      </p:sp>
      <p:sp>
        <p:nvSpPr>
          <p:cNvPr id="17" name="why-india">
            <a:extLst xmlns:a="http://schemas.openxmlformats.org/drawingml/2006/main">
              <a:ext uri="{FF2B5EF4-FFF2-40B4-BE49-F238E27FC236}">
                <a16:creationId xmlns:a16="http://schemas.microsoft.com/office/drawing/2014/main" id="{8ECC7F8E-0863-4DA5-98DE-41875DC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-ai-mission">
            <a:extLst xmlns:a="http://schemas.openxmlformats.org/drawingml/2006/main">
              <a:ext uri="{FF2B5EF4-FFF2-40B4-BE49-F238E27FC236}">
                <a16:creationId xmlns:a16="http://schemas.microsoft.com/office/drawing/2014/main" id="{49C073CB-CB3B-475C-B708-38E868F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India AI mission</a:t>
            </a:r>
          </a:p>
        </p:txBody>
      </p:sp>
      <p:sp>
        <p:nvSpPr>
          <p:cNvPr id="19" name="government-compute-datasets-skilling-and-star">
            <a:extLst xmlns:a="http://schemas.openxmlformats.org/drawingml/2006/main">
              <a:ext uri="{FF2B5EF4-FFF2-40B4-BE49-F238E27FC236}">
                <a16:creationId xmlns:a16="http://schemas.microsoft.com/office/drawing/2014/main" id="{52E6988A-A257-438F-ABF1-C04868F2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Government compute, datasets, skilling, and startup financing align with this build.</a:t>
            </a:r>
          </a:p>
        </p:txBody>
      </p:sp>
    </p:spTree>
    <p:extLst>
      <p:ext uri="{BB962C8B-B14F-4D97-AF65-F5344CB8AC3E}">
        <p14:creationId xmlns:p14="http://schemas.microsoft.com/office/powerpoint/2010/main" val="3111166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5AB5993-27F2-4592-B374-F11BE32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FA0FA78-8E82-4CA7-B8BE-F0E6B92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F81568B-1BC7-4E10-86CC-B82697A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153CF87-87A9-44BF-9171-835107A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989D49C-D6FB-48D6-9C83-80B9BDC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COMPETITOR COMPARISON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B7407F-786F-4696-BC08-5C19B60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64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gap is not content. The gap is adaptive intelligence.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F6DE34-0447-4026-B025-74A2C06E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combines specialization, memory, behavior, and ecosystem design.</a:t>
            </a:r>
          </a:p>
        </p:txBody>
      </p:sp>
      <p:sp>
        <p:nvSpPr>
          <p:cNvPr id="8" name="comparison-table">
            <a:extLst xmlns:a="http://schemas.openxmlformats.org/drawingml/2006/main">
              <a:ext uri="{FF2B5EF4-FFF2-40B4-BE49-F238E27FC236}">
                <a16:creationId xmlns:a16="http://schemas.microsoft.com/office/drawing/2014/main" id="{41EC8C3D-1D0A-4798-9A81-1531829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6620"/>
            <a:ext cx="16725900" cy="6183630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9E83EC5D-2CD6-461C-8A6F-25F966B0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3320"/>
            <a:ext cx="4252784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0" name="capability">
            <a:extLst xmlns:a="http://schemas.openxmlformats.org/drawingml/2006/main">
              <a:ext uri="{FF2B5EF4-FFF2-40B4-BE49-F238E27FC236}">
                <a16:creationId xmlns:a16="http://schemas.microsoft.com/office/drawing/2014/main" id="{951A33B9-0530-4CEB-8049-8B79D26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94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Capability</a:t>
            </a:r>
          </a:p>
        </p:txBody>
      </p:sp>
      <p:sp>
        <p:nvSpPr>
          <p:cNvPr id="11" name="cell-0-1">
            <a:extLst xmlns:a="http://schemas.openxmlformats.org/drawingml/2006/main">
              <a:ext uri="{FF2B5EF4-FFF2-40B4-BE49-F238E27FC236}">
                <a16:creationId xmlns:a16="http://schemas.microsoft.com/office/drawing/2014/main" id="{A2CAE941-ADCB-4C9B-8AF1-2777FC1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2" name="fitness-apps">
            <a:extLst xmlns:a="http://schemas.openxmlformats.org/drawingml/2006/main">
              <a:ext uri="{FF2B5EF4-FFF2-40B4-BE49-F238E27FC236}">
                <a16:creationId xmlns:a16="http://schemas.microsoft.com/office/drawing/2014/main" id="{DBD7C468-7CBB-4CBC-B9B5-5FDA69B7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Fitness Apps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B3D96BD5-28DE-426A-8F5F-756AA9B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chatgpt">
            <a:extLst xmlns:a="http://schemas.openxmlformats.org/drawingml/2006/main">
              <a:ext uri="{FF2B5EF4-FFF2-40B4-BE49-F238E27FC236}">
                <a16:creationId xmlns:a16="http://schemas.microsoft.com/office/drawing/2014/main" id="{2EBCF6F0-6E8A-4701-A62C-7B677B4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ChatGPT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7F7FB533-4AA9-45E6-B112-EC24BE24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6" name="generic-ai">
            <a:extLst xmlns:a="http://schemas.openxmlformats.org/drawingml/2006/main">
              <a:ext uri="{FF2B5EF4-FFF2-40B4-BE49-F238E27FC236}">
                <a16:creationId xmlns:a16="http://schemas.microsoft.com/office/drawing/2014/main" id="{6CAB74B0-F884-4C9E-8D4B-BF4FEA34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Generic AI</a:t>
            </a:r>
          </a:p>
        </p:txBody>
      </p:sp>
      <p:sp>
        <p:nvSpPr>
          <p:cNvPr id="17" name="cell-0-4">
            <a:extLst xmlns:a="http://schemas.openxmlformats.org/drawingml/2006/main">
              <a:ext uri="{FF2B5EF4-FFF2-40B4-BE49-F238E27FC236}">
                <a16:creationId xmlns:a16="http://schemas.microsoft.com/office/drawing/2014/main" id="{2C7DCFFA-741F-41E4-B8F4-1C15220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3703320"/>
            <a:ext cx="297694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8" name="grindhaus-ai">
            <a:extLst xmlns:a="http://schemas.openxmlformats.org/drawingml/2006/main">
              <a:ext uri="{FF2B5EF4-FFF2-40B4-BE49-F238E27FC236}">
                <a16:creationId xmlns:a16="http://schemas.microsoft.com/office/drawing/2014/main" id="{01D3374C-FD4B-4CF6-9F1B-AF7D69E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829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238D5DDC-96C8-4A65-BC62-2C7F8C83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882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0" name="fitness-specialization">
            <a:extLst xmlns:a="http://schemas.openxmlformats.org/drawingml/2006/main">
              <a:ext uri="{FF2B5EF4-FFF2-40B4-BE49-F238E27FC236}">
                <a16:creationId xmlns:a16="http://schemas.microsoft.com/office/drawing/2014/main" id="{B9598B7F-12DB-413D-B303-7E51379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Fitness specialization</a:t>
            </a:r>
          </a:p>
        </p:txBody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33F2C7B6-8018-4CAA-ADD0-BCE6AD9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2" name="medium">
            <a:extLst xmlns:a="http://schemas.openxmlformats.org/drawingml/2006/main">
              <a:ext uri="{FF2B5EF4-FFF2-40B4-BE49-F238E27FC236}">
                <a16:creationId xmlns:a16="http://schemas.microsoft.com/office/drawing/2014/main" id="{EE79CA3F-F303-4567-B5E8-2F27330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31BBC42C-97D9-4551-BC20-D811A409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4" name="low">
            <a:extLst xmlns:a="http://schemas.openxmlformats.org/drawingml/2006/main">
              <a:ext uri="{FF2B5EF4-FFF2-40B4-BE49-F238E27FC236}">
                <a16:creationId xmlns:a16="http://schemas.microsoft.com/office/drawing/2014/main" id="{8DFC94EE-EDD1-44D1-B55F-724A671E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5" name="cell-1-3">
            <a:extLst xmlns:a="http://schemas.openxmlformats.org/drawingml/2006/main">
              <a:ext uri="{FF2B5EF4-FFF2-40B4-BE49-F238E27FC236}">
                <a16:creationId xmlns:a16="http://schemas.microsoft.com/office/drawing/2014/main" id="{12672792-6BAC-454E-AAA3-F44DB96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6" name="low">
            <a:extLst xmlns:a="http://schemas.openxmlformats.org/drawingml/2006/main">
              <a:ext uri="{FF2B5EF4-FFF2-40B4-BE49-F238E27FC236}">
                <a16:creationId xmlns:a16="http://schemas.microsoft.com/office/drawing/2014/main" id="{CB18674E-5512-4105-810B-0070B085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7" name="cell-1-4">
            <a:extLst xmlns:a="http://schemas.openxmlformats.org/drawingml/2006/main">
              <a:ext uri="{FF2B5EF4-FFF2-40B4-BE49-F238E27FC236}">
                <a16:creationId xmlns:a16="http://schemas.microsoft.com/office/drawing/2014/main" id="{EAB5EB14-C69D-4EE2-928B-6C30D4A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456882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28" name="high">
            <a:extLst xmlns:a="http://schemas.openxmlformats.org/drawingml/2006/main">
              <a:ext uri="{FF2B5EF4-FFF2-40B4-BE49-F238E27FC236}">
                <a16:creationId xmlns:a16="http://schemas.microsoft.com/office/drawing/2014/main" id="{6901C93D-1E37-4D1C-80E7-C2EDF437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6863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0652482B-E671-438A-81D9-723B11E8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863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0" name="persistent-fitness-memory">
            <a:extLst xmlns:a="http://schemas.openxmlformats.org/drawingml/2006/main">
              <a:ext uri="{FF2B5EF4-FFF2-40B4-BE49-F238E27FC236}">
                <a16:creationId xmlns:a16="http://schemas.microsoft.com/office/drawing/2014/main" id="{A9F356D2-D34A-4847-BA71-AF01985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Persistent fitness memory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62A0EDCA-A81F-46B3-A07F-43A649D1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2" name="low">
            <a:extLst xmlns:a="http://schemas.openxmlformats.org/drawingml/2006/main">
              <a:ext uri="{FF2B5EF4-FFF2-40B4-BE49-F238E27FC236}">
                <a16:creationId xmlns:a16="http://schemas.microsoft.com/office/drawing/2014/main" id="{8E0D3741-3E7F-4ADA-BEA7-AF350CC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68D5EBC2-B413-42E2-A79E-F699F3B5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4" name="low">
            <a:extLst xmlns:a="http://schemas.openxmlformats.org/drawingml/2006/main">
              <a:ext uri="{FF2B5EF4-FFF2-40B4-BE49-F238E27FC236}">
                <a16:creationId xmlns:a16="http://schemas.microsoft.com/office/drawing/2014/main" id="{C4E644BE-B94D-4419-8AEF-6384A744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4EEF28E8-EE5A-4B5F-9FE5-D305C29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6" name="medium">
            <a:extLst xmlns:a="http://schemas.openxmlformats.org/drawingml/2006/main">
              <a:ext uri="{FF2B5EF4-FFF2-40B4-BE49-F238E27FC236}">
                <a16:creationId xmlns:a16="http://schemas.microsoft.com/office/drawing/2014/main" id="{DD9996B4-F5D8-4412-A5A9-D1139E5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37" name="cell-2-4">
            <a:extLst xmlns:a="http://schemas.openxmlformats.org/drawingml/2006/main">
              <a:ext uri="{FF2B5EF4-FFF2-40B4-BE49-F238E27FC236}">
                <a16:creationId xmlns:a16="http://schemas.microsoft.com/office/drawing/2014/main" id="{C0443AA9-2FBD-4FC0-8A01-2D182D79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554863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38" name="high">
            <a:extLst xmlns:a="http://schemas.openxmlformats.org/drawingml/2006/main">
              <a:ext uri="{FF2B5EF4-FFF2-40B4-BE49-F238E27FC236}">
                <a16:creationId xmlns:a16="http://schemas.microsoft.com/office/drawing/2014/main" id="{1EE613CB-F9A6-4095-9C4E-EFF4806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676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44AABBEE-501A-44F5-AFB6-E1C2C13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843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0" name="emotional-accountability">
            <a:extLst xmlns:a="http://schemas.openxmlformats.org/drawingml/2006/main">
              <a:ext uri="{FF2B5EF4-FFF2-40B4-BE49-F238E27FC236}">
                <a16:creationId xmlns:a16="http://schemas.microsoft.com/office/drawing/2014/main" id="{9DEC7EE6-2EF1-46E0-B9AE-FD1AA1D6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Emotional accountability</a:t>
            </a:r>
          </a:p>
        </p:txBody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C0BF5AD5-32B5-441E-9893-DA12E65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2" name="low">
            <a:extLst xmlns:a="http://schemas.openxmlformats.org/drawingml/2006/main">
              <a:ext uri="{FF2B5EF4-FFF2-40B4-BE49-F238E27FC236}">
                <a16:creationId xmlns:a16="http://schemas.microsoft.com/office/drawing/2014/main" id="{4B1AC938-CA29-4932-BAAA-0F588E5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ED35E460-384F-412F-9741-33EAE37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4" name="medium">
            <a:extLst xmlns:a="http://schemas.openxmlformats.org/drawingml/2006/main">
              <a:ext uri="{FF2B5EF4-FFF2-40B4-BE49-F238E27FC236}">
                <a16:creationId xmlns:a16="http://schemas.microsoft.com/office/drawing/2014/main" id="{D34120EC-0836-4207-B34D-3EFA4EC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79C8E87D-3620-4E1E-9190-F3EC434E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6" name="medium">
            <a:extLst xmlns:a="http://schemas.openxmlformats.org/drawingml/2006/main">
              <a:ext uri="{FF2B5EF4-FFF2-40B4-BE49-F238E27FC236}">
                <a16:creationId xmlns:a16="http://schemas.microsoft.com/office/drawing/2014/main" id="{A47138D2-07B1-4E37-90E8-FA4C49A4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7" name="cell-3-4">
            <a:extLst xmlns:a="http://schemas.openxmlformats.org/drawingml/2006/main">
              <a:ext uri="{FF2B5EF4-FFF2-40B4-BE49-F238E27FC236}">
                <a16:creationId xmlns:a16="http://schemas.microsoft.com/office/drawing/2014/main" id="{95BA98C9-AD0A-4D9D-AAFA-8944747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652843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48" name="high">
            <a:extLst xmlns:a="http://schemas.openxmlformats.org/drawingml/2006/main">
              <a:ext uri="{FF2B5EF4-FFF2-40B4-BE49-F238E27FC236}">
                <a16:creationId xmlns:a16="http://schemas.microsoft.com/office/drawing/2014/main" id="{7F29946D-842B-4967-97DC-934C4B0A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6484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49" name="cell-4-0">
            <a:extLst xmlns:a="http://schemas.openxmlformats.org/drawingml/2006/main">
              <a:ext uri="{FF2B5EF4-FFF2-40B4-BE49-F238E27FC236}">
                <a16:creationId xmlns:a16="http://schemas.microsoft.com/office/drawing/2014/main" id="{BFB4D5C1-5B6D-4ADE-B720-7E4D893F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0824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0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6DB0D24E-C30A-4D89-9035-DF79D4A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390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51" name="cell-4-1">
            <a:extLst xmlns:a="http://schemas.openxmlformats.org/drawingml/2006/main">
              <a:ext uri="{FF2B5EF4-FFF2-40B4-BE49-F238E27FC236}">
                <a16:creationId xmlns:a16="http://schemas.microsoft.com/office/drawing/2014/main" id="{245C2046-4DBC-4937-91F6-F6E6E31B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2" name="medium">
            <a:extLst xmlns:a="http://schemas.openxmlformats.org/drawingml/2006/main">
              <a:ext uri="{FF2B5EF4-FFF2-40B4-BE49-F238E27FC236}">
                <a16:creationId xmlns:a16="http://schemas.microsoft.com/office/drawing/2014/main" id="{3CB843C9-A4BF-4277-91B8-04ECEB73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53" name="cell-4-2">
            <a:extLst xmlns:a="http://schemas.openxmlformats.org/drawingml/2006/main">
              <a:ext uri="{FF2B5EF4-FFF2-40B4-BE49-F238E27FC236}">
                <a16:creationId xmlns:a16="http://schemas.microsoft.com/office/drawing/2014/main" id="{AE8325AA-C95C-42CD-AF6E-04FBF25E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4" name="none">
            <a:extLst xmlns:a="http://schemas.openxmlformats.org/drawingml/2006/main">
              <a:ext uri="{FF2B5EF4-FFF2-40B4-BE49-F238E27FC236}">
                <a16:creationId xmlns:a16="http://schemas.microsoft.com/office/drawing/2014/main" id="{166901A9-8F83-46B6-B4CD-0B5C6A17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C237D7D8-322C-4DB0-AF46-6D9A34C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6" name="low">
            <a:extLst xmlns:a="http://schemas.openxmlformats.org/drawingml/2006/main">
              <a:ext uri="{FF2B5EF4-FFF2-40B4-BE49-F238E27FC236}">
                <a16:creationId xmlns:a16="http://schemas.microsoft.com/office/drawing/2014/main" id="{E4E96B89-F3B4-4FED-9638-B1CB713A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57" name="cell-4-4">
            <a:extLst xmlns:a="http://schemas.openxmlformats.org/drawingml/2006/main">
              <a:ext uri="{FF2B5EF4-FFF2-40B4-BE49-F238E27FC236}">
                <a16:creationId xmlns:a16="http://schemas.microsoft.com/office/drawing/2014/main" id="{37EFD88E-F4B6-4930-A0B5-CAEDE16F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750824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58" name="high">
            <a:extLst xmlns:a="http://schemas.openxmlformats.org/drawingml/2006/main">
              <a:ext uri="{FF2B5EF4-FFF2-40B4-BE49-F238E27FC236}">
                <a16:creationId xmlns:a16="http://schemas.microsoft.com/office/drawing/2014/main" id="{2D3F7F7D-6EBF-4EEB-AD34-F413C0BD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6390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59" name="cell-5-0">
            <a:extLst xmlns:a="http://schemas.openxmlformats.org/drawingml/2006/main">
              <a:ext uri="{FF2B5EF4-FFF2-40B4-BE49-F238E27FC236}">
                <a16:creationId xmlns:a16="http://schemas.microsoft.com/office/drawing/2014/main" id="{5E5E7B3E-E764-4759-A3AA-0FFFB722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8804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0" name="custom-ai-roadmap">
            <a:extLst xmlns:a="http://schemas.openxmlformats.org/drawingml/2006/main">
              <a:ext uri="{FF2B5EF4-FFF2-40B4-BE49-F238E27FC236}">
                <a16:creationId xmlns:a16="http://schemas.microsoft.com/office/drawing/2014/main" id="{814A9C07-1C64-4EC4-9262-A810B6A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106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Custom AI roadmap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0C5B4811-7BF5-41A9-9713-5EAF7B8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2" name="low">
            <a:extLst xmlns:a="http://schemas.openxmlformats.org/drawingml/2006/main">
              <a:ext uri="{FF2B5EF4-FFF2-40B4-BE49-F238E27FC236}">
                <a16:creationId xmlns:a16="http://schemas.microsoft.com/office/drawing/2014/main" id="{0FCA5BB3-A1EA-4914-8228-59C1C6E8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63" name="cell-5-2">
            <a:extLst xmlns:a="http://schemas.openxmlformats.org/drawingml/2006/main">
              <a:ext uri="{FF2B5EF4-FFF2-40B4-BE49-F238E27FC236}">
                <a16:creationId xmlns:a16="http://schemas.microsoft.com/office/drawing/2014/main" id="{362D6197-AC85-4726-858D-6A44BB0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4" name="none">
            <a:extLst xmlns:a="http://schemas.openxmlformats.org/drawingml/2006/main">
              <a:ext uri="{FF2B5EF4-FFF2-40B4-BE49-F238E27FC236}">
                <a16:creationId xmlns:a16="http://schemas.microsoft.com/office/drawing/2014/main" id="{BF2BEC66-487B-49B8-9BD4-5DB11C40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65" name="cell-5-3">
            <a:extLst xmlns:a="http://schemas.openxmlformats.org/drawingml/2006/main">
              <a:ext uri="{FF2B5EF4-FFF2-40B4-BE49-F238E27FC236}">
                <a16:creationId xmlns:a16="http://schemas.microsoft.com/office/drawing/2014/main" id="{9AFF5AE7-11D0-48F8-88BB-C373EEE2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6" name="medium">
            <a:extLst xmlns:a="http://schemas.openxmlformats.org/drawingml/2006/main">
              <a:ext uri="{FF2B5EF4-FFF2-40B4-BE49-F238E27FC236}">
                <a16:creationId xmlns:a16="http://schemas.microsoft.com/office/drawing/2014/main" id="{674D8E7E-81DC-4B81-81B9-7599547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67" name="cell-5-4">
            <a:extLst xmlns:a="http://schemas.openxmlformats.org/drawingml/2006/main">
              <a:ext uri="{FF2B5EF4-FFF2-40B4-BE49-F238E27FC236}">
                <a16:creationId xmlns:a16="http://schemas.microsoft.com/office/drawing/2014/main" id="{0840A61D-1396-4132-895C-E54B4BC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848804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68" name="high">
            <a:extLst xmlns:a="http://schemas.openxmlformats.org/drawingml/2006/main">
              <a:ext uri="{FF2B5EF4-FFF2-40B4-BE49-F238E27FC236}">
                <a16:creationId xmlns:a16="http://schemas.microsoft.com/office/drawing/2014/main" id="{CD221AA8-A2C1-48A0-B918-ADD1885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6106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8649130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C5E8497-E89A-47DA-920E-30DB5A4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77D0B99C-22F4-4AA3-9BCA-195DADFE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B0E1F7E-D19F-4B29-866A-840F04D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1114FE5-F62D-4986-B0DE-5B4F6C6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D10E14D-9FC8-4719-A50F-4DB9264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BUSINESS MODEL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9F6C7B-E26C-4FFC-9CFA-DCB47CF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496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Accessible core guidance. Scalable ecosystem revenue.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F315F0-E46E-4881-8F9F-7144728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202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model avoids aggressive paywalls while still creating durable revenue through premium, partner, and institutional layers.</a:t>
            </a:r>
          </a:p>
        </p:txBody>
      </p:sp>
      <p:sp>
        <p:nvSpPr>
          <p:cNvPr id="8" name="biz-free">
            <a:extLst xmlns:a="http://schemas.openxmlformats.org/drawingml/2006/main">
              <a:ext uri="{FF2B5EF4-FFF2-40B4-BE49-F238E27FC236}">
                <a16:creationId xmlns:a16="http://schemas.microsoft.com/office/drawing/2014/main" id="{42350663-C370-4433-AC4B-3A1CB9D2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ee-core">
            <a:extLst xmlns:a="http://schemas.openxmlformats.org/drawingml/2006/main">
              <a:ext uri="{FF2B5EF4-FFF2-40B4-BE49-F238E27FC236}">
                <a16:creationId xmlns:a16="http://schemas.microsoft.com/office/drawing/2014/main" id="{36F9E84C-9199-4A1B-B913-5FB88E1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8BFFB8"/>
                </a:solidFill>
              </a:defRPr>
            </a:pPr>
            <a:r>
              <a:rPr sz="2700" b="1" i="0">
                <a:solidFill>
                  <a:srgbClr val="8BFFB8"/>
                </a:solidFill>
              </a:rPr>
              <a:t>Free Core</a:t>
            </a:r>
          </a:p>
        </p:txBody>
      </p:sp>
      <p:sp>
        <p:nvSpPr>
          <p:cNvPr id="10" name="basic-workouts-health-guidance-community-acce">
            <a:extLst xmlns:a="http://schemas.openxmlformats.org/drawingml/2006/main">
              <a:ext uri="{FF2B5EF4-FFF2-40B4-BE49-F238E27FC236}">
                <a16:creationId xmlns:a16="http://schemas.microsoft.com/office/drawing/2014/main" id="{71CDC8E3-D607-4635-83D5-0E1004B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Basic workouts, health guidance, community access, and lightweight AI support.</a:t>
            </a:r>
          </a:p>
        </p:txBody>
      </p:sp>
      <p:sp>
        <p:nvSpPr>
          <p:cNvPr id="11" name="biz-premium">
            <a:extLst xmlns:a="http://schemas.openxmlformats.org/drawingml/2006/main">
              <a:ext uri="{FF2B5EF4-FFF2-40B4-BE49-F238E27FC236}">
                <a16:creationId xmlns:a16="http://schemas.microsoft.com/office/drawing/2014/main" id="{C9050684-9D88-4006-92F6-9159579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premium-ai">
            <a:extLst xmlns:a="http://schemas.openxmlformats.org/drawingml/2006/main">
              <a:ext uri="{FF2B5EF4-FFF2-40B4-BE49-F238E27FC236}">
                <a16:creationId xmlns:a16="http://schemas.microsoft.com/office/drawing/2014/main" id="{9A38F3C8-9B50-42D0-B757-456201E1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Premium AI</a:t>
            </a:r>
          </a:p>
        </p:txBody>
      </p:sp>
      <p:sp>
        <p:nvSpPr>
          <p:cNvPr id="13" name="advanced-coaching-personalization-plan-genera">
            <a:extLst xmlns:a="http://schemas.openxmlformats.org/drawingml/2006/main">
              <a:ext uri="{FF2B5EF4-FFF2-40B4-BE49-F238E27FC236}">
                <a16:creationId xmlns:a16="http://schemas.microsoft.com/office/drawing/2014/main" id="{05BB7233-CD38-4613-A273-7A734A18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Advanced coaching, personalization, plan generation, habit analytics, and deeper memory.</a:t>
            </a:r>
          </a:p>
        </p:txBody>
      </p:sp>
      <p:sp>
        <p:nvSpPr>
          <p:cNvPr id="14" name="biz-b2b">
            <a:extLst xmlns:a="http://schemas.openxmlformats.org/drawingml/2006/main">
              <a:ext uri="{FF2B5EF4-FFF2-40B4-BE49-F238E27FC236}">
                <a16:creationId xmlns:a16="http://schemas.microsoft.com/office/drawing/2014/main" id="{DD5B8CEB-227F-4B0C-B90F-4527948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b2b-gyms">
            <a:extLst xmlns:a="http://schemas.openxmlformats.org/drawingml/2006/main">
              <a:ext uri="{FF2B5EF4-FFF2-40B4-BE49-F238E27FC236}">
                <a16:creationId xmlns:a16="http://schemas.microsoft.com/office/drawing/2014/main" id="{C29B5EB7-E34D-49FF-A2AC-77CF349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54E4FF"/>
                </a:solidFill>
              </a:defRPr>
            </a:pPr>
            <a:r>
              <a:rPr sz="2700" b="1" i="0">
                <a:solidFill>
                  <a:srgbClr val="54E4FF"/>
                </a:solidFill>
              </a:rPr>
              <a:t>B2B / Gyms</a:t>
            </a:r>
          </a:p>
        </p:txBody>
      </p:sp>
      <p:sp>
        <p:nvSpPr>
          <p:cNvPr id="16" name="gym-dashboards-trainer-tools-student-fitness-">
            <a:extLst xmlns:a="http://schemas.openxmlformats.org/drawingml/2006/main">
              <a:ext uri="{FF2B5EF4-FFF2-40B4-BE49-F238E27FC236}">
                <a16:creationId xmlns:a16="http://schemas.microsoft.com/office/drawing/2014/main" id="{E4C0990C-C1B8-4BF3-811A-45E2F54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Gym dashboards, trainer tools, student fitness programs, and institutional wellness.</a:t>
            </a:r>
          </a:p>
        </p:txBody>
      </p:sp>
      <p:sp>
        <p:nvSpPr>
          <p:cNvPr id="17" name="biz-ecosystem">
            <a:extLst xmlns:a="http://schemas.openxmlformats.org/drawingml/2006/main">
              <a:ext uri="{FF2B5EF4-FFF2-40B4-BE49-F238E27FC236}">
                <a16:creationId xmlns:a16="http://schemas.microsoft.com/office/drawing/2014/main" id="{6D139E2D-DEB6-4BB4-BBEB-E70DB72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ai-ecosystem">
            <a:extLst xmlns:a="http://schemas.openxmlformats.org/drawingml/2006/main">
              <a:ext uri="{FF2B5EF4-FFF2-40B4-BE49-F238E27FC236}">
                <a16:creationId xmlns:a16="http://schemas.microsoft.com/office/drawing/2014/main" id="{C1D3F653-386A-497D-AFC9-40680BC4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CE73"/>
                </a:solidFill>
              </a:defRPr>
            </a:pPr>
            <a:r>
              <a:rPr sz="2700" b="1" i="0">
                <a:solidFill>
                  <a:srgbClr val="FFCE73"/>
                </a:solidFill>
              </a:rPr>
              <a:t>AI Ecosystem</a:t>
            </a:r>
          </a:p>
        </p:txBody>
      </p:sp>
      <p:sp>
        <p:nvSpPr>
          <p:cNvPr id="19" name="creator-programs-wearable-integrations-ai-gen">
            <a:extLst xmlns:a="http://schemas.openxmlformats.org/drawingml/2006/main">
              <a:ext uri="{FF2B5EF4-FFF2-40B4-BE49-F238E27FC236}">
                <a16:creationId xmlns:a16="http://schemas.microsoft.com/office/drawing/2014/main" id="{138119A8-8563-4FA5-92DA-EE4F90D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programs, wearable integrations, AI-generated content, and technical licensing.</a:t>
            </a:r>
          </a:p>
        </p:txBody>
      </p:sp>
    </p:spTree>
    <p:extLst>
      <p:ext uri="{BB962C8B-B14F-4D97-AF65-F5344CB8AC3E}">
        <p14:creationId xmlns:p14="http://schemas.microsoft.com/office/powerpoint/2010/main" val="3272045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74A68E9-D09E-40C7-9356-AF40B015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A36D9FC8-20BD-4861-9C86-AED84B7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F8E7612-4A0D-4037-A601-7E117EC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dedicated-philosophy">
            <a:extLst xmlns:a="http://schemas.openxmlformats.org/drawingml/2006/main">
              <a:ext uri="{FF2B5EF4-FFF2-40B4-BE49-F238E27FC236}">
                <a16:creationId xmlns:a16="http://schemas.microsoft.com/office/drawing/2014/main" id="{84A78B2C-6832-4C62-A97E-51D0AE2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2194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556D8-8482-4E76-80A1-0C8AF89F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1050"/>
            <a:ext cx="280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Dedicated Philosophy</a:t>
            </a:r>
          </a:p>
        </p:txBody>
      </p:sp>
      <p:sp>
        <p:nvSpPr>
          <p:cNvPr id="6" name="accessible-ai-philosophy">
            <a:extLst xmlns:a="http://schemas.openxmlformats.org/drawingml/2006/main">
              <a:ext uri="{FF2B5EF4-FFF2-40B4-BE49-F238E27FC236}">
                <a16:creationId xmlns:a16="http://schemas.microsoft.com/office/drawing/2014/main" id="{772C0F91-E1CB-4B14-B7DC-E66C26D8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6381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8F5EF"/>
                </a:solidFill>
              </a:defRPr>
            </a:pPr>
            <a:r>
              <a:rPr sz="4950" b="1" i="0">
                <a:solidFill>
                  <a:srgbClr val="F8F5EF"/>
                </a:solidFill>
              </a:rPr>
              <a:t>Accessible AI Philosophy</a:t>
            </a:r>
          </a:p>
        </p:txBody>
      </p:sp>
      <p:sp>
        <p:nvSpPr>
          <p:cNvPr id="7" name="ai-for-human-improvement-not-ai-for-exploitat">
            <a:extLst xmlns:a="http://schemas.openxmlformats.org/drawingml/2006/main">
              <a:ext uri="{FF2B5EF4-FFF2-40B4-BE49-F238E27FC236}">
                <a16:creationId xmlns:a16="http://schemas.microsoft.com/office/drawing/2014/main" id="{8EE70765-1939-406C-96A6-2288F51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7715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for human improvement. Not AI for exploitation.</a:t>
            </a:r>
          </a:p>
        </p:txBody>
      </p:sp>
      <p:sp>
        <p:nvSpPr>
          <p:cNvPr id="8" name="access-1">
            <a:extLst xmlns:a="http://schemas.openxmlformats.org/drawingml/2006/main">
              <a:ext uri="{FF2B5EF4-FFF2-40B4-BE49-F238E27FC236}">
                <a16:creationId xmlns:a16="http://schemas.microsoft.com/office/drawing/2014/main" id="{1847AD2B-C2E8-4628-9D4E-EEB782E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6190"/>
            <a:ext cx="53213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re-health-guidance-should-remain-accessible">
            <a:extLst xmlns:a="http://schemas.openxmlformats.org/drawingml/2006/main">
              <a:ext uri="{FF2B5EF4-FFF2-40B4-BE49-F238E27FC236}">
                <a16:creationId xmlns:a16="http://schemas.microsoft.com/office/drawing/2014/main" id="{22E68C3D-2F45-4DF5-8347-A63EE8F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4743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5EF"/>
                </a:solidFill>
              </a:defRPr>
            </a:pPr>
            <a:r>
              <a:rPr sz="2175" b="1" i="0">
                <a:solidFill>
                  <a:srgbClr val="F8F5EF"/>
                </a:solidFill>
              </a:rPr>
              <a:t>Core health guidance should remain accessible.</a:t>
            </a:r>
          </a:p>
        </p:txBody>
      </p:sp>
      <p:sp>
        <p:nvSpPr>
          <p:cNvPr id="10" name="access-2">
            <a:extLst xmlns:a="http://schemas.openxmlformats.org/drawingml/2006/main">
              <a:ext uri="{FF2B5EF4-FFF2-40B4-BE49-F238E27FC236}">
                <a16:creationId xmlns:a16="http://schemas.microsoft.com/office/drawing/2014/main" id="{EE77A028-70C5-4235-BDFE-F87C398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3806190"/>
            <a:ext cx="53213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-wellness-systems-should-not-be-hidden-behi">
            <a:extLst xmlns:a="http://schemas.openxmlformats.org/drawingml/2006/main">
              <a:ext uri="{FF2B5EF4-FFF2-40B4-BE49-F238E27FC236}">
                <a16:creationId xmlns:a16="http://schemas.microsoft.com/office/drawing/2014/main" id="{17BBC00E-C7F8-4419-A191-5CA5D7A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4743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5EF"/>
                </a:solidFill>
              </a:defRPr>
            </a:pPr>
            <a:r>
              <a:rPr sz="2175" b="1" i="0">
                <a:solidFill>
                  <a:srgbClr val="F8F5EF"/>
                </a:solidFill>
              </a:rPr>
              <a:t>AI wellness systems should not be hidden behind aggressive subscriptions.</a:t>
            </a:r>
          </a:p>
        </p:txBody>
      </p:sp>
      <p:sp>
        <p:nvSpPr>
          <p:cNvPr id="12" name="access-3">
            <a:extLst xmlns:a="http://schemas.openxmlformats.org/drawingml/2006/main">
              <a:ext uri="{FF2B5EF4-FFF2-40B4-BE49-F238E27FC236}">
                <a16:creationId xmlns:a16="http://schemas.microsoft.com/office/drawing/2014/main" id="{E73649A0-FBF2-45BE-A0FC-02E1417B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3806190"/>
            <a:ext cx="53213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scale-should-come-from-partnerships-innovatio">
            <a:extLst xmlns:a="http://schemas.openxmlformats.org/drawingml/2006/main">
              <a:ext uri="{FF2B5EF4-FFF2-40B4-BE49-F238E27FC236}">
                <a16:creationId xmlns:a16="http://schemas.microsoft.com/office/drawing/2014/main" id="{E01E866B-3E5C-4685-BC5B-B58B383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057650"/>
            <a:ext cx="47434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5EF"/>
                </a:solidFill>
              </a:defRPr>
            </a:pPr>
            <a:r>
              <a:rPr sz="2175" b="1" i="0">
                <a:solidFill>
                  <a:srgbClr val="F8F5EF"/>
                </a:solidFill>
              </a:rPr>
              <a:t>Scale should come from partnerships, innovation, infrastructure, and institutions.</a:t>
            </a:r>
          </a:p>
        </p:txBody>
      </p:sp>
      <p:sp>
        <p:nvSpPr>
          <p:cNvPr id="14" name="grindhaus-ai-aims-to-grow-through-ecosystem-p">
            <a:extLst xmlns:a="http://schemas.openxmlformats.org/drawingml/2006/main">
              <a:ext uri="{FF2B5EF4-FFF2-40B4-BE49-F238E27FC236}">
                <a16:creationId xmlns:a16="http://schemas.microsoft.com/office/drawing/2014/main" id="{BA7B0A04-4400-4426-A579-11C73B9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381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8C2B8"/>
                </a:solidFill>
              </a:defRPr>
            </a:pPr>
            <a:r>
              <a:rPr sz="2100" b="0" i="0">
                <a:solidFill>
                  <a:srgbClr val="C8C2B8"/>
                </a:solidFill>
              </a:rPr>
              <a:t>GrindHaus AI aims to grow through ecosystem partnerships, technical infrastructure, institutional collaboration, and responsible innovation.</a:t>
            </a:r>
          </a:p>
        </p:txBody>
      </p:sp>
    </p:spTree>
    <p:extLst>
      <p:ext uri="{BB962C8B-B14F-4D97-AF65-F5344CB8AC3E}">
        <p14:creationId xmlns:p14="http://schemas.microsoft.com/office/powerpoint/2010/main" val="7333103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FCB4FB8-D6CD-4787-BF02-E4D7E96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BDC8230F-FD5D-4E30-9A7D-7BAAC5BC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872809D-560E-4124-B73F-7F2D7950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FB9D111-A1D9-4EBF-AB49-DAC46E2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E9DF4806-5ACA-451F-9CED-1B4D35AF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ROADMAP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A1E137-E3DF-4D61-BC94-51A76B1E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772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realistic path from MVP to AI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771540-35DA-4314-9EB9-C66BD2C7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248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Each phase increases technical depth, user value, and institutional research potential.</a:t>
            </a:r>
          </a:p>
        </p:txBody>
      </p:sp>
      <p:sp>
        <p:nvSpPr>
          <p:cNvPr id="8" name="phase-chip-0">
            <a:extLst xmlns:a="http://schemas.openxmlformats.org/drawingml/2006/main">
              <a:ext uri="{FF2B5EF4-FFF2-40B4-BE49-F238E27FC236}">
                <a16:creationId xmlns:a16="http://schemas.microsoft.com/office/drawing/2014/main" id="{4C595684-9E87-4FCF-BCD6-462A05F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B315985E-7EB3-4E60-9C41-B7BF781A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1</a:t>
            </a:r>
          </a:p>
        </p:txBody>
      </p:sp>
      <p:sp>
        <p:nvSpPr>
          <p:cNvPr id="10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B37FBB7E-6583-4023-A384-34588670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1" name="frontend-platform">
            <a:extLst xmlns:a="http://schemas.openxmlformats.org/drawingml/2006/main">
              <a:ext uri="{FF2B5EF4-FFF2-40B4-BE49-F238E27FC236}">
                <a16:creationId xmlns:a16="http://schemas.microsoft.com/office/drawing/2014/main" id="{FC678C02-F903-49F5-9838-6ACC4E2B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Frontend Platform</a:t>
            </a:r>
          </a:p>
        </p:txBody>
      </p:sp>
      <p:sp>
        <p:nvSpPr>
          <p:cNvPr id="12" name="landing-routes-workout-nutrition-community-ui">
            <a:extLst xmlns:a="http://schemas.openxmlformats.org/drawingml/2006/main">
              <a:ext uri="{FF2B5EF4-FFF2-40B4-BE49-F238E27FC236}">
                <a16:creationId xmlns:a16="http://schemas.microsoft.com/office/drawing/2014/main" id="{1A3ACCCC-3702-4B88-A293-4E8CB914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Landing, routes, workout/nutrition/community UI, auth-ready product.</a:t>
            </a:r>
          </a:p>
        </p:txBody>
      </p:sp>
      <p:sp>
        <p:nvSpPr>
          <p:cNvPr id="13" name="phase-chip-1">
            <a:extLst xmlns:a="http://schemas.openxmlformats.org/drawingml/2006/main">
              <a:ext uri="{FF2B5EF4-FFF2-40B4-BE49-F238E27FC236}">
                <a16:creationId xmlns:a16="http://schemas.microsoft.com/office/drawing/2014/main" id="{A409058A-6069-45BB-91D5-9E0E883B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phase-2">
            <a:extLst xmlns:a="http://schemas.openxmlformats.org/drawingml/2006/main">
              <a:ext uri="{FF2B5EF4-FFF2-40B4-BE49-F238E27FC236}">
                <a16:creationId xmlns:a16="http://schemas.microsoft.com/office/drawing/2014/main" id="{BA5F37E2-1FB5-4319-AA1C-893328D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2</a:t>
            </a:r>
          </a:p>
        </p:txBody>
      </p:sp>
      <p:sp>
        <p:nvSpPr>
          <p:cNvPr id="15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5B013278-0DBD-4124-BEDC-0D6E5243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6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93D01724-CC08-4A4A-8610-9BA1435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006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AI Companion</a:t>
            </a:r>
          </a:p>
        </p:txBody>
      </p:sp>
      <p:sp>
        <p:nvSpPr>
          <p:cNvPr id="17" name="memory-chat-habit-tracking-reminders-dashboar">
            <a:extLst xmlns:a="http://schemas.openxmlformats.org/drawingml/2006/main">
              <a:ext uri="{FF2B5EF4-FFF2-40B4-BE49-F238E27FC236}">
                <a16:creationId xmlns:a16="http://schemas.microsoft.com/office/drawing/2014/main" id="{60EC019A-1A72-4606-90A6-D86347B3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Memory, chat, habit tracking, reminders, dashboard personalization.</a:t>
            </a:r>
          </a:p>
        </p:txBody>
      </p:sp>
      <p:sp>
        <p:nvSpPr>
          <p:cNvPr id="18" name="phase-chip-2">
            <a:extLst xmlns:a="http://schemas.openxmlformats.org/drawingml/2006/main">
              <a:ext uri="{FF2B5EF4-FFF2-40B4-BE49-F238E27FC236}">
                <a16:creationId xmlns:a16="http://schemas.microsoft.com/office/drawing/2014/main" id="{C41D4093-4920-407B-ADB2-DE74F15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9" name="phase-3">
            <a:extLst xmlns:a="http://schemas.openxmlformats.org/drawingml/2006/main">
              <a:ext uri="{FF2B5EF4-FFF2-40B4-BE49-F238E27FC236}">
                <a16:creationId xmlns:a16="http://schemas.microsoft.com/office/drawing/2014/main" id="{71C789F1-0EE2-4109-85EF-32B068F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43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3</a:t>
            </a:r>
          </a:p>
        </p:txBody>
      </p:sp>
      <p:sp>
        <p:nvSpPr>
          <p:cNvPr id="20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FB4179D6-C7C2-46E1-9CCC-EA55DDB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stom-model-research">
            <a:extLst xmlns:a="http://schemas.openxmlformats.org/drawingml/2006/main">
              <a:ext uri="{FF2B5EF4-FFF2-40B4-BE49-F238E27FC236}">
                <a16:creationId xmlns:a16="http://schemas.microsoft.com/office/drawing/2014/main" id="{C5E1F51C-E6BE-4C3D-B288-79C034D1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3627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Custom Model Research</a:t>
            </a:r>
          </a:p>
        </p:txBody>
      </p:sp>
      <p:sp>
        <p:nvSpPr>
          <p:cNvPr id="22" name="dataset-generation-dual-mode-routing-transfor">
            <a:extLst xmlns:a="http://schemas.openxmlformats.org/drawingml/2006/main">
              <a:ext uri="{FF2B5EF4-FFF2-40B4-BE49-F238E27FC236}">
                <a16:creationId xmlns:a16="http://schemas.microsoft.com/office/drawing/2014/main" id="{1CF51F06-1A0A-4C5E-9D13-B8524C2F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865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Dataset generation, dual-mode routing, transformer training experiments.</a:t>
            </a:r>
          </a:p>
        </p:txBody>
      </p:sp>
      <p:sp>
        <p:nvSpPr>
          <p:cNvPr id="23" name="phase-chip-3">
            <a:extLst xmlns:a="http://schemas.openxmlformats.org/drawingml/2006/main">
              <a:ext uri="{FF2B5EF4-FFF2-40B4-BE49-F238E27FC236}">
                <a16:creationId xmlns:a16="http://schemas.microsoft.com/office/drawing/2014/main" id="{07E9A5FB-1625-4F13-B7A1-7E60BEF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4" name="phase-4">
            <a:extLst xmlns:a="http://schemas.openxmlformats.org/drawingml/2006/main">
              <a:ext uri="{FF2B5EF4-FFF2-40B4-BE49-F238E27FC236}">
                <a16:creationId xmlns:a16="http://schemas.microsoft.com/office/drawing/2014/main" id="{A323A1F3-E955-4B39-8CFA-C1FEB50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057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4</a:t>
            </a:r>
          </a:p>
        </p:txBody>
      </p:sp>
      <p:sp>
        <p:nvSpPr>
          <p:cNvPr id="25" name="phase-card-3">
            <a:extLst xmlns:a="http://schemas.openxmlformats.org/drawingml/2006/main">
              <a:ext uri="{FF2B5EF4-FFF2-40B4-BE49-F238E27FC236}">
                <a16:creationId xmlns:a16="http://schemas.microsoft.com/office/drawing/2014/main" id="{33DC566C-DCCB-4AB7-B473-59C8EE5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771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video-ai-wearables">
            <a:extLst xmlns:a="http://schemas.openxmlformats.org/drawingml/2006/main">
              <a:ext uri="{FF2B5EF4-FFF2-40B4-BE49-F238E27FC236}">
                <a16:creationId xmlns:a16="http://schemas.microsoft.com/office/drawing/2014/main" id="{4A55958A-2C91-4CB4-92E1-85361909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5247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Video AI + Wearables</a:t>
            </a:r>
          </a:p>
        </p:txBody>
      </p:sp>
      <p:sp>
        <p:nvSpPr>
          <p:cNvPr id="27" name="form-analysis-generated-coaching-content-wear">
            <a:extLst xmlns:a="http://schemas.openxmlformats.org/drawingml/2006/main">
              <a:ext uri="{FF2B5EF4-FFF2-40B4-BE49-F238E27FC236}">
                <a16:creationId xmlns:a16="http://schemas.microsoft.com/office/drawing/2014/main" id="{1EE287B1-0483-4D27-82C9-A6DF873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5819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Form analysis, generated coaching content, wearable notification loops.</a:t>
            </a:r>
          </a:p>
        </p:txBody>
      </p:sp>
      <p:sp>
        <p:nvSpPr>
          <p:cNvPr id="28" name="phase-chip-4">
            <a:extLst xmlns:a="http://schemas.openxmlformats.org/drawingml/2006/main">
              <a:ext uri="{FF2B5EF4-FFF2-40B4-BE49-F238E27FC236}">
                <a16:creationId xmlns:a16="http://schemas.microsoft.com/office/drawing/2014/main" id="{A565DB2F-8AE9-4F36-9C1C-1BF3F55A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9" name="phase-5">
            <a:extLst xmlns:a="http://schemas.openxmlformats.org/drawingml/2006/main">
              <a:ext uri="{FF2B5EF4-FFF2-40B4-BE49-F238E27FC236}">
                <a16:creationId xmlns:a16="http://schemas.microsoft.com/office/drawing/2014/main" id="{6E96662B-2668-4BAD-ACAF-60376FC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677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5</a:t>
            </a:r>
          </a:p>
        </p:txBody>
      </p:sp>
      <p:sp>
        <p:nvSpPr>
          <p:cNvPr id="30" name="phase-card-4">
            <a:extLst xmlns:a="http://schemas.openxmlformats.org/drawingml/2006/main">
              <a:ext uri="{FF2B5EF4-FFF2-40B4-BE49-F238E27FC236}">
                <a16:creationId xmlns:a16="http://schemas.microsoft.com/office/drawing/2014/main" id="{3167C9D1-E5B9-4818-A491-0196840C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391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global-ecosystem">
            <a:extLst xmlns:a="http://schemas.openxmlformats.org/drawingml/2006/main">
              <a:ext uri="{FF2B5EF4-FFF2-40B4-BE49-F238E27FC236}">
                <a16:creationId xmlns:a16="http://schemas.microsoft.com/office/drawing/2014/main" id="{0FEA249D-95A5-4492-903E-3906530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6868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Global Ecosystem</a:t>
            </a:r>
          </a:p>
        </p:txBody>
      </p:sp>
      <p:sp>
        <p:nvSpPr>
          <p:cNvPr id="32" name="creator-marketplace-gym-partnerships-multilin">
            <a:extLst xmlns:a="http://schemas.openxmlformats.org/drawingml/2006/main">
              <a:ext uri="{FF2B5EF4-FFF2-40B4-BE49-F238E27FC236}">
                <a16:creationId xmlns:a16="http://schemas.microsoft.com/office/drawing/2014/main" id="{28109455-42B8-4275-BB65-D5B227E9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610600"/>
            <a:ext cx="670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marketplace, gym partnerships, multilingual AI, Indian AI export.</a:t>
            </a:r>
          </a:p>
        </p:txBody>
      </p:sp>
    </p:spTree>
    <p:extLst>
      <p:ext uri="{BB962C8B-B14F-4D97-AF65-F5344CB8AC3E}">
        <p14:creationId xmlns:p14="http://schemas.microsoft.com/office/powerpoint/2010/main" val="4356721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579E330-301E-4961-AC0A-4323A04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DF4A48BA-26C0-44F7-BEC0-ACC030CB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3B5C9F7-CD36-44CB-B403-DB7608E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AE552B16-B2DC-4F85-81BF-8119D841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E2EBE0C7-9346-487C-B861-9A628B1C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CIIIT SHOULD SUPPORT THIS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D3ACD0-1EC9-47B1-A53A-D22F15AB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4015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national-level AI product can start from Chandrapur.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35DDC1-7FAE-4105-8632-EAED669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1487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AI aligns with innovation, incubation, skill development, applied AI, and emerging technology infrastructure.</a:t>
            </a:r>
          </a:p>
        </p:txBody>
      </p:sp>
      <p:sp>
        <p:nvSpPr>
          <p:cNvPr id="8" name="ciiit-left">
            <a:extLst xmlns:a="http://schemas.openxmlformats.org/drawingml/2006/main">
              <a:ext uri="{FF2B5EF4-FFF2-40B4-BE49-F238E27FC236}">
                <a16:creationId xmlns:a16="http://schemas.microsoft.com/office/drawing/2014/main" id="{58C95CA7-51E0-4A3C-BBC3-3DD7BB76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institutional-fit">
            <a:extLst xmlns:a="http://schemas.openxmlformats.org/drawingml/2006/main">
              <a:ext uri="{FF2B5EF4-FFF2-40B4-BE49-F238E27FC236}">
                <a16:creationId xmlns:a16="http://schemas.microsoft.com/office/drawing/2014/main" id="{DBA7CAA0-2496-4C49-8E66-7806124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8F5EF"/>
                </a:solidFill>
              </a:defRPr>
            </a:pPr>
            <a:r>
              <a:rPr sz="3750" b="1" i="0">
                <a:solidFill>
                  <a:srgbClr val="F8F5EF"/>
                </a:solidFill>
              </a:rPr>
              <a:t>Institutional Fit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DE4705C-6353-4D1B-B34D-BFF58F7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602D94E7-21F7-4402-99A7-F5FE18C9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Student-led innovation with startup potential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F768AE2-2C8D-42AE-9CAE-FBEE127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697BC8CE-7DD5-4134-8C81-4D294D37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research and model development pathway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7921268-9F4D-41FE-AD3B-0980A22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5088749B-6DCE-443E-A0BE-41D57309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Hands-on full-stack engineering project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FE657AF-201F-4B06-8B4E-7DFC23AF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19B68602-ECBC-41D9-8F26-D0567ED7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Public-private innovation alignment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1819C8AB-2FC0-4ED0-B9B6-7050F34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bullet-4">
            <a:extLst xmlns:a="http://schemas.openxmlformats.org/drawingml/2006/main">
              <a:ext uri="{FF2B5EF4-FFF2-40B4-BE49-F238E27FC236}">
                <a16:creationId xmlns:a16="http://schemas.microsoft.com/office/drawing/2014/main" id="{95907771-A0F8-42C3-B0D7-1630F07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Potential for internships, training, and student participation</a:t>
            </a:r>
          </a:p>
        </p:txBody>
      </p:sp>
      <p:sp>
        <p:nvSpPr>
          <p:cNvPr id="20" name="ciiit-right">
            <a:extLst xmlns:a="http://schemas.openxmlformats.org/drawingml/2006/main">
              <a:ext uri="{FF2B5EF4-FFF2-40B4-BE49-F238E27FC236}">
                <a16:creationId xmlns:a16="http://schemas.microsoft.com/office/drawing/2014/main" id="{695CAEBA-53C2-4EB0-B018-9A48773F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21" name="ciiit-value-creation">
            <a:extLst xmlns:a="http://schemas.openxmlformats.org/drawingml/2006/main">
              <a:ext uri="{FF2B5EF4-FFF2-40B4-BE49-F238E27FC236}">
                <a16:creationId xmlns:a16="http://schemas.microsoft.com/office/drawing/2014/main" id="{3934903A-5243-4E16-871D-98818E04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CIIIT Value Creation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9D0DBE6-48D1-4CB1-899B-D175A45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88FF986F-CFC2-4F95-BF36-5DAE10A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Showcase AI incubation from GCOE Chandrapur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5C8B0C1-748C-4390-80AC-4B1CDA36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EFE6B87F-9F56-4471-9D13-BB827C7D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Create a local technical talent pipeline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1CC62ED-15F8-4B07-AB15-F18FE1F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65F3089A-88CA-4541-ADCD-40C1495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 GPU/infrastructure for applied AI research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02F2296-9238-43E8-8533-E940C6D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EF62E2D6-C25F-4CC5-831C-01F0CED0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Build a product that can represent regional innovation nationally</a:t>
            </a:r>
          </a:p>
        </p:txBody>
      </p:sp>
      <p:sp>
        <p:nvSpPr>
          <p:cNvPr id="30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5D56C1F9-FABF-4848-8738-C62119B5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4">
            <a:extLst xmlns:a="http://schemas.openxmlformats.org/drawingml/2006/main">
              <a:ext uri="{FF2B5EF4-FFF2-40B4-BE49-F238E27FC236}">
                <a16:creationId xmlns:a16="http://schemas.microsoft.com/office/drawing/2014/main" id="{3F9FEDD8-1744-479F-9CA1-EA6BA6C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Connect academia, government, and startup execution</a:t>
            </a:r>
          </a:p>
        </p:txBody>
      </p:sp>
    </p:spTree>
    <p:extLst>
      <p:ext uri="{BB962C8B-B14F-4D97-AF65-F5344CB8AC3E}">
        <p14:creationId xmlns:p14="http://schemas.microsoft.com/office/powerpoint/2010/main" val="11715362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7DB3225-CDAD-4805-93F5-0D2B72B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1C1DB664-36A9-4B30-8450-B01FB1F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7D7B74C-A053-4DD4-AAD6-86E736B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F1CC37B3-2253-4E82-888B-9F0A77EC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6C3C245-698C-4B1B-B3D4-DD79D78D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WHAT WE NEED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3D1C23-CC83-4F1E-B891-4C3D4FC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192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Support that converts a strong MVP into a scalable AI venture.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8737E9-2B55-4B50-9AC5-A9FC6F81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ask is practical: infrastructure, mentorship, incubation, and technical guidance.</a:t>
            </a:r>
          </a:p>
        </p:txBody>
      </p:sp>
      <p:sp>
        <p:nvSpPr>
          <p:cNvPr id="8" name="need-gpu">
            <a:extLst xmlns:a="http://schemas.openxmlformats.org/drawingml/2006/main">
              <a:ext uri="{FF2B5EF4-FFF2-40B4-BE49-F238E27FC236}">
                <a16:creationId xmlns:a16="http://schemas.microsoft.com/office/drawing/2014/main" id="{3C234CE1-006F-4AF7-AC86-EAED0AE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gpu-systems">
            <a:extLst xmlns:a="http://schemas.openxmlformats.org/drawingml/2006/main">
              <a:ext uri="{FF2B5EF4-FFF2-40B4-BE49-F238E27FC236}">
                <a16:creationId xmlns:a16="http://schemas.microsoft.com/office/drawing/2014/main" id="{1DA01ADE-773B-43B1-9591-E125DC7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GPU Systems</a:t>
            </a:r>
          </a:p>
        </p:txBody>
      </p:sp>
      <p:sp>
        <p:nvSpPr>
          <p:cNvPr id="10" name="high-end-gpu-access-for-model-training-local-">
            <a:extLst xmlns:a="http://schemas.openxmlformats.org/drawingml/2006/main">
              <a:ext uri="{FF2B5EF4-FFF2-40B4-BE49-F238E27FC236}">
                <a16:creationId xmlns:a16="http://schemas.microsoft.com/office/drawing/2014/main" id="{52248CD5-D735-4634-8CEB-C73C26BC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High-end GPU access for model training, local inference tests, and AI video experiments.</a:t>
            </a:r>
          </a:p>
        </p:txBody>
      </p:sp>
      <p:sp>
        <p:nvSpPr>
          <p:cNvPr id="11" name="need-incubation">
            <a:extLst xmlns:a="http://schemas.openxmlformats.org/drawingml/2006/main">
              <a:ext uri="{FF2B5EF4-FFF2-40B4-BE49-F238E27FC236}">
                <a16:creationId xmlns:a16="http://schemas.microsoft.com/office/drawing/2014/main" id="{03177537-6575-44AA-8C46-B7E4470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incubation">
            <a:extLst xmlns:a="http://schemas.openxmlformats.org/drawingml/2006/main">
              <a:ext uri="{FF2B5EF4-FFF2-40B4-BE49-F238E27FC236}">
                <a16:creationId xmlns:a16="http://schemas.microsoft.com/office/drawing/2014/main" id="{3897E14F-BF76-4887-A65B-922A420B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Incubation</a:t>
            </a:r>
          </a:p>
        </p:txBody>
      </p:sp>
      <p:sp>
        <p:nvSpPr>
          <p:cNvPr id="13" name="workspace-structure-founder-guidance-product-">
            <a:extLst xmlns:a="http://schemas.openxmlformats.org/drawingml/2006/main">
              <a:ext uri="{FF2B5EF4-FFF2-40B4-BE49-F238E27FC236}">
                <a16:creationId xmlns:a16="http://schemas.microsoft.com/office/drawing/2014/main" id="{668F0D7E-3CE8-4CAF-B5EA-CB21705E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Workspace, structure, founder guidance, product reviews, and investor readiness.</a:t>
            </a:r>
          </a:p>
        </p:txBody>
      </p:sp>
      <p:sp>
        <p:nvSpPr>
          <p:cNvPr id="14" name="need-mentors">
            <a:extLst xmlns:a="http://schemas.openxmlformats.org/drawingml/2006/main">
              <a:ext uri="{FF2B5EF4-FFF2-40B4-BE49-F238E27FC236}">
                <a16:creationId xmlns:a16="http://schemas.microsoft.com/office/drawing/2014/main" id="{15FCDF00-0113-47FF-8E02-B1EBDA5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mentorship">
            <a:extLst xmlns:a="http://schemas.openxmlformats.org/drawingml/2006/main">
              <a:ext uri="{FF2B5EF4-FFF2-40B4-BE49-F238E27FC236}">
                <a16:creationId xmlns:a16="http://schemas.microsoft.com/office/drawing/2014/main" id="{1214091A-83BA-4033-8C3D-62FE1BF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Mentorship</a:t>
            </a:r>
          </a:p>
        </p:txBody>
      </p:sp>
      <p:sp>
        <p:nvSpPr>
          <p:cNvPr id="16" name="ai-healthcare-fitness-startup-legal-and-busin">
            <a:extLst xmlns:a="http://schemas.openxmlformats.org/drawingml/2006/main">
              <a:ext uri="{FF2B5EF4-FFF2-40B4-BE49-F238E27FC236}">
                <a16:creationId xmlns:a16="http://schemas.microsoft.com/office/drawing/2014/main" id="{E83D9A69-FA55-49D9-9432-6E2A18E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AI, healthcare, fitness, startup, legal, and business model mentorship.</a:t>
            </a:r>
          </a:p>
        </p:txBody>
      </p:sp>
      <p:sp>
        <p:nvSpPr>
          <p:cNvPr id="17" name="need-research">
            <a:extLst xmlns:a="http://schemas.openxmlformats.org/drawingml/2006/main">
              <a:ext uri="{FF2B5EF4-FFF2-40B4-BE49-F238E27FC236}">
                <a16:creationId xmlns:a16="http://schemas.microsoft.com/office/drawing/2014/main" id="{DDA93C2F-7C3B-4D5E-8FD8-085A749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research-ecosystem">
            <a:extLst xmlns:a="http://schemas.openxmlformats.org/drawingml/2006/main">
              <a:ext uri="{FF2B5EF4-FFF2-40B4-BE49-F238E27FC236}">
                <a16:creationId xmlns:a16="http://schemas.microsoft.com/office/drawing/2014/main" id="{8E223977-0C35-47B5-BD8B-4B37D53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Research Ecosystem</a:t>
            </a:r>
          </a:p>
        </p:txBody>
      </p:sp>
      <p:sp>
        <p:nvSpPr>
          <p:cNvPr id="19" name="faculty-guidance-student-research-groups-data">
            <a:extLst xmlns:a="http://schemas.openxmlformats.org/drawingml/2006/main">
              <a:ext uri="{FF2B5EF4-FFF2-40B4-BE49-F238E27FC236}">
                <a16:creationId xmlns:a16="http://schemas.microsoft.com/office/drawing/2014/main" id="{A8DAE611-A041-4400-A81F-5FDDC2C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Faculty guidance, student research groups, dataset work, and responsible AI validation.</a:t>
            </a:r>
          </a:p>
        </p:txBody>
      </p:sp>
      <p:sp>
        <p:nvSpPr>
          <p:cNvPr id="20" name="need-cloud">
            <a:extLst xmlns:a="http://schemas.openxmlformats.org/drawingml/2006/main">
              <a:ext uri="{FF2B5EF4-FFF2-40B4-BE49-F238E27FC236}">
                <a16:creationId xmlns:a16="http://schemas.microsoft.com/office/drawing/2014/main" id="{609D417D-1991-4C44-8BF6-63459F0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infrastructure">
            <a:extLst xmlns:a="http://schemas.openxmlformats.org/drawingml/2006/main">
              <a:ext uri="{FF2B5EF4-FFF2-40B4-BE49-F238E27FC236}">
                <a16:creationId xmlns:a16="http://schemas.microsoft.com/office/drawing/2014/main" id="{90ADA7C0-2290-41B2-8FDD-99522BA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Infrastructure</a:t>
            </a:r>
          </a:p>
        </p:txBody>
      </p:sp>
      <p:sp>
        <p:nvSpPr>
          <p:cNvPr id="22" name="deployment-support-testing-monitoring-databas">
            <a:extLst xmlns:a="http://schemas.openxmlformats.org/drawingml/2006/main">
              <a:ext uri="{FF2B5EF4-FFF2-40B4-BE49-F238E27FC236}">
                <a16:creationId xmlns:a16="http://schemas.microsoft.com/office/drawing/2014/main" id="{F2E2CB6D-D007-4402-9AC8-E63F6E8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Deployment support, testing, monitoring, databases, security, and scaling architecture.</a:t>
            </a:r>
          </a:p>
        </p:txBody>
      </p:sp>
      <p:sp>
        <p:nvSpPr>
          <p:cNvPr id="23" name="need-network">
            <a:extLst xmlns:a="http://schemas.openxmlformats.org/drawingml/2006/main">
              <a:ext uri="{FF2B5EF4-FFF2-40B4-BE49-F238E27FC236}">
                <a16:creationId xmlns:a16="http://schemas.microsoft.com/office/drawing/2014/main" id="{93E23347-ECAB-44F1-B897-71E5DBEC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partnerships">
            <a:extLst xmlns:a="http://schemas.openxmlformats.org/drawingml/2006/main">
              <a:ext uri="{FF2B5EF4-FFF2-40B4-BE49-F238E27FC236}">
                <a16:creationId xmlns:a16="http://schemas.microsoft.com/office/drawing/2014/main" id="{6E1E8BA1-3122-414B-BB1C-84C7FF4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Partnerships</a:t>
            </a:r>
          </a:p>
        </p:txBody>
      </p:sp>
      <p:sp>
        <p:nvSpPr>
          <p:cNvPr id="25" name="gyms-colleges-sports-clubs-health-programs-an">
            <a:extLst xmlns:a="http://schemas.openxmlformats.org/drawingml/2006/main">
              <a:ext uri="{FF2B5EF4-FFF2-40B4-BE49-F238E27FC236}">
                <a16:creationId xmlns:a16="http://schemas.microsoft.com/office/drawing/2014/main" id="{63324008-EAC4-4F59-85F8-7372385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Gyms, colleges, sports clubs, health programs, and early user pilots.</a:t>
            </a:r>
          </a:p>
        </p:txBody>
      </p:sp>
    </p:spTree>
    <p:extLst>
      <p:ext uri="{BB962C8B-B14F-4D97-AF65-F5344CB8AC3E}">
        <p14:creationId xmlns:p14="http://schemas.microsoft.com/office/powerpoint/2010/main" val="2910382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EC98371-F16F-4065-B351-398DEC8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326828E-B0A7-447B-9BFE-27DA491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4AC4341-AD78-45E1-92E5-9C7F4015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79C77EC6-76B6-4ECB-B9B8-3DACE0A1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4CA6FE48-7F6B-423C-85A8-4A40BE0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LONG-TERM IMPACT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3E39C3-783D-4A8E-9CF5-3A2E409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303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platform that improves people and builds AI capability.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CA7E71-C5A0-4025-9BAF-1E4193F4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744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impact extends beyond users into students, institutions, local innovation, and India's AI product ecosystem.</a:t>
            </a:r>
          </a:p>
        </p:txBody>
      </p:sp>
      <p:sp>
        <p:nvSpPr>
          <p:cNvPr id="8" name="impact-health">
            <a:extLst xmlns:a="http://schemas.openxmlformats.org/drawingml/2006/main">
              <a:ext uri="{FF2B5EF4-FFF2-40B4-BE49-F238E27FC236}">
                <a16:creationId xmlns:a16="http://schemas.microsoft.com/office/drawing/2014/main" id="{4569C7DE-C007-4D68-AF42-723CBFD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health-transformation">
            <a:extLst xmlns:a="http://schemas.openxmlformats.org/drawingml/2006/main">
              <a:ext uri="{FF2B5EF4-FFF2-40B4-BE49-F238E27FC236}">
                <a16:creationId xmlns:a16="http://schemas.microsoft.com/office/drawing/2014/main" id="{E42B34BA-C1FD-402B-BA0C-BF2F4C0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Health Transformation</a:t>
            </a:r>
          </a:p>
        </p:txBody>
      </p:sp>
      <p:sp>
        <p:nvSpPr>
          <p:cNvPr id="10" name="better-consistency-habits-strength-nutrition-">
            <a:extLst xmlns:a="http://schemas.openxmlformats.org/drawingml/2006/main">
              <a:ext uri="{FF2B5EF4-FFF2-40B4-BE49-F238E27FC236}">
                <a16:creationId xmlns:a16="http://schemas.microsoft.com/office/drawing/2014/main" id="{C282EFC7-812F-48CC-913B-3115E61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Better consistency, habits, strength, nutrition, and self-belief.</a:t>
            </a:r>
          </a:p>
        </p:txBody>
      </p:sp>
      <p:sp>
        <p:nvSpPr>
          <p:cNvPr id="11" name="impact-ai">
            <a:extLst xmlns:a="http://schemas.openxmlformats.org/drawingml/2006/main">
              <a:ext uri="{FF2B5EF4-FFF2-40B4-BE49-F238E27FC236}">
                <a16:creationId xmlns:a16="http://schemas.microsoft.com/office/drawing/2014/main" id="{E4FBF0BD-091D-4937-9CCE-5B451B2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ai-research">
            <a:extLst xmlns:a="http://schemas.openxmlformats.org/drawingml/2006/main">
              <a:ext uri="{FF2B5EF4-FFF2-40B4-BE49-F238E27FC236}">
                <a16:creationId xmlns:a16="http://schemas.microsoft.com/office/drawing/2014/main" id="{75BA5299-96E3-4F0F-A99F-5A7B3D98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AI Research</a:t>
            </a:r>
          </a:p>
        </p:txBody>
      </p:sp>
      <p:sp>
        <p:nvSpPr>
          <p:cNvPr id="13" name="applied-model-training-routing-memory-systems">
            <a:extLst xmlns:a="http://schemas.openxmlformats.org/drawingml/2006/main">
              <a:ext uri="{FF2B5EF4-FFF2-40B4-BE49-F238E27FC236}">
                <a16:creationId xmlns:a16="http://schemas.microsoft.com/office/drawing/2014/main" id="{577F26D8-D976-4FB1-99F1-4841BA5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Applied model training, routing, memory systems, and local inference research.</a:t>
            </a:r>
          </a:p>
        </p:txBody>
      </p:sp>
      <p:sp>
        <p:nvSpPr>
          <p:cNvPr id="14" name="impact-students">
            <a:extLst xmlns:a="http://schemas.openxmlformats.org/drawingml/2006/main">
              <a:ext uri="{FF2B5EF4-FFF2-40B4-BE49-F238E27FC236}">
                <a16:creationId xmlns:a16="http://schemas.microsoft.com/office/drawing/2014/main" id="{2F779EE5-7474-4F98-80CB-E5FB66A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student-opportunities">
            <a:extLst xmlns:a="http://schemas.openxmlformats.org/drawingml/2006/main">
              <a:ext uri="{FF2B5EF4-FFF2-40B4-BE49-F238E27FC236}">
                <a16:creationId xmlns:a16="http://schemas.microsoft.com/office/drawing/2014/main" id="{3196016C-B037-4721-9547-A399CDC7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Student Opportunities</a:t>
            </a:r>
          </a:p>
        </p:txBody>
      </p:sp>
      <p:sp>
        <p:nvSpPr>
          <p:cNvPr id="16" name="internships-open-projects-startup-learning-an">
            <a:extLst xmlns:a="http://schemas.openxmlformats.org/drawingml/2006/main">
              <a:ext uri="{FF2B5EF4-FFF2-40B4-BE49-F238E27FC236}">
                <a16:creationId xmlns:a16="http://schemas.microsoft.com/office/drawing/2014/main" id="{C637E5DB-8136-4D80-B003-CCE2A15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Internships, open projects, startup learning, and technical upskilling.</a:t>
            </a:r>
          </a:p>
        </p:txBody>
      </p:sp>
      <p:sp>
        <p:nvSpPr>
          <p:cNvPr id="17" name="impact-india">
            <a:extLst xmlns:a="http://schemas.openxmlformats.org/drawingml/2006/main">
              <a:ext uri="{FF2B5EF4-FFF2-40B4-BE49-F238E27FC236}">
                <a16:creationId xmlns:a16="http://schemas.microsoft.com/office/drawing/2014/main" id="{3BA67AD0-4CB3-412B-89D2-0CAAADB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n-ai-product">
            <a:extLst xmlns:a="http://schemas.openxmlformats.org/drawingml/2006/main">
              <a:ext uri="{FF2B5EF4-FFF2-40B4-BE49-F238E27FC236}">
                <a16:creationId xmlns:a16="http://schemas.microsoft.com/office/drawing/2014/main" id="{3D26E565-55EF-4D08-A5E3-0C6B8F8B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Indian AI Product</a:t>
            </a:r>
          </a:p>
        </p:txBody>
      </p:sp>
      <p:sp>
        <p:nvSpPr>
          <p:cNvPr id="19" name="a-global-product-narrative-built-from-a-regio">
            <a:extLst xmlns:a="http://schemas.openxmlformats.org/drawingml/2006/main">
              <a:ext uri="{FF2B5EF4-FFF2-40B4-BE49-F238E27FC236}">
                <a16:creationId xmlns:a16="http://schemas.microsoft.com/office/drawing/2014/main" id="{6A33D296-9F4F-46B6-91AB-699BAC3C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global product narrative built from a regional innovation ecosystem.</a:t>
            </a:r>
          </a:p>
        </p:txBody>
      </p:sp>
    </p:spTree>
    <p:extLst>
      <p:ext uri="{BB962C8B-B14F-4D97-AF65-F5344CB8AC3E}">
        <p14:creationId xmlns:p14="http://schemas.microsoft.com/office/powerpoint/2010/main" val="208398088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CBCCC96-8985-4A38-BA68-38EF8376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5269028-8BD1-4326-91DF-55E4864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B2A4865-BB8F-4005-A1C4-1439B4B4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F1DC5A9F-2243-41E2-BA72-6EC5418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8387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5" name="closing-sub">
            <a:extLst xmlns:a="http://schemas.openxmlformats.org/drawingml/2006/main">
              <a:ext uri="{FF2B5EF4-FFF2-40B4-BE49-F238E27FC236}">
                <a16:creationId xmlns:a16="http://schemas.microsoft.com/office/drawing/2014/main" id="{4BBED970-CBCE-4D8A-9E36-414496C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741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6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C6312075-7023-41D6-8B2D-087E1850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8C2B8"/>
                </a:solidFill>
              </a:defRPr>
            </a:pPr>
            <a:r>
              <a:rPr sz="2175" b="0" i="0">
                <a:solidFill>
                  <a:srgbClr val="C8C2B8"/>
                </a:solidFill>
              </a:rPr>
              <a:t>We are building AI that helps people become stronger, healthier, more consistent, and more capable.</a:t>
            </a:r>
          </a:p>
        </p:txBody>
      </p:sp>
      <p:sp>
        <p:nvSpPr>
          <p:cNvPr id="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C95F2FCB-76A0-4E91-9EA1-F64D28DB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25590"/>
            <a:ext cx="9906000" cy="830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8" name="built-in-chandrapur-designed-for-the-world-">
            <a:extLst xmlns:a="http://schemas.openxmlformats.org/drawingml/2006/main">
              <a:ext uri="{FF2B5EF4-FFF2-40B4-BE49-F238E27FC236}">
                <a16:creationId xmlns:a16="http://schemas.microsoft.com/office/drawing/2014/main" id="{43F23A31-439C-4DD1-AF2A-0A8CD28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38950"/>
            <a:ext cx="904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8F5EF"/>
                </a:solidFill>
              </a:defRPr>
            </a:pPr>
            <a:r>
              <a:rPr sz="2700" b="1" i="0">
                <a:solidFill>
                  <a:srgbClr val="F8F5EF"/>
                </a:solidFill>
              </a:rPr>
              <a:t>Built in Chandrapur. Designed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842747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2026-05-20T17:48:19.9420000Z</dcterms:created>
  <dcterms:modified xsi:type="dcterms:W3CDTF">2026-05-20T17:48:19.9420000Z</dcterms:modified>
</coreProperties>
</file>