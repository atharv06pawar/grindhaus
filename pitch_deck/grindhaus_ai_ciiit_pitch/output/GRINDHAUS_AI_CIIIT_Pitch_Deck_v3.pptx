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9574beeb34dd4" /><Relationship Type="http://schemas.openxmlformats.org/officeDocument/2006/relationships/extended-properties" Target="/docProps/app.xml" Id="R68ca52a62114431a" /><Relationship Type="http://schemas.openxmlformats.org/officeDocument/2006/relationships/officeDocument" Target="/ppt/presentation.xml" Id="R848d3fcab0e1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60bc59f5a348d3"/>
  </p:sldMasterIdLst>
  <p:notesMasterIdLst>
    <p:notesMasterId xmlns:r="http://schemas.openxmlformats.org/officeDocument/2006/relationships" r:id="Rd492d56a135a4701"/>
  </p:notesMasterIdLst>
  <p:sldIdLst>
    <p:sldId xmlns:r="http://schemas.openxmlformats.org/officeDocument/2006/relationships" id="256" r:id="R6b8c0563f6c047a4"/>
    <p:sldId xmlns:r="http://schemas.openxmlformats.org/officeDocument/2006/relationships" id="257" r:id="R5e66f6520ed4470a"/>
    <p:sldId xmlns:r="http://schemas.openxmlformats.org/officeDocument/2006/relationships" id="258" r:id="R3ea1ba57d2a14ecf"/>
    <p:sldId xmlns:r="http://schemas.openxmlformats.org/officeDocument/2006/relationships" id="259" r:id="R73cd8a8a25de4c0d"/>
    <p:sldId xmlns:r="http://schemas.openxmlformats.org/officeDocument/2006/relationships" id="260" r:id="R06decbafcdee4834"/>
    <p:sldId xmlns:r="http://schemas.openxmlformats.org/officeDocument/2006/relationships" id="261" r:id="R83b3b106c8594926"/>
    <p:sldId xmlns:r="http://schemas.openxmlformats.org/officeDocument/2006/relationships" id="262" r:id="Rd9135752aa4642b6"/>
    <p:sldId xmlns:r="http://schemas.openxmlformats.org/officeDocument/2006/relationships" id="263" r:id="R045adb4e038b4389"/>
    <p:sldId xmlns:r="http://schemas.openxmlformats.org/officeDocument/2006/relationships" id="264" r:id="Ra8f6a426759342ba"/>
    <p:sldId xmlns:r="http://schemas.openxmlformats.org/officeDocument/2006/relationships" id="265" r:id="Rc375700ad0104dee"/>
    <p:sldId xmlns:r="http://schemas.openxmlformats.org/officeDocument/2006/relationships" id="266" r:id="Raaab3ff440f442cb"/>
    <p:sldId xmlns:r="http://schemas.openxmlformats.org/officeDocument/2006/relationships" id="267" r:id="R91bdbf14bfc74740"/>
    <p:sldId xmlns:r="http://schemas.openxmlformats.org/officeDocument/2006/relationships" id="268" r:id="Rc0297512402e4917"/>
    <p:sldId xmlns:r="http://schemas.openxmlformats.org/officeDocument/2006/relationships" id="269" r:id="R2fff784decc24028"/>
    <p:sldId xmlns:r="http://schemas.openxmlformats.org/officeDocument/2006/relationships" id="270" r:id="R322d1774e7054f22"/>
    <p:sldId xmlns:r="http://schemas.openxmlformats.org/officeDocument/2006/relationships" id="271" r:id="Reb237343aedd4c8c"/>
    <p:sldId xmlns:r="http://schemas.openxmlformats.org/officeDocument/2006/relationships" id="272" r:id="Re8341361b58d46f5"/>
    <p:sldId xmlns:r="http://schemas.openxmlformats.org/officeDocument/2006/relationships" id="273" r:id="R3e33061eaa004c07"/>
    <p:sldId xmlns:r="http://schemas.openxmlformats.org/officeDocument/2006/relationships" id="274" r:id="R8243bf2752aa46b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0bc59f5a348d3" /><Relationship Type="http://schemas.openxmlformats.org/officeDocument/2006/relationships/theme" Target="/ppt/theme/theme1.xml" Id="R4900061b75c748ae" /><Relationship Type="http://schemas.openxmlformats.org/officeDocument/2006/relationships/notesMaster" Target="/ppt/notesMasters/notesMaster1.xml" Id="Rd492d56a135a4701" /><Relationship Type="http://schemas.openxmlformats.org/officeDocument/2006/relationships/presProps" Target="/ppt/presProps.xml" Id="Rb92392e634304750" /><Relationship Type="http://schemas.openxmlformats.org/officeDocument/2006/relationships/viewProps" Target="/ppt/viewProps.xml" Id="R2e71a20970ca4721" /><Relationship Type="http://schemas.openxmlformats.org/officeDocument/2006/relationships/tableStyles" Target="/ppt/tableStyles.xml" Id="R9a681e8549bb4e8f" /><Relationship Type="http://schemas.openxmlformats.org/officeDocument/2006/relationships/slide" Target="/ppt/slides/slide1.xml" Id="R6b8c0563f6c047a4" /><Relationship Type="http://schemas.openxmlformats.org/officeDocument/2006/relationships/slide" Target="/ppt/slides/slide2.xml" Id="R5e66f6520ed4470a" /><Relationship Type="http://schemas.openxmlformats.org/officeDocument/2006/relationships/slide" Target="/ppt/slides/slide3.xml" Id="R3ea1ba57d2a14ecf" /><Relationship Type="http://schemas.openxmlformats.org/officeDocument/2006/relationships/slide" Target="/ppt/slides/slide4.xml" Id="R73cd8a8a25de4c0d" /><Relationship Type="http://schemas.openxmlformats.org/officeDocument/2006/relationships/slide" Target="/ppt/slides/slide5.xml" Id="R06decbafcdee4834" /><Relationship Type="http://schemas.openxmlformats.org/officeDocument/2006/relationships/slide" Target="/ppt/slides/slide6.xml" Id="R83b3b106c8594926" /><Relationship Type="http://schemas.openxmlformats.org/officeDocument/2006/relationships/slide" Target="/ppt/slides/slide7.xml" Id="Rd9135752aa4642b6" /><Relationship Type="http://schemas.openxmlformats.org/officeDocument/2006/relationships/slide" Target="/ppt/slides/slide8.xml" Id="R045adb4e038b4389" /><Relationship Type="http://schemas.openxmlformats.org/officeDocument/2006/relationships/slide" Target="/ppt/slides/slide9.xml" Id="Ra8f6a426759342ba" /><Relationship Type="http://schemas.openxmlformats.org/officeDocument/2006/relationships/slide" Target="/ppt/slides/slide10.xml" Id="Rc375700ad0104dee" /><Relationship Type="http://schemas.openxmlformats.org/officeDocument/2006/relationships/slide" Target="/ppt/slides/slide11.xml" Id="Raaab3ff440f442cb" /><Relationship Type="http://schemas.openxmlformats.org/officeDocument/2006/relationships/slide" Target="/ppt/slides/slide12.xml" Id="R91bdbf14bfc74740" /><Relationship Type="http://schemas.openxmlformats.org/officeDocument/2006/relationships/slide" Target="/ppt/slides/slide13.xml" Id="Rc0297512402e4917" /><Relationship Type="http://schemas.openxmlformats.org/officeDocument/2006/relationships/slide" Target="/ppt/slides/slide14.xml" Id="R2fff784decc24028" /><Relationship Type="http://schemas.openxmlformats.org/officeDocument/2006/relationships/slide" Target="/ppt/slides/slide15.xml" Id="R322d1774e7054f22" /><Relationship Type="http://schemas.openxmlformats.org/officeDocument/2006/relationships/slide" Target="/ppt/slides/slide16.xml" Id="Reb237343aedd4c8c" /><Relationship Type="http://schemas.openxmlformats.org/officeDocument/2006/relationships/slide" Target="/ppt/slides/slide17.xml" Id="Re8341361b58d46f5" /><Relationship Type="http://schemas.openxmlformats.org/officeDocument/2006/relationships/slide" Target="/ppt/slides/slide18.xml" Id="R3e33061eaa004c07" /><Relationship Type="http://schemas.openxmlformats.org/officeDocument/2006/relationships/slide" Target="/ppt/slides/slide19.xml" Id="R8243bf2752aa46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d9a5a929c2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adb31eceee41bc" /><Relationship Type="http://schemas.openxmlformats.org/officeDocument/2006/relationships/notesMaster" Target="/ppt/notesMasters/notesMaster1.xml" Id="R5102d4dfcc7c41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8e69c2fc6e47a1" /><Relationship Type="http://schemas.openxmlformats.org/officeDocument/2006/relationships/notesMaster" Target="/ppt/notesMasters/notesMaster1.xml" Id="R9e5117eee9c8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d1f35afc7c4a14" /><Relationship Type="http://schemas.openxmlformats.org/officeDocument/2006/relationships/notesMaster" Target="/ppt/notesMasters/notesMaster1.xml" Id="R0178068e5fad40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08dda2e114f14" /><Relationship Type="http://schemas.openxmlformats.org/officeDocument/2006/relationships/notesMaster" Target="/ppt/notesMasters/notesMaster1.xml" Id="Rbdf6efafa291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a66f97cb9e4a5c" /><Relationship Type="http://schemas.openxmlformats.org/officeDocument/2006/relationships/notesMaster" Target="/ppt/notesMasters/notesMaster1.xml" Id="R08e1ba6e5cf241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a7867ab59481a" /><Relationship Type="http://schemas.openxmlformats.org/officeDocument/2006/relationships/notesMaster" Target="/ppt/notesMasters/notesMaster1.xml" Id="R944fcfbeb88045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49845ca91b4272" /><Relationship Type="http://schemas.openxmlformats.org/officeDocument/2006/relationships/notesMaster" Target="/ppt/notesMasters/notesMaster1.xml" Id="R92e9c5720bdd40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22588bb27c44d8" /><Relationship Type="http://schemas.openxmlformats.org/officeDocument/2006/relationships/notesMaster" Target="/ppt/notesMasters/notesMaster1.xml" Id="Rb0298c7cdb81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d91029a54444da" /><Relationship Type="http://schemas.openxmlformats.org/officeDocument/2006/relationships/notesMaster" Target="/ppt/notesMasters/notesMaster1.xml" Id="R6f53a75c041b49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439156e4164e69" /><Relationship Type="http://schemas.openxmlformats.org/officeDocument/2006/relationships/notesMaster" Target="/ppt/notesMasters/notesMaster1.xml" Id="Rfd25122c8c7543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ea64fc41ba4d53" /><Relationship Type="http://schemas.openxmlformats.org/officeDocument/2006/relationships/notesMaster" Target="/ppt/notesMasters/notesMaster1.xml" Id="R447004845dac44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1c19a7e6d74c59" /><Relationship Type="http://schemas.openxmlformats.org/officeDocument/2006/relationships/notesMaster" Target="/ppt/notesMasters/notesMaster1.xml" Id="R50d5aadd5c3649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ed76872424460e" /><Relationship Type="http://schemas.openxmlformats.org/officeDocument/2006/relationships/notesMaster" Target="/ppt/notesMasters/notesMaster1.xml" Id="R42273b6130a944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422a41972401d" /><Relationship Type="http://schemas.openxmlformats.org/officeDocument/2006/relationships/notesMaster" Target="/ppt/notesMasters/notesMaster1.xml" Id="Rbf624beba23d4e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9bd2bfc4404a9e" /><Relationship Type="http://schemas.openxmlformats.org/officeDocument/2006/relationships/notesMaster" Target="/ppt/notesMasters/notesMaster1.xml" Id="R3fb886ee41aa4c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328ca3333e4fef" /><Relationship Type="http://schemas.openxmlformats.org/officeDocument/2006/relationships/notesMaster" Target="/ppt/notesMasters/notesMaster1.xml" Id="R288e7f93ca864c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964c48b71349db" /><Relationship Type="http://schemas.openxmlformats.org/officeDocument/2006/relationships/notesMaster" Target="/ppt/notesMasters/notesMaster1.xml" Id="R577fd28f334847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957ff9a3d24a42" /><Relationship Type="http://schemas.openxmlformats.org/officeDocument/2006/relationships/notesMaster" Target="/ppt/notesMasters/notesMaster1.xml" Id="R0c186d76bf7543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99f45f47f34c4c" /><Relationship Type="http://schemas.openxmlformats.org/officeDocument/2006/relationships/notesMaster" Target="/ppt/notesMasters/notesMaster1.xml" Id="R0bed1406cb864e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confidence: this is not just a fitness app. Position GrindHaus AI as a human-performance AI ecosystem built from Chandrapur for global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pain: people know what to do, but they fail because systems are not adaptive enough. Mention WHO numbers as market/context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audience feel the ambition: GrindHaus is a performance operating system. The key phrase to repeat is: an intelligent companion that evolves with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as an ecosystem. Each module has standalone value, but the AI companion connects them into a personalized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technical heart of the pitch. Stress the separation between expert mode and companion mode. That avoids unsafe tone mixing and creates a better user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workout intelligence is not only a list of exercises. The real value is adaptive planning and progressive overload based on user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nutrition sound practical, not medical. We are building behavior support, not replacing doctors or dieticians.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community to retention. Investors and incubators care about usage loops. Community creates accountability and organic growth.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execution maturity. The app is not a static landing page. It has frontend, backend, auth, API structure, AI memory, and a future research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grounded. We are not claiming to capture the whole market. The point is that the timing is strong: AI infrastructure, digital health, wellness behavior, and fitness apps are all growing.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connect GrindHaus to India's AI future. Say: if India can build AI for commerce and productivity, it can also build AI for human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attack competitors. Say each solves part of the problem, but GrindHaus combines the missing pieces into one adaptive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point: accessible does not mean non-commercial. The business scales through layers and partnerships, not by locking basic health guidance away from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for CIIIT and government alignment. It shows values: inclusive technology, responsible AI, and ecosystem-led scaling.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clear on execution: Phase 1 and 2 are product/MVP. Later phases need support, compute, mentorship, and research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government-funding alignment slide. Make it about institutional impact, not only your startup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specific. You are not just asking for money; you are asking for an environment where technical innovation can mature.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institutional argument here: GrindHaus can become both a business and a local AI capability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conviction. Pause before the final line. This is the line they should remember: Built in Chandrapur. Designed for the world.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134eea5a548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cbc1b70cb964e8f" /><Relationship Type="http://schemas.openxmlformats.org/officeDocument/2006/relationships/slideLayout" Target="/ppt/slideLayouts/slideLayout2.xml" Id="R7932b1578da94a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2b1578da94a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b6e110bad145be" /><Relationship Type="http://schemas.openxmlformats.org/officeDocument/2006/relationships/notesSlide" Target="/ppt/notesSlides/notesSlide1.xml" Id="R6e24974918f24a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c86d9776ec46ba" /><Relationship Type="http://schemas.openxmlformats.org/officeDocument/2006/relationships/notesSlide" Target="/ppt/notesSlides/notesSlide2.xml" Id="Ra26829e3d2fb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94b6bd0bd34698" /><Relationship Type="http://schemas.openxmlformats.org/officeDocument/2006/relationships/notesSlide" Target="/ppt/notesSlides/notesSlide3.xml" Id="Ra13ca3925ad0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00b93ee71449a" /><Relationship Type="http://schemas.openxmlformats.org/officeDocument/2006/relationships/notesSlide" Target="/ppt/notesSlides/notesSlide4.xml" Id="R2181588c2d0640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e1dbd339c4ff1" /><Relationship Type="http://schemas.openxmlformats.org/officeDocument/2006/relationships/notesSlide" Target="/ppt/notesSlides/notesSlide5.xml" Id="Rd5282416410e4e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ee3bfaea74470" /><Relationship Type="http://schemas.openxmlformats.org/officeDocument/2006/relationships/notesSlide" Target="/ppt/notesSlides/notesSlide6.xml" Id="R647fbf25916d41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ea01028af496b" /><Relationship Type="http://schemas.openxmlformats.org/officeDocument/2006/relationships/notesSlide" Target="/ppt/notesSlides/notesSlide7.xml" Id="R3b41b2f1f89e45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b592dacbd46e4" /><Relationship Type="http://schemas.openxmlformats.org/officeDocument/2006/relationships/notesSlide" Target="/ppt/notesSlides/notesSlide8.xml" Id="Rd62f3a585bd44e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4f1db22ee745a0" /><Relationship Type="http://schemas.openxmlformats.org/officeDocument/2006/relationships/notesSlide" Target="/ppt/notesSlides/notesSlide9.xml" Id="R5738fdd0fd5d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8179b21d2e4131" /><Relationship Type="http://schemas.openxmlformats.org/officeDocument/2006/relationships/chart" Target="/ppt/slides/charts/chart1.xml" Id="R5a637db10e554055" /><Relationship Type="http://schemas.openxmlformats.org/officeDocument/2006/relationships/notesSlide" Target="/ppt/notesSlides/notesSlide10.xml" Id="R1398f88ed9e546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19e55d98ac42e5" /><Relationship Type="http://schemas.openxmlformats.org/officeDocument/2006/relationships/notesSlide" Target="/ppt/notesSlides/notesSlide11.xml" Id="R218275894c5949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7505c3fe674219" /><Relationship Type="http://schemas.openxmlformats.org/officeDocument/2006/relationships/notesSlide" Target="/ppt/notesSlides/notesSlide12.xml" Id="R8913d304126049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1fdfe22d04fb4" /><Relationship Type="http://schemas.openxmlformats.org/officeDocument/2006/relationships/notesSlide" Target="/ppt/notesSlides/notesSlide13.xml" Id="R65e5b6db885745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c2b400e304f18" /><Relationship Type="http://schemas.openxmlformats.org/officeDocument/2006/relationships/notesSlide" Target="/ppt/notesSlides/notesSlide14.xml" Id="R0573b6789e8448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f13e2f6e74699" /><Relationship Type="http://schemas.openxmlformats.org/officeDocument/2006/relationships/notesSlide" Target="/ppt/notesSlides/notesSlide15.xml" Id="R64e3b447b07447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a8af885a024c8b" /><Relationship Type="http://schemas.openxmlformats.org/officeDocument/2006/relationships/notesSlide" Target="/ppt/notesSlides/notesSlide16.xml" Id="R2fc89ec010454c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f543762a74786" /><Relationship Type="http://schemas.openxmlformats.org/officeDocument/2006/relationships/notesSlide" Target="/ppt/notesSlides/notesSlide17.xml" Id="Rc102ab29004949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1b48c8b3e4dbf" /><Relationship Type="http://schemas.openxmlformats.org/officeDocument/2006/relationships/notesSlide" Target="/ppt/notesSlides/notesSlide18.xml" Id="Rc80d789f4da84e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907ab3a0d486b" /><Relationship Type="http://schemas.openxmlformats.org/officeDocument/2006/relationships/notesSlide" Target="/ppt/notesSlides/notesSlide19.xml" Id="Rc1743600c14245f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USD Bn</c:v>
          </c:tx>
          <c:cat>
            <c:strLit>
              <c:ptCount val="4"/>
              <c:pt idx="0">
                <c:v>Global fitness apps 2024</c:v>
              </c:pt>
              <c:pt idx="1">
                <c:v>Global wellness apps 2030</c:v>
              </c:pt>
              <c:pt idx="2">
                <c:v>India digital health 2024</c:v>
              </c:pt>
              <c:pt idx="3">
                <c:v>India digital health 2033</c:v>
              </c:pt>
            </c:strLit>
          </c:cat>
          <c:val>
            <c:numLit>
              <c:formatCode/>
              <c:ptCount val="4"/>
              <c:pt idx="0">
                <c:v>10.6</c:v>
              </c:pt>
              <c:pt idx="1">
                <c:v>26.2</c:v>
              </c:pt>
              <c:pt idx="2">
                <c:v>14.5</c:v>
              </c:pt>
              <c:pt idx="3">
                <c:v>107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9060491-086F-4C80-8414-6D1B1BC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1466A6D0-141A-4062-9EF8-A82D73F2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AE04FC4-F972-44D7-AFC1-3FD28B9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prepared-for-ciiit-gcoe-chandrapur">
            <a:extLst xmlns:a="http://schemas.openxmlformats.org/drawingml/2006/main">
              <a:ext uri="{FF2B5EF4-FFF2-40B4-BE49-F238E27FC236}">
                <a16:creationId xmlns:a16="http://schemas.microsoft.com/office/drawing/2014/main" id="{13F2CF6C-8A3A-44D7-981A-4233DB6B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8870"/>
            <a:ext cx="53340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3B32A-DD79-4F66-84A1-507FAB6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Prepared for CIIIT | GCOE Chandrapur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6AA08A-09F0-4184-8DC9-FEC9756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66103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F8F5EF"/>
                </a:solidFill>
              </a:defRPr>
            </a:pPr>
            <a:r>
              <a:rPr sz="840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F14E566-83AE-4CC5-8F9E-3669F97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8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58A38970-8525-4ECF-AB8E-0890B7AC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90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An intelligent fitness ecosystem combining AI coaching, behavioral memory, nutrition intelligence, community accountability, and future custom LLM research.</a:t>
            </a:r>
          </a:p>
        </p:txBody>
      </p:sp>
      <p:sp>
        <p:nvSpPr>
          <p:cNvPr id="9" name="cover-founder">
            <a:extLst xmlns:a="http://schemas.openxmlformats.org/drawingml/2006/main">
              <a:ext uri="{FF2B5EF4-FFF2-40B4-BE49-F238E27FC236}">
                <a16:creationId xmlns:a16="http://schemas.microsoft.com/office/drawing/2014/main" id="{154071B9-804A-4E29-A86E-12B3A27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0450"/>
            <a:ext cx="6438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8D8990"/>
                </a:solidFill>
              </a:defRPr>
            </a:pPr>
            <a:r>
              <a:rPr sz="1575" b="0" i="0">
                <a:solidFill>
                  <a:srgbClr val="8D8990"/>
                </a:solidFill>
              </a:rPr>
              <a:t>Founder: GrindHaus AI Team | Government College of Engineering, Chandrapur</a:t>
            </a:r>
          </a:p>
        </p:txBody>
      </p:sp>
      <p:sp>
        <p:nvSpPr>
          <p:cNvPr id="10" name="ai-core">
            <a:extLst xmlns:a="http://schemas.openxmlformats.org/drawingml/2006/main">
              <a:ext uri="{FF2B5EF4-FFF2-40B4-BE49-F238E27FC236}">
                <a16:creationId xmlns:a16="http://schemas.microsoft.com/office/drawing/2014/main" id="{483108AC-A82B-43EC-9694-3E382A6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21280"/>
            <a:ext cx="4476750" cy="447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">
            <a:extLst xmlns:a="http://schemas.openxmlformats.org/drawingml/2006/main">
              <a:ext uri="{FF2B5EF4-FFF2-40B4-BE49-F238E27FC236}">
                <a16:creationId xmlns:a16="http://schemas.microsoft.com/office/drawing/2014/main" id="{87C5B65D-5436-48CE-8B2B-573A2AD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33800"/>
            <a:ext cx="37338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 i="0">
                <a:solidFill>
                  <a:srgbClr val="FF2E3A"/>
                </a:solidFill>
              </a:defRPr>
            </a:pPr>
            <a:r>
              <a:rPr sz="8850" b="1" i="0">
                <a:solidFill>
                  <a:srgbClr val="FF2E3A"/>
                </a:solidFill>
              </a:rPr>
              <a:t>AI</a:t>
            </a:r>
          </a:p>
        </p:txBody>
      </p:sp>
      <p:sp>
        <p:nvSpPr>
          <p:cNvPr id="12" name="performance-brain">
            <a:extLst xmlns:a="http://schemas.openxmlformats.org/drawingml/2006/main">
              <a:ext uri="{FF2B5EF4-FFF2-40B4-BE49-F238E27FC236}">
                <a16:creationId xmlns:a16="http://schemas.microsoft.com/office/drawing/2014/main" id="{129C32E8-5A39-4F9F-88C9-927DC62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25780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5EF"/>
                </a:solidFill>
              </a:defRPr>
            </a:pPr>
            <a:r>
              <a:rPr sz="2100" b="1" i="0">
                <a:solidFill>
                  <a:srgbClr val="F8F5EF"/>
                </a:solidFill>
              </a:rPr>
              <a:t>Performance Brain</a:t>
            </a:r>
          </a:p>
        </p:txBody>
      </p:sp>
      <p:sp>
        <p:nvSpPr>
          <p:cNvPr id="13" name="memory-coaching-behavior">
            <a:extLst xmlns:a="http://schemas.openxmlformats.org/drawingml/2006/main">
              <a:ext uri="{FF2B5EF4-FFF2-40B4-BE49-F238E27FC236}">
                <a16:creationId xmlns:a16="http://schemas.microsoft.com/office/drawing/2014/main" id="{E16B09E2-5A50-4137-BA7E-471AD5CF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7531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8C2B8"/>
                </a:solidFill>
              </a:defRPr>
            </a:pPr>
            <a:r>
              <a:rPr sz="1500" b="0" i="0">
                <a:solidFill>
                  <a:srgbClr val="C8C2B8"/>
                </a:solidFill>
              </a:rPr>
              <a:t>Memory + Coaching + Behavior</a:t>
            </a:r>
          </a:p>
        </p:txBody>
      </p:sp>
      <p:sp>
        <p:nvSpPr>
          <p:cNvPr id="14" name="chip-fitness">
            <a:extLst xmlns:a="http://schemas.openxmlformats.org/drawingml/2006/main">
              <a:ext uri="{FF2B5EF4-FFF2-40B4-BE49-F238E27FC236}">
                <a16:creationId xmlns:a16="http://schemas.microsoft.com/office/drawing/2014/main" id="{BC8E4F4D-2513-4F62-AA88-C2CD9172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26948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D1659-21FF-47B9-9EFE-C65D570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3723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Fitness</a:t>
            </a:r>
          </a:p>
        </p:txBody>
      </p:sp>
      <p:sp>
        <p:nvSpPr>
          <p:cNvPr id="16" name="chip-nutrition">
            <a:extLst xmlns:a="http://schemas.openxmlformats.org/drawingml/2006/main">
              <a:ext uri="{FF2B5EF4-FFF2-40B4-BE49-F238E27FC236}">
                <a16:creationId xmlns:a16="http://schemas.microsoft.com/office/drawing/2014/main" id="{FFA08C7C-C2EB-4ED4-BEC1-29E5C1E7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69480"/>
            <a:ext cx="17526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C54BA-2994-4EDE-AAB9-24BF5B5C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3723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Nutrition</a:t>
            </a:r>
          </a:p>
        </p:txBody>
      </p:sp>
      <p:sp>
        <p:nvSpPr>
          <p:cNvPr id="18" name="chip-companion-ai">
            <a:extLst xmlns:a="http://schemas.openxmlformats.org/drawingml/2006/main">
              <a:ext uri="{FF2B5EF4-FFF2-40B4-BE49-F238E27FC236}">
                <a16:creationId xmlns:a16="http://schemas.microsoft.com/office/drawing/2014/main" id="{E233E1B9-2268-4B31-BE50-6316F779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269480"/>
            <a:ext cx="21526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42D1A-2F2C-42CF-8D72-2E59873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737235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Companion AI</a:t>
            </a:r>
          </a:p>
        </p:txBody>
      </p:sp>
    </p:spTree>
    <p:extLst>
      <p:ext uri="{BB962C8B-B14F-4D97-AF65-F5344CB8AC3E}">
        <p14:creationId xmlns:p14="http://schemas.microsoft.com/office/powerpoint/2010/main" val="43950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5B3D4D9-5B05-4306-996D-BA81E18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A0D0877F-A61B-42D5-B2CC-C3DAEF2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1B3ED85-2F43-411A-B71B-AC194281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4D310BAF-5F85-49F6-B23A-AD6B5B2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22B11EB-3447-4A1C-ADD6-7F003B5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THE PROBLEM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89D4B4-6CC2-408F-A19A-2110C16B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12077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Fitness failure is usually not an information problem.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B20388-F06B-47E2-8691-2D3C7E0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6076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It is a consistency, personalization, and accountability problem.</a:t>
            </a:r>
          </a:p>
        </p:txBody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362BA96F-3808-4B69-824B-DF0410D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79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31-">
            <a:extLst xmlns:a="http://schemas.openxmlformats.org/drawingml/2006/main">
              <a:ext uri="{FF2B5EF4-FFF2-40B4-BE49-F238E27FC236}">
                <a16:creationId xmlns:a16="http://schemas.microsoft.com/office/drawing/2014/main" id="{DDACF3DF-4DE9-4957-8DD5-FDE26ACB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31%</a:t>
            </a:r>
          </a:p>
        </p:txBody>
      </p:sp>
      <p:sp>
        <p:nvSpPr>
          <p:cNvPr id="10" name="global-adults-physically-inactive">
            <a:extLst xmlns:a="http://schemas.openxmlformats.org/drawingml/2006/main">
              <a:ext uri="{FF2B5EF4-FFF2-40B4-BE49-F238E27FC236}">
                <a16:creationId xmlns:a16="http://schemas.microsoft.com/office/drawing/2014/main" id="{81FC1827-F91B-4816-8EB3-F50325E4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43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global adults physically inactive</a:t>
            </a:r>
          </a:p>
        </p:txBody>
      </p:sp>
      <p:sp>
        <p:nvSpPr>
          <p:cNvPr id="11" name="who-estimates-1-8b-adults-are-not-active-enou">
            <a:extLst xmlns:a="http://schemas.openxmlformats.org/drawingml/2006/main">
              <a:ext uri="{FF2B5EF4-FFF2-40B4-BE49-F238E27FC236}">
                <a16:creationId xmlns:a16="http://schemas.microsoft.com/office/drawing/2014/main" id="{C080C257-55DE-418F-BB09-AF42E7D6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329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WHO estimates 1.8B adults are not active enough.</a:t>
            </a:r>
          </a:p>
        </p:txBody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74B330CC-567E-481D-8499-2433758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683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80-">
            <a:extLst xmlns:a="http://schemas.openxmlformats.org/drawingml/2006/main">
              <a:ext uri="{FF2B5EF4-FFF2-40B4-BE49-F238E27FC236}">
                <a16:creationId xmlns:a16="http://schemas.microsoft.com/office/drawing/2014/main" id="{A9099BBD-AD47-4CE5-A388-D32CF3DA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80%</a:t>
            </a:r>
          </a:p>
        </p:txBody>
      </p:sp>
      <p:sp>
        <p:nvSpPr>
          <p:cNvPr id="14" name="adolescents-below-activity-guidelines">
            <a:extLst xmlns:a="http://schemas.openxmlformats.org/drawingml/2006/main">
              <a:ext uri="{FF2B5EF4-FFF2-40B4-BE49-F238E27FC236}">
                <a16:creationId xmlns:a16="http://schemas.microsoft.com/office/drawing/2014/main" id="{B0B60982-E76F-4E54-BC8F-2468E43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adolescents below activity guidelines</a:t>
            </a:r>
          </a:p>
        </p:txBody>
      </p:sp>
      <p:sp>
        <p:nvSpPr>
          <p:cNvPr id="15" name="the-next-generation-is-already-forming-low-ac">
            <a:extLst xmlns:a="http://schemas.openxmlformats.org/drawingml/2006/main">
              <a:ext uri="{FF2B5EF4-FFF2-40B4-BE49-F238E27FC236}">
                <a16:creationId xmlns:a16="http://schemas.microsoft.com/office/drawing/2014/main" id="{21324E02-6994-45BD-A4B6-4263891F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2950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The next generation is already forming low-activity habits.</a:t>
            </a:r>
          </a:p>
        </p:txBody>
      </p:sp>
      <p:sp>
        <p:nvSpPr>
          <p:cNvPr id="16" name="stat-3">
            <a:extLst xmlns:a="http://schemas.openxmlformats.org/drawingml/2006/main">
              <a:ext uri="{FF2B5EF4-FFF2-40B4-BE49-F238E27FC236}">
                <a16:creationId xmlns:a16="http://schemas.microsoft.com/office/drawing/2014/main" id="{BF72FBA5-230D-4110-8B02-CF032E81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456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behavior">
            <a:extLst xmlns:a="http://schemas.openxmlformats.org/drawingml/2006/main">
              <a:ext uri="{FF2B5EF4-FFF2-40B4-BE49-F238E27FC236}">
                <a16:creationId xmlns:a16="http://schemas.microsoft.com/office/drawing/2014/main" id="{7B182CBE-1ED4-4BE3-8677-935139C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00950"/>
            <a:ext cx="2171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Behavior</a:t>
            </a:r>
          </a:p>
        </p:txBody>
      </p:sp>
      <p:sp>
        <p:nvSpPr>
          <p:cNvPr id="18" name="core-drop-off-driver">
            <a:extLst xmlns:a="http://schemas.openxmlformats.org/drawingml/2006/main">
              <a:ext uri="{FF2B5EF4-FFF2-40B4-BE49-F238E27FC236}">
                <a16:creationId xmlns:a16="http://schemas.microsoft.com/office/drawing/2014/main" id="{F57CFB07-C176-47DE-8D16-2618062C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695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core drop-off driver</a:t>
            </a:r>
          </a:p>
        </p:txBody>
      </p:sp>
      <p:sp>
        <p:nvSpPr>
          <p:cNvPr id="19" name="generic-plans-fail-when-life-stress-fatigue-a">
            <a:extLst xmlns:a="http://schemas.openxmlformats.org/drawingml/2006/main">
              <a:ext uri="{FF2B5EF4-FFF2-40B4-BE49-F238E27FC236}">
                <a16:creationId xmlns:a16="http://schemas.microsoft.com/office/drawing/2014/main" id="{C4B92FF9-418B-4EC8-A596-D818953F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0"/>
            <a:ext cx="3600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Generic plans fail when life, stress, fatigue, and routine change.</a:t>
            </a:r>
          </a:p>
        </p:txBody>
      </p:sp>
      <p:sp>
        <p:nvSpPr>
          <p:cNvPr id="2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D151919-20E5-4307-AD67-5A5D8DC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887980"/>
            <a:ext cx="7842250" cy="6732270"/>
          </a:xfrm>
          <a:prstGeom xmlns:a="http://schemas.openxmlformats.org/drawingml/2006/main" prst="roundRect">
            <a:avLst>
              <a:gd name="adj" fmla="val 16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rrent-fitness-products-are-built-like-libra">
            <a:extLst xmlns:a="http://schemas.openxmlformats.org/drawingml/2006/main">
              <a:ext uri="{FF2B5EF4-FFF2-40B4-BE49-F238E27FC236}">
                <a16:creationId xmlns:a16="http://schemas.microsoft.com/office/drawing/2014/main" id="{E44AF805-B953-41EE-931C-60E3DC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29150"/>
            <a:ext cx="62674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8F5EF"/>
                </a:solidFill>
              </a:defRPr>
            </a:pPr>
            <a:r>
              <a:rPr sz="3600" b="1" i="0">
                <a:solidFill>
                  <a:srgbClr val="F8F5EF"/>
                </a:solidFill>
              </a:rPr>
              <a:t>Current fitness products are built like libraries.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6E140A10-0ACA-4CF0-9548-610BF7EC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1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8B5B543C-BE07-4B9A-9914-90EEDB1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245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show workouts but do not understand behavior.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B35C733-3F02-4E8C-8F02-5A40065D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7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1152E3F5-600E-41E5-B0A7-B153A60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track data but rarely create emotional accountability.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D3F34E3-AB53-4241-AE77-DEF20720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34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B806492C-0F2B-4EEB-9902-49DB4E31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389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monetize guidance aggressively instead of improving access.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FB9C505-B00C-42F2-9DDE-608FD591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543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B51842E9-5D03-4390-8935-2B560BE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315200"/>
            <a:ext cx="678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do not adapt deeply to missed days, goals, fatigue, or motivation.</a:t>
            </a:r>
          </a:p>
        </p:txBody>
      </p:sp>
    </p:spTree>
    <p:extLst>
      <p:ext uri="{BB962C8B-B14F-4D97-AF65-F5344CB8AC3E}">
        <p14:creationId xmlns:p14="http://schemas.microsoft.com/office/powerpoint/2010/main" val="8896914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2FF9A6C-EC24-4D46-BCAE-F561658B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39F2FC9-4274-4343-91B4-79E4002E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1327D11-511E-46E4-9E8C-CDD2B0B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vision">
            <a:extLst xmlns:a="http://schemas.openxmlformats.org/drawingml/2006/main">
              <a:ext uri="{FF2B5EF4-FFF2-40B4-BE49-F238E27FC236}">
                <a16:creationId xmlns:a16="http://schemas.microsoft.com/office/drawing/2014/main" id="{DAB81596-71FC-4F82-ADA9-81BCB8FF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988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19B35-D72C-4939-8065-712623EE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Vision</a:t>
            </a:r>
          </a:p>
        </p:txBody>
      </p:sp>
      <p:sp>
        <p:nvSpPr>
          <p:cNvPr id="6" name="not-a-fitness-app-">
            <a:extLst xmlns:a="http://schemas.openxmlformats.org/drawingml/2006/main">
              <a:ext uri="{FF2B5EF4-FFF2-40B4-BE49-F238E27FC236}">
                <a16:creationId xmlns:a16="http://schemas.microsoft.com/office/drawing/2014/main" id="{1DDBEED8-A27F-49EE-8C8D-333F7492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52768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F8F5EF"/>
                </a:solidFill>
              </a:defRPr>
            </a:pPr>
            <a:r>
              <a:rPr sz="5700" b="1" i="0">
                <a:solidFill>
                  <a:srgbClr val="F8F5EF"/>
                </a:solidFill>
              </a:rPr>
              <a:t>Not a fitness app.</a:t>
            </a:r>
          </a:p>
        </p:txBody>
      </p:sp>
      <p:sp>
        <p:nvSpPr>
          <p:cNvPr id="7" name="an-intelligent-companion-that-evolves-with-th">
            <a:extLst xmlns:a="http://schemas.openxmlformats.org/drawingml/2006/main">
              <a:ext uri="{FF2B5EF4-FFF2-40B4-BE49-F238E27FC236}">
                <a16:creationId xmlns:a16="http://schemas.microsoft.com/office/drawing/2014/main" id="{5F9E4C75-B86C-4794-A47F-EF0D4551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9467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2E3A"/>
                </a:solidFill>
              </a:defRPr>
            </a:pPr>
            <a:r>
              <a:rPr sz="3450" b="1" i="0">
                <a:solidFill>
                  <a:srgbClr val="FF2E3A"/>
                </a:solidFill>
              </a:rPr>
              <a:t>An intelligent companion that evolves with the user.</a:t>
            </a:r>
          </a:p>
        </p:txBody>
      </p:sp>
      <p:sp>
        <p:nvSpPr>
          <p:cNvPr id="8" name="the-long-term-platform-becomes-a-performance-">
            <a:extLst xmlns:a="http://schemas.openxmlformats.org/drawingml/2006/main">
              <a:ext uri="{FF2B5EF4-FFF2-40B4-BE49-F238E27FC236}">
                <a16:creationId xmlns:a16="http://schemas.microsoft.com/office/drawing/2014/main" id="{1B3CCBA9-2C52-454E-91DF-85577178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12439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8C2B8"/>
                </a:solidFill>
              </a:defRPr>
            </a:pPr>
            <a:r>
              <a:rPr sz="2250" b="0" i="0">
                <a:solidFill>
                  <a:srgbClr val="C8C2B8"/>
                </a:solidFill>
              </a:rPr>
              <a:t>The long-term platform becomes a performance layer around daily life: training, food, recovery, motivation, community, wearables, and AI-generated coaching experiences.</a:t>
            </a:r>
          </a:p>
        </p:txBody>
      </p:sp>
      <p:sp>
        <p:nvSpPr>
          <p:cNvPr id="9" name="chip-personal-memory">
            <a:extLst xmlns:a="http://schemas.openxmlformats.org/drawingml/2006/main">
              <a:ext uri="{FF2B5EF4-FFF2-40B4-BE49-F238E27FC236}">
                <a16:creationId xmlns:a16="http://schemas.microsoft.com/office/drawing/2014/main" id="{2E2A98E0-7F9D-4000-9164-6BC7AEB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00875"/>
            <a:ext cx="25527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65064-B3D7-47E0-A8F4-3822E623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056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Personal memory</a:t>
            </a:r>
          </a:p>
        </p:txBody>
      </p:sp>
      <p:sp>
        <p:nvSpPr>
          <p:cNvPr id="11" name="chip-adaptive-recommendations">
            <a:extLst xmlns:a="http://schemas.openxmlformats.org/drawingml/2006/main">
              <a:ext uri="{FF2B5EF4-FFF2-40B4-BE49-F238E27FC236}">
                <a16:creationId xmlns:a16="http://schemas.microsoft.com/office/drawing/2014/main" id="{4D3FD36F-CBE0-40C4-8DA6-81355E2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000875"/>
            <a:ext cx="37528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F41D5-16CB-46FB-955C-DC7206B6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056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Adaptive recommendations</a:t>
            </a:r>
          </a:p>
        </p:txBody>
      </p:sp>
      <p:sp>
        <p:nvSpPr>
          <p:cNvPr id="13" name="chip-accessible-guidance">
            <a:extLst xmlns:a="http://schemas.openxmlformats.org/drawingml/2006/main">
              <a:ext uri="{FF2B5EF4-FFF2-40B4-BE49-F238E27FC236}">
                <a16:creationId xmlns:a16="http://schemas.microsoft.com/office/drawing/2014/main" id="{9BB34D85-60C4-42D4-AA63-6568141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000875"/>
            <a:ext cx="30861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58867-A7F2-45AC-BE19-EA2E895F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056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Accessible guidance</a:t>
            </a:r>
          </a:p>
        </p:txBody>
      </p:sp>
      <p:sp>
        <p:nvSpPr>
          <p:cNvPr id="15" name="chip-indian-ai-product">
            <a:extLst xmlns:a="http://schemas.openxmlformats.org/drawingml/2006/main">
              <a:ext uri="{FF2B5EF4-FFF2-40B4-BE49-F238E27FC236}">
                <a16:creationId xmlns:a16="http://schemas.microsoft.com/office/drawing/2014/main" id="{644253B0-4431-4584-A6B0-D36DC8AA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000875"/>
            <a:ext cx="28194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9ED0A-1EC8-441A-ADCF-208DCC8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10565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5EF"/>
                </a:solidFill>
              </a:defRPr>
            </a:pPr>
            <a:r>
              <a:rPr sz="1350" b="1">
                <a:solidFill>
                  <a:srgbClr val="F8F5EF"/>
                </a:solidFill>
              </a:rPr>
              <a:t>Indian AI product</a:t>
            </a:r>
          </a:p>
        </p:txBody>
      </p:sp>
    </p:spTree>
    <p:extLst>
      <p:ext uri="{BB962C8B-B14F-4D97-AF65-F5344CB8AC3E}">
        <p14:creationId xmlns:p14="http://schemas.microsoft.com/office/powerpoint/2010/main" val="5232295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86502F9-1BB0-4A9A-9EE3-1230C36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9EA8184-65FC-42CA-9C2C-6E315B9D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EB1AE12-C700-4DEE-B38A-99E35FAD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D01B4238-CC71-44F3-8481-41CA05E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1B0D8C15-0C9D-43D0-A68A-E642AEDE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PRODUCT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DEE939-BFC3-4CAE-91BC-F027243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02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Five modules. One adaptive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D0954C-E7E7-46CF-84FD-7DE5388D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94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unified user journey from discovery to coaching, tracking, community, and long-term personalization.</a:t>
            </a:r>
          </a:p>
        </p:txBody>
      </p:sp>
      <p:sp>
        <p:nvSpPr>
          <p:cNvPr id="8" name="module-workouts">
            <a:extLst xmlns:a="http://schemas.openxmlformats.org/drawingml/2006/main">
              <a:ext uri="{FF2B5EF4-FFF2-40B4-BE49-F238E27FC236}">
                <a16:creationId xmlns:a16="http://schemas.microsoft.com/office/drawing/2014/main" id="{4612F058-B530-44C6-995D-DFD0F85C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workout-library">
            <a:extLst xmlns:a="http://schemas.openxmlformats.org/drawingml/2006/main">
              <a:ext uri="{FF2B5EF4-FFF2-40B4-BE49-F238E27FC236}">
                <a16:creationId xmlns:a16="http://schemas.microsoft.com/office/drawing/2014/main" id="{D93D69D8-1227-4837-AF5D-D1EA9EC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Workout Library</a:t>
            </a:r>
          </a:p>
        </p:txBody>
      </p:sp>
      <p:sp>
        <p:nvSpPr>
          <p:cNvPr id="10" name="structured-exercise-discovery-plans-muscle-gr">
            <a:extLst xmlns:a="http://schemas.openxmlformats.org/drawingml/2006/main">
              <a:ext uri="{FF2B5EF4-FFF2-40B4-BE49-F238E27FC236}">
                <a16:creationId xmlns:a16="http://schemas.microsoft.com/office/drawing/2014/main" id="{6F7AF0FE-AB06-416F-A7B4-93B930E9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609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Structured exercise discovery, plans, muscle groups, and progression logic.</a:t>
            </a:r>
          </a:p>
        </p:txBody>
      </p:sp>
      <p:sp>
        <p:nvSpPr>
          <p:cNvPr id="11" name="module-technique">
            <a:extLst xmlns:a="http://schemas.openxmlformats.org/drawingml/2006/main">
              <a:ext uri="{FF2B5EF4-FFF2-40B4-BE49-F238E27FC236}">
                <a16:creationId xmlns:a16="http://schemas.microsoft.com/office/drawing/2014/main" id="{A9D157FE-AE9E-41B5-A858-60ECD9C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14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technique-intelligence">
            <a:extLst xmlns:a="http://schemas.openxmlformats.org/drawingml/2006/main">
              <a:ext uri="{FF2B5EF4-FFF2-40B4-BE49-F238E27FC236}">
                <a16:creationId xmlns:a16="http://schemas.microsoft.com/office/drawing/2014/main" id="{A05B78BF-E38A-46B7-85FC-38551893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609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Technique Intelligence</a:t>
            </a:r>
          </a:p>
        </p:txBody>
      </p:sp>
      <p:sp>
        <p:nvSpPr>
          <p:cNvPr id="13" name="exercise-form-education-targeted-muscles-and-">
            <a:extLst xmlns:a="http://schemas.openxmlformats.org/drawingml/2006/main">
              <a:ext uri="{FF2B5EF4-FFF2-40B4-BE49-F238E27FC236}">
                <a16:creationId xmlns:a16="http://schemas.microsoft.com/office/drawing/2014/main" id="{8A8764D0-401C-441E-B6EE-A86383DC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Exercise form education, targeted muscles, and future video guidance.</a:t>
            </a:r>
          </a:p>
        </p:txBody>
      </p:sp>
      <p:sp>
        <p:nvSpPr>
          <p:cNvPr id="14" name="module-nutrition">
            <a:extLst xmlns:a="http://schemas.openxmlformats.org/drawingml/2006/main">
              <a:ext uri="{FF2B5EF4-FFF2-40B4-BE49-F238E27FC236}">
                <a16:creationId xmlns:a16="http://schemas.microsoft.com/office/drawing/2014/main" id="{7595622F-0F91-4137-B45C-D9FACF65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nutrition-system">
            <a:extLst xmlns:a="http://schemas.openxmlformats.org/drawingml/2006/main">
              <a:ext uri="{FF2B5EF4-FFF2-40B4-BE49-F238E27FC236}">
                <a16:creationId xmlns:a16="http://schemas.microsoft.com/office/drawing/2014/main" id="{8C7A1ECF-00EB-403C-9F63-B6CA3C4B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Nutrition System</a:t>
            </a:r>
          </a:p>
        </p:txBody>
      </p:sp>
      <p:sp>
        <p:nvSpPr>
          <p:cNvPr id="16" name="macros-hydration-diet-suggestions-and-behavio">
            <a:extLst xmlns:a="http://schemas.openxmlformats.org/drawingml/2006/main">
              <a:ext uri="{FF2B5EF4-FFF2-40B4-BE49-F238E27FC236}">
                <a16:creationId xmlns:a16="http://schemas.microsoft.com/office/drawing/2014/main" id="{BD1C0B16-5549-4498-9D3D-70FB36B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Macros, hydration, diet suggestions, and behavior-aware reminders.</a:t>
            </a:r>
          </a:p>
        </p:txBody>
      </p:sp>
      <p:sp>
        <p:nvSpPr>
          <p:cNvPr id="17" name="module-community">
            <a:extLst xmlns:a="http://schemas.openxmlformats.org/drawingml/2006/main">
              <a:ext uri="{FF2B5EF4-FFF2-40B4-BE49-F238E27FC236}">
                <a16:creationId xmlns:a16="http://schemas.microsoft.com/office/drawing/2014/main" id="{39BD689E-E893-43A9-A18B-D94E8B1C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community-system">
            <a:extLst xmlns:a="http://schemas.openxmlformats.org/drawingml/2006/main">
              <a:ext uri="{FF2B5EF4-FFF2-40B4-BE49-F238E27FC236}">
                <a16:creationId xmlns:a16="http://schemas.microsoft.com/office/drawing/2014/main" id="{34AEF987-B4EA-4995-9CD4-C42A2D3A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Community System</a:t>
            </a:r>
          </a:p>
        </p:txBody>
      </p:sp>
      <p:sp>
        <p:nvSpPr>
          <p:cNvPr id="19" name="accountability-progress-sharing-social-motiva">
            <a:extLst xmlns:a="http://schemas.openxmlformats.org/drawingml/2006/main">
              <a:ext uri="{FF2B5EF4-FFF2-40B4-BE49-F238E27FC236}">
                <a16:creationId xmlns:a16="http://schemas.microsoft.com/office/drawing/2014/main" id="{9A3095D0-5BF7-4715-9AF0-2B7366B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Accountability, progress sharing, social motivation, and creator pathways.</a:t>
            </a:r>
          </a:p>
        </p:txBody>
      </p:sp>
      <p:sp>
        <p:nvSpPr>
          <p:cNvPr id="20" name="module-ai">
            <a:extLst xmlns:a="http://schemas.openxmlformats.org/drawingml/2006/main">
              <a:ext uri="{FF2B5EF4-FFF2-40B4-BE49-F238E27FC236}">
                <a16:creationId xmlns:a16="http://schemas.microsoft.com/office/drawing/2014/main" id="{BEF61D38-D460-44D1-9563-4E5B72A0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41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80B0D"/>
          </a:solidFill>
        </p:spPr>
      </p:sp>
      <p:sp>
        <p:nvSpPr>
          <p:cNvPr id="21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EBE20D2A-A85E-4893-AE44-6759743F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2E3A"/>
                </a:solidFill>
              </a:defRPr>
            </a:pPr>
            <a:r>
              <a:rPr sz="240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22" name="memory-driven-coaching-that-adapts-across-exp">
            <a:extLst xmlns:a="http://schemas.openxmlformats.org/drawingml/2006/main">
              <a:ext uri="{FF2B5EF4-FFF2-40B4-BE49-F238E27FC236}">
                <a16:creationId xmlns:a16="http://schemas.microsoft.com/office/drawing/2014/main" id="{99B09672-3D50-47B4-99DD-C10EF48A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Memory-driven coaching that adapts across expert and companion modes.</a:t>
            </a:r>
          </a:p>
        </p:txBody>
      </p:sp>
    </p:spTree>
    <p:extLst>
      <p:ext uri="{BB962C8B-B14F-4D97-AF65-F5344CB8AC3E}">
        <p14:creationId xmlns:p14="http://schemas.microsoft.com/office/powerpoint/2010/main" val="16205070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66FFB1C-2D80-4A56-B70A-7B3DB31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897F593-A45C-451E-8311-3B99D0E8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EC5157E-43A2-423A-84CE-ADBD795B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BB93E111-C53C-4116-8128-5B6198FA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692BB41-AAC9-48B3-BFBC-64E8612D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164A0A-9B51-46D9-B04E-6995A85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190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coach that remembers context, not just a chatbot.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536806B-62B6-4DAD-AAEA-6CC4C87C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868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Dual-mode intelligence separates factual fitness guidance from warm companion support.</a:t>
            </a:r>
          </a:p>
        </p:txBody>
      </p:sp>
      <p:sp>
        <p:nvSpPr>
          <p:cNvPr id="8" name="node-0-user-signal">
            <a:extLst xmlns:a="http://schemas.openxmlformats.org/drawingml/2006/main">
              <a:ext uri="{FF2B5EF4-FFF2-40B4-BE49-F238E27FC236}">
                <a16:creationId xmlns:a16="http://schemas.microsoft.com/office/drawing/2014/main" id="{AC6E3CC1-CC61-4F6F-AF62-25CD1FA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206D6-48AD-402E-A8A0-571124F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User Signal</a:t>
            </a:r>
          </a:p>
        </p:txBody>
      </p:sp>
      <p:sp>
        <p:nvSpPr>
          <p:cNvPr id="10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C066F97A-D93F-4872-9FFE-BE949C8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node-1-memory-layer">
            <a:extLst xmlns:a="http://schemas.openxmlformats.org/drawingml/2006/main">
              <a:ext uri="{FF2B5EF4-FFF2-40B4-BE49-F238E27FC236}">
                <a16:creationId xmlns:a16="http://schemas.microsoft.com/office/drawing/2014/main" id="{E7B8563F-2706-4081-AAA4-D6677D6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8592D-34C6-48CA-A5F1-060A3FC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Memory Layer</a:t>
            </a:r>
          </a:p>
        </p:txBody>
      </p:sp>
      <p:sp>
        <p:nvSpPr>
          <p:cNvPr id="13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0E24A9BA-696F-46D9-B487-97FD07F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4" name="node-2-ai-router">
            <a:extLst xmlns:a="http://schemas.openxmlformats.org/drawingml/2006/main">
              <a:ext uri="{FF2B5EF4-FFF2-40B4-BE49-F238E27FC236}">
                <a16:creationId xmlns:a16="http://schemas.microsoft.com/office/drawing/2014/main" id="{2FAB3926-F699-44F7-BF5D-EE6DAE9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E6B76-B83A-4587-A01E-6D7AD0C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AI Router</a:t>
            </a:r>
          </a:p>
        </p:txBody>
      </p:sp>
      <p:sp>
        <p:nvSpPr>
          <p:cNvPr id="16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5D656CB2-D4E4-40CA-8618-492086DA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node-3-response-engine">
            <a:extLst xmlns:a="http://schemas.openxmlformats.org/drawingml/2006/main">
              <a:ext uri="{FF2B5EF4-FFF2-40B4-BE49-F238E27FC236}">
                <a16:creationId xmlns:a16="http://schemas.microsoft.com/office/drawing/2014/main" id="{A2ED4D58-552A-4930-9DDC-D9CE4CCA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DB635-151C-48A9-A5F6-20195C0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Response Engine</a:t>
            </a:r>
          </a:p>
        </p:txBody>
      </p:sp>
      <p:sp>
        <p:nvSpPr>
          <p:cNvPr id="19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C84B6508-6DA8-4AF8-8386-29C074F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node-4-adaptive-action">
            <a:extLst xmlns:a="http://schemas.openxmlformats.org/drawingml/2006/main">
              <a:ext uri="{FF2B5EF4-FFF2-40B4-BE49-F238E27FC236}">
                <a16:creationId xmlns:a16="http://schemas.microsoft.com/office/drawing/2014/main" id="{ADDACC3E-4C2A-4639-89CF-C3BEEF3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56447-7C41-4566-8DA9-978E71D1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Adaptive Action</a:t>
            </a:r>
          </a:p>
        </p:txBody>
      </p:sp>
    </p:spTree>
    <p:extLst>
      <p:ext uri="{BB962C8B-B14F-4D97-AF65-F5344CB8AC3E}">
        <p14:creationId xmlns:p14="http://schemas.microsoft.com/office/powerpoint/2010/main" val="622735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1B8792E-D5EF-4743-B0A2-AF43FD5E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0F28EB16-42E4-4967-9852-07AB438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86BD5A0-F9AB-46B2-8F27-9E4FA8DC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BE626FA4-BBA5-4129-A032-382FB95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E84D06A-0388-4EC9-BDD8-7E1B22E2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WORKOUT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0D76DC-9BD3-4910-A592-ACDD0E70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From static exercises to adaptive progression.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172944-8CAF-4078-9A4E-2FA78D60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172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can evolve from workout discovery into a behavior-aware training engine.</a:t>
            </a:r>
          </a:p>
        </p:txBody>
      </p:sp>
      <p:sp>
        <p:nvSpPr>
          <p:cNvPr id="8" name="muscle-map">
            <a:extLst xmlns:a="http://schemas.openxmlformats.org/drawingml/2006/main">
              <a:ext uri="{FF2B5EF4-FFF2-40B4-BE49-F238E27FC236}">
                <a16:creationId xmlns:a16="http://schemas.microsoft.com/office/drawing/2014/main" id="{912D8F68-F689-4875-B846-0664630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7700486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targeted-muscle-graph">
            <a:extLst xmlns:a="http://schemas.openxmlformats.org/drawingml/2006/main">
              <a:ext uri="{FF2B5EF4-FFF2-40B4-BE49-F238E27FC236}">
                <a16:creationId xmlns:a16="http://schemas.microsoft.com/office/drawing/2014/main" id="{5235441A-A01D-4E82-8FE0-42858A1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6934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2E3A"/>
                </a:solidFill>
              </a:defRPr>
            </a:pPr>
            <a:r>
              <a:rPr sz="2250" b="1" i="0">
                <a:solidFill>
                  <a:srgbClr val="FF2E3A"/>
                </a:solidFill>
              </a:rPr>
              <a:t>TARGETED MUSCLE GRAPH</a:t>
            </a:r>
          </a:p>
        </p:txBody>
      </p:sp>
      <p:sp>
        <p:nvSpPr>
          <p:cNvPr id="10" name="muscle-0">
            <a:extLst xmlns:a="http://schemas.openxmlformats.org/drawingml/2006/main">
              <a:ext uri="{FF2B5EF4-FFF2-40B4-BE49-F238E27FC236}">
                <a16:creationId xmlns:a16="http://schemas.microsoft.com/office/drawing/2014/main" id="{3A663FCC-6C5D-4AF1-9A00-E8AADBA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1" name="chest">
            <a:extLst xmlns:a="http://schemas.openxmlformats.org/drawingml/2006/main">
              <a:ext uri="{FF2B5EF4-FFF2-40B4-BE49-F238E27FC236}">
                <a16:creationId xmlns:a16="http://schemas.microsoft.com/office/drawing/2014/main" id="{3CBFF4CB-5D68-4131-8210-6F9E1369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Chest</a:t>
            </a:r>
          </a:p>
        </p:txBody>
      </p:sp>
      <p:sp>
        <p:nvSpPr>
          <p:cNvPr id="12" name="muscle-1">
            <a:extLst xmlns:a="http://schemas.openxmlformats.org/drawingml/2006/main">
              <a:ext uri="{FF2B5EF4-FFF2-40B4-BE49-F238E27FC236}">
                <a16:creationId xmlns:a16="http://schemas.microsoft.com/office/drawing/2014/main" id="{B1DCECB8-5267-4B21-ADDE-318BA5E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3" name="back">
            <a:extLst xmlns:a="http://schemas.openxmlformats.org/drawingml/2006/main">
              <a:ext uri="{FF2B5EF4-FFF2-40B4-BE49-F238E27FC236}">
                <a16:creationId xmlns:a16="http://schemas.microsoft.com/office/drawing/2014/main" id="{B86D1306-265B-4F8A-877C-0FEB61BE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Back</a:t>
            </a:r>
          </a:p>
        </p:txBody>
      </p:sp>
      <p:sp>
        <p:nvSpPr>
          <p:cNvPr id="14" name="muscle-2">
            <a:extLst xmlns:a="http://schemas.openxmlformats.org/drawingml/2006/main">
              <a:ext uri="{FF2B5EF4-FFF2-40B4-BE49-F238E27FC236}">
                <a16:creationId xmlns:a16="http://schemas.microsoft.com/office/drawing/2014/main" id="{B98C0479-A29B-4955-B3D8-8452B3FA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5" name="shoulders">
            <a:extLst xmlns:a="http://schemas.openxmlformats.org/drawingml/2006/main">
              <a:ext uri="{FF2B5EF4-FFF2-40B4-BE49-F238E27FC236}">
                <a16:creationId xmlns:a16="http://schemas.microsoft.com/office/drawing/2014/main" id="{92BE432C-A03B-443D-892E-5C6AB18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Shoulders</a:t>
            </a:r>
          </a:p>
        </p:txBody>
      </p:sp>
      <p:sp>
        <p:nvSpPr>
          <p:cNvPr id="16" name="muscle-3">
            <a:extLst xmlns:a="http://schemas.openxmlformats.org/drawingml/2006/main">
              <a:ext uri="{FF2B5EF4-FFF2-40B4-BE49-F238E27FC236}">
                <a16:creationId xmlns:a16="http://schemas.microsoft.com/office/drawing/2014/main" id="{CB2E2619-4726-4BFD-A5E7-D4677D3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legs">
            <a:extLst xmlns:a="http://schemas.openxmlformats.org/drawingml/2006/main">
              <a:ext uri="{FF2B5EF4-FFF2-40B4-BE49-F238E27FC236}">
                <a16:creationId xmlns:a16="http://schemas.microsoft.com/office/drawing/2014/main" id="{C910C5DD-1BB0-4C35-BEE6-7B2F3993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Legs</a:t>
            </a:r>
          </a:p>
        </p:txBody>
      </p:sp>
      <p:sp>
        <p:nvSpPr>
          <p:cNvPr id="18" name="muscle-4">
            <a:extLst xmlns:a="http://schemas.openxmlformats.org/drawingml/2006/main">
              <a:ext uri="{FF2B5EF4-FFF2-40B4-BE49-F238E27FC236}">
                <a16:creationId xmlns:a16="http://schemas.microsoft.com/office/drawing/2014/main" id="{56D8F3F4-CCA6-4EE3-A586-84BCFA9A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9" name="arms">
            <a:extLst xmlns:a="http://schemas.openxmlformats.org/drawingml/2006/main">
              <a:ext uri="{FF2B5EF4-FFF2-40B4-BE49-F238E27FC236}">
                <a16:creationId xmlns:a16="http://schemas.microsoft.com/office/drawing/2014/main" id="{57F3BEB2-CC15-463D-BFCD-782CDA53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Arms</a:t>
            </a:r>
          </a:p>
        </p:txBody>
      </p:sp>
      <p:sp>
        <p:nvSpPr>
          <p:cNvPr id="20" name="muscle-5">
            <a:extLst xmlns:a="http://schemas.openxmlformats.org/drawingml/2006/main">
              <a:ext uri="{FF2B5EF4-FFF2-40B4-BE49-F238E27FC236}">
                <a16:creationId xmlns:a16="http://schemas.microsoft.com/office/drawing/2014/main" id="{A26302BF-4F21-4517-85D6-0E0A35F5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1" name="core">
            <a:extLst xmlns:a="http://schemas.openxmlformats.org/drawingml/2006/main">
              <a:ext uri="{FF2B5EF4-FFF2-40B4-BE49-F238E27FC236}">
                <a16:creationId xmlns:a16="http://schemas.microsoft.com/office/drawing/2014/main" id="{4127D3D8-996B-4EC6-95A5-FC6ED43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Core</a:t>
            </a:r>
          </a:p>
        </p:txBody>
      </p:sp>
      <p:sp>
        <p:nvSpPr>
          <p:cNvPr id="22" name="exercise-selection-muscle-targeting-volume-tr">
            <a:extLst xmlns:a="http://schemas.openxmlformats.org/drawingml/2006/main">
              <a:ext uri="{FF2B5EF4-FFF2-40B4-BE49-F238E27FC236}">
                <a16:creationId xmlns:a16="http://schemas.microsoft.com/office/drawing/2014/main" id="{FFDA8B71-2ED9-4C6B-986F-985265F9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829550"/>
            <a:ext cx="662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Exercise selection → muscle targeting → volume tracking → progressive overload</a:t>
            </a:r>
          </a:p>
        </p:txBody>
      </p:sp>
      <p:sp>
        <p:nvSpPr>
          <p:cNvPr id="23" name="workout-feature-1">
            <a:extLst xmlns:a="http://schemas.openxmlformats.org/drawingml/2006/main">
              <a:ext uri="{FF2B5EF4-FFF2-40B4-BE49-F238E27FC236}">
                <a16:creationId xmlns:a16="http://schemas.microsoft.com/office/drawing/2014/main" id="{AB2E5F79-E800-4F82-8148-E1B8C764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8046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9D3811B-BD4E-4C20-A8AD-CD1E6F5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DF1489C3-246A-4D8F-A913-EC891F0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Targeted muscle selection</a:t>
            </a:r>
          </a:p>
        </p:txBody>
      </p:sp>
      <p:sp>
        <p:nvSpPr>
          <p:cNvPr id="2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F8A4650-363B-4B8F-B381-DD704F19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9A511A5A-C3D3-4011-84C4-65E2282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Exercise recommendations by goal</a:t>
            </a:r>
          </a:p>
        </p:txBody>
      </p:sp>
      <p:sp>
        <p:nvSpPr>
          <p:cNvPr id="2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A87C2029-E4D0-4D33-8C03-1E9EE37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5A32F188-6561-46F2-B3D9-483DA4A0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Beginner-to-advanced plan logic</a:t>
            </a:r>
          </a:p>
        </p:txBody>
      </p:sp>
      <p:sp>
        <p:nvSpPr>
          <p:cNvPr id="30" name="workout-feature-2">
            <a:extLst xmlns:a="http://schemas.openxmlformats.org/drawingml/2006/main">
              <a:ext uri="{FF2B5EF4-FFF2-40B4-BE49-F238E27FC236}">
                <a16:creationId xmlns:a16="http://schemas.microsoft.com/office/drawing/2014/main" id="{A507198F-6936-4D6C-A805-1318552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564261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3D00870-9556-4470-B166-92F8F42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8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4E450F54-81F4-4E1F-B8C0-03F16FD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864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Progressive overload recommendations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F615002-D2F9-4364-A6B7-FA52B842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3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4F067D57-E496-4127-AE32-3EA09BA8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436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Missed-session recovery planning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92640C5-9604-43D4-96D2-FEC657B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89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64502903-CEBE-46EC-B09F-4F4F5152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008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Future form correction with video AI</a:t>
            </a:r>
          </a:p>
        </p:txBody>
      </p:sp>
      <p:sp>
        <p:nvSpPr>
          <p:cNvPr id="37" name="workout-feature-3">
            <a:extLst xmlns:a="http://schemas.openxmlformats.org/drawingml/2006/main">
              <a:ext uri="{FF2B5EF4-FFF2-40B4-BE49-F238E27FC236}">
                <a16:creationId xmlns:a16="http://schemas.microsoft.com/office/drawing/2014/main" id="{BE115B00-8933-4275-A0F1-F2A1E187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7604760"/>
            <a:ext cx="8511064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38" name="future-direction-ai-generated-weekly-programs">
            <a:extLst xmlns:a="http://schemas.openxmlformats.org/drawingml/2006/main">
              <a:ext uri="{FF2B5EF4-FFF2-40B4-BE49-F238E27FC236}">
                <a16:creationId xmlns:a16="http://schemas.microsoft.com/office/drawing/2014/main" id="{821B943F-39F5-4268-83FB-557E333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848600"/>
            <a:ext cx="794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8F5EF"/>
                </a:solidFill>
              </a:defRPr>
            </a:pPr>
            <a:r>
              <a:rPr sz="1875" b="1" i="0">
                <a:solidFill>
                  <a:srgbClr val="F8F5EF"/>
                </a:solidFill>
              </a:rPr>
              <a:t>Future direction: AI-generated weekly programs adapt to adherence, sleep, soreness, equipment, and body-composition goals.</a:t>
            </a:r>
          </a:p>
        </p:txBody>
      </p:sp>
    </p:spTree>
    <p:extLst>
      <p:ext uri="{BB962C8B-B14F-4D97-AF65-F5344CB8AC3E}">
        <p14:creationId xmlns:p14="http://schemas.microsoft.com/office/powerpoint/2010/main" val="17824906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6CDE83D-E519-46F5-A868-01570F6B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09308E0-1CF8-44A1-BD16-B65C19B8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4ECB39B1-B62B-43A9-894A-2AA92E5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4E880BAC-5DF5-4393-A8E2-6156A67A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3B63CC9-EE81-4F35-B1C5-A2B3BCF6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47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NUTRITION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ACB480-9558-45DA-A763-1D03667A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668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Food guidance that adapts to goals and habits.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1868D1-2D72-439B-ACBE-EC57939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29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system turns daily nutrition signals into small, actionable coaching moments.</a:t>
            </a:r>
          </a:p>
        </p:txBody>
      </p:sp>
      <p:sp>
        <p:nvSpPr>
          <p:cNvPr id="8" name="nutrition-macros">
            <a:extLst xmlns:a="http://schemas.openxmlformats.org/drawingml/2006/main">
              <a:ext uri="{FF2B5EF4-FFF2-40B4-BE49-F238E27FC236}">
                <a16:creationId xmlns:a16="http://schemas.microsoft.com/office/drawing/2014/main" id="{4D9DCA50-A140-450A-B083-51127FD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5010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120g">
            <a:extLst xmlns:a="http://schemas.openxmlformats.org/drawingml/2006/main">
              <a:ext uri="{FF2B5EF4-FFF2-40B4-BE49-F238E27FC236}">
                <a16:creationId xmlns:a16="http://schemas.microsoft.com/office/drawing/2014/main" id="{8D948083-9F12-4CD5-805A-C54BEFFC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18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120g</a:t>
            </a:r>
          </a:p>
        </p:txBody>
      </p:sp>
      <p:sp>
        <p:nvSpPr>
          <p:cNvPr id="10" name="protein-target">
            <a:extLst xmlns:a="http://schemas.openxmlformats.org/drawingml/2006/main">
              <a:ext uri="{FF2B5EF4-FFF2-40B4-BE49-F238E27FC236}">
                <a16:creationId xmlns:a16="http://schemas.microsoft.com/office/drawing/2014/main" id="{D5F6BFDE-7C27-45A7-9766-C3E752B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20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protein target</a:t>
            </a:r>
          </a:p>
        </p:txBody>
      </p:sp>
      <p:sp>
        <p:nvSpPr>
          <p:cNvPr id="11" name="example-muscle-gain-target">
            <a:extLst xmlns:a="http://schemas.openxmlformats.org/drawingml/2006/main">
              <a:ext uri="{FF2B5EF4-FFF2-40B4-BE49-F238E27FC236}">
                <a16:creationId xmlns:a16="http://schemas.microsoft.com/office/drawing/2014/main" id="{5AFC81DA-89FB-45B4-9151-B1863240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Example muscle-gain target</a:t>
            </a:r>
          </a:p>
        </p:txBody>
      </p:sp>
      <p:sp>
        <p:nvSpPr>
          <p:cNvPr id="12" name="3l">
            <a:extLst xmlns:a="http://schemas.openxmlformats.org/drawingml/2006/main">
              <a:ext uri="{FF2B5EF4-FFF2-40B4-BE49-F238E27FC236}">
                <a16:creationId xmlns:a16="http://schemas.microsoft.com/office/drawing/2014/main" id="{A6620A37-B27A-47E8-AEA3-EB1C890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55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3L</a:t>
            </a:r>
          </a:p>
        </p:txBody>
      </p:sp>
      <p:sp>
        <p:nvSpPr>
          <p:cNvPr id="13" name="water-target">
            <a:extLst xmlns:a="http://schemas.openxmlformats.org/drawingml/2006/main">
              <a:ext uri="{FF2B5EF4-FFF2-40B4-BE49-F238E27FC236}">
                <a16:creationId xmlns:a16="http://schemas.microsoft.com/office/drawing/2014/main" id="{8F1037DA-6267-40AC-9916-32823626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05350"/>
            <a:ext cx="1066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water target</a:t>
            </a:r>
          </a:p>
        </p:txBody>
      </p:sp>
      <p:sp>
        <p:nvSpPr>
          <p:cNvPr id="14" name="hydration-habit-loop">
            <a:extLst xmlns:a="http://schemas.openxmlformats.org/drawingml/2006/main">
              <a:ext uri="{FF2B5EF4-FFF2-40B4-BE49-F238E27FC236}">
                <a16:creationId xmlns:a16="http://schemas.microsoft.com/office/drawing/2014/main" id="{31CD66AE-9A0B-40ED-B125-815B4E06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95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Hydration habit loop</a:t>
            </a:r>
          </a:p>
        </p:txBody>
      </p:sp>
      <p:sp>
        <p:nvSpPr>
          <p:cNvPr id="15" name="4x">
            <a:extLst xmlns:a="http://schemas.openxmlformats.org/drawingml/2006/main">
              <a:ext uri="{FF2B5EF4-FFF2-40B4-BE49-F238E27FC236}">
                <a16:creationId xmlns:a16="http://schemas.microsoft.com/office/drawing/2014/main" id="{A1342F69-09BF-4A8A-B456-48043BA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571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4x</a:t>
            </a:r>
          </a:p>
        </p:txBody>
      </p:sp>
      <p:sp>
        <p:nvSpPr>
          <p:cNvPr id="16" name="meal-timing">
            <a:extLst xmlns:a="http://schemas.openxmlformats.org/drawingml/2006/main">
              <a:ext uri="{FF2B5EF4-FFF2-40B4-BE49-F238E27FC236}">
                <a16:creationId xmlns:a16="http://schemas.microsoft.com/office/drawing/2014/main" id="{7B1202B3-D806-4FAB-8FFA-092230E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meal timing</a:t>
            </a:r>
          </a:p>
        </p:txBody>
      </p:sp>
      <p:sp>
        <p:nvSpPr>
          <p:cNvPr id="17" name="practical-daily-structure">
            <a:extLst xmlns:a="http://schemas.openxmlformats.org/drawingml/2006/main">
              <a:ext uri="{FF2B5EF4-FFF2-40B4-BE49-F238E27FC236}">
                <a16:creationId xmlns:a16="http://schemas.microsoft.com/office/drawing/2014/main" id="{5221D8D5-D0CD-4CFE-95D0-C08D4A2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54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Practical daily structure</a:t>
            </a:r>
          </a:p>
        </p:txBody>
      </p:sp>
      <p:sp>
        <p:nvSpPr>
          <p:cNvPr id="18" name="nutrition-bullets">
            <a:extLst xmlns:a="http://schemas.openxmlformats.org/drawingml/2006/main">
              <a:ext uri="{FF2B5EF4-FFF2-40B4-BE49-F238E27FC236}">
                <a16:creationId xmlns:a16="http://schemas.microsoft.com/office/drawing/2014/main" id="{C6778627-1986-4EEA-933A-F04BF0B1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2160"/>
            <a:ext cx="8501063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D27C648-056C-487A-9F1A-334E18A8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F74D60B3-0D1C-468E-9E7B-3C1B1B8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60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Goal-specific diet generation</a:t>
            </a:r>
          </a:p>
        </p:txBody>
      </p:sp>
      <p:sp>
        <p:nvSpPr>
          <p:cNvPr id="2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C513E4A0-DFB0-4018-9AEF-F808D50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4F598AB3-ABF8-4D88-A9BC-BF504B4E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53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Macro and hydration tracking</a:t>
            </a:r>
          </a:p>
        </p:txBody>
      </p:sp>
      <p:sp>
        <p:nvSpPr>
          <p:cNvPr id="2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19DA6E1-3DAA-4F51-B067-1EF0AA2B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46888661-ACEB-4C34-ABA8-BB7DD520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104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gap reminders</a:t>
            </a:r>
          </a:p>
        </p:txBody>
      </p:sp>
      <p:sp>
        <p:nvSpPr>
          <p:cNvPr id="2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A724282-7E78-4F28-AF5A-3B5E5C6A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6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6" name="bullet-3">
            <a:extLst xmlns:a="http://schemas.openxmlformats.org/drawingml/2006/main">
              <a:ext uri="{FF2B5EF4-FFF2-40B4-BE49-F238E27FC236}">
                <a16:creationId xmlns:a16="http://schemas.microsoft.com/office/drawing/2014/main" id="{B5F106E2-53CA-4A5E-B5E4-AE59829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676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Context-aware meal suggestions</a:t>
            </a:r>
          </a:p>
        </p:txBody>
      </p:sp>
      <p:sp>
        <p:nvSpPr>
          <p:cNvPr id="27" name="nutrition-note">
            <a:extLst xmlns:a="http://schemas.openxmlformats.org/drawingml/2006/main">
              <a:ext uri="{FF2B5EF4-FFF2-40B4-BE49-F238E27FC236}">
                <a16:creationId xmlns:a16="http://schemas.microsoft.com/office/drawing/2014/main" id="{ABF0EDE0-C27C-4A7B-AC41-D6B7BBEE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57235"/>
            <a:ext cx="8501063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018"/>
          </a:solidFill>
        </p:spPr>
      </p:sp>
      <p:sp>
        <p:nvSpPr>
          <p:cNvPr id="28" name="the-ai-converts-health-data-into-one-next-bes">
            <a:extLst xmlns:a="http://schemas.openxmlformats.org/drawingml/2006/main">
              <a:ext uri="{FF2B5EF4-FFF2-40B4-BE49-F238E27FC236}">
                <a16:creationId xmlns:a16="http://schemas.microsoft.com/office/drawing/2014/main" id="{8E1A8CFF-3C59-4DF1-9B69-2DE0FDF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10600"/>
            <a:ext cx="7924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The AI converts health data into one next best action.</a:t>
            </a:r>
          </a:p>
        </p:txBody>
      </p:sp>
      <p:sp>
        <p:nvSpPr>
          <p:cNvPr id="29" name="nutrition-flow">
            <a:extLst xmlns:a="http://schemas.openxmlformats.org/drawingml/2006/main">
              <a:ext uri="{FF2B5EF4-FFF2-40B4-BE49-F238E27FC236}">
                <a16:creationId xmlns:a16="http://schemas.microsoft.com/office/drawing/2014/main" id="{FE5B356A-4800-41BD-9B3F-58DAC6A8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3680460"/>
            <a:ext cx="7691438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0" name="input-signals">
            <a:extLst xmlns:a="http://schemas.openxmlformats.org/drawingml/2006/main">
              <a:ext uri="{FF2B5EF4-FFF2-40B4-BE49-F238E27FC236}">
                <a16:creationId xmlns:a16="http://schemas.microsoft.com/office/drawing/2014/main" id="{E94D9BD0-2F07-4980-BE4E-BF0A1C5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1010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Input signals</a:t>
            </a:r>
          </a:p>
        </p:txBody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6AB59E7-5B57-47EF-86AD-E57A8CF3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BEB44A13-971C-4FE8-B727-29F44D65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006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Goal: muscle gain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8C6508C-95E6-4DC7-9EE0-D8963B5B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3D996B6F-34C5-4EA0-8742-49DDE95B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578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Weight: 82kg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F068744-48E5-44AF-871D-807D7AAD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CE9125D7-FDF1-484C-A945-340C8D1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today: 60g</a:t>
            </a:r>
          </a:p>
        </p:txBody>
      </p:sp>
      <p:sp>
        <p:nvSpPr>
          <p:cNvPr id="37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F1666CD-DB05-4C2F-ABB8-38D68CE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6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8" name="bullet-3">
            <a:extLst xmlns:a="http://schemas.openxmlformats.org/drawingml/2006/main">
              <a:ext uri="{FF2B5EF4-FFF2-40B4-BE49-F238E27FC236}">
                <a16:creationId xmlns:a16="http://schemas.microsoft.com/office/drawing/2014/main" id="{1B888B97-B74E-4145-9956-BFFB3ED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722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Water today: 1.2L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E9FF14-B08A-4733-8B1C-7472C25F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124700"/>
            <a:ext cx="689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31"/>
          </a:solidFill>
          <a:ln xmlns:a="http://schemas.openxmlformats.org/drawingml/2006/main" w="0">
            <a:solidFill>
              <a:srgbClr val="2B2B31"/>
            </a:solidFill>
            <a:prstDash val="solid"/>
          </a:ln>
        </p:spPr>
      </p:sp>
      <p:sp>
        <p:nvSpPr>
          <p:cNvPr id="40" name="ai-output">
            <a:extLst xmlns:a="http://schemas.openxmlformats.org/drawingml/2006/main">
              <a:ext uri="{FF2B5EF4-FFF2-40B4-BE49-F238E27FC236}">
                <a16:creationId xmlns:a16="http://schemas.microsoft.com/office/drawing/2014/main" id="{9EAD870C-3696-47F4-B9BA-AC52AE1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41045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AI output</a:t>
            </a:r>
          </a:p>
        </p:txBody>
      </p:sp>
      <p:sp>
        <p:nvSpPr>
          <p:cNvPr id="41" name="you-are-behind-on-protein-and-hydration-today">
            <a:extLst xmlns:a="http://schemas.openxmlformats.org/drawingml/2006/main">
              <a:ext uri="{FF2B5EF4-FFF2-40B4-BE49-F238E27FC236}">
                <a16:creationId xmlns:a16="http://schemas.microsoft.com/office/drawing/2014/main" id="{E3BDB535-0E00-461A-9BA3-96D727E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8001000"/>
            <a:ext cx="6896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You are behind on protein and hydration today. Add one high-protein meal and 800ml water before dinner.</a:t>
            </a:r>
          </a:p>
        </p:txBody>
      </p:sp>
    </p:spTree>
    <p:extLst>
      <p:ext uri="{BB962C8B-B14F-4D97-AF65-F5344CB8AC3E}">
        <p14:creationId xmlns:p14="http://schemas.microsoft.com/office/powerpoint/2010/main" val="1107675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1BC9115-5748-4582-9224-AE14D9DD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B6FDE39E-D482-46D2-842A-88B99014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7BEE8FB0-FEA1-424F-BC13-F34FCEC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6D0B1F64-4E9F-4290-9C19-E47264D2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8949889-3503-4BD1-98E3-065B430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COMMUNITY + SOCIAL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E08516-23B0-4766-9AE7-92C6E39F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Accountability is a product feature.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7070C9-E67B-4637-B58E-C05A30DB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305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People continue when they feel seen, challenged, and supported.</a:t>
            </a:r>
          </a:p>
        </p:txBody>
      </p:sp>
      <p:sp>
        <p:nvSpPr>
          <p:cNvPr id="8" name="community-left">
            <a:extLst xmlns:a="http://schemas.openxmlformats.org/drawingml/2006/main">
              <a:ext uri="{FF2B5EF4-FFF2-40B4-BE49-F238E27FC236}">
                <a16:creationId xmlns:a16="http://schemas.microsoft.com/office/drawing/2014/main" id="{D1605C68-4F7C-440A-9D48-8D6452DE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8096250" cy="6888480"/>
          </a:xfrm>
          <a:prstGeom xmlns:a="http://schemas.openxmlformats.org/drawingml/2006/main" prst="roundRect">
            <a:avLst>
              <a:gd name="adj" fmla="val 1659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9776B29C-B058-4003-AA49-037878A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752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8F5EF"/>
                </a:solidFill>
              </a:defRPr>
            </a:pPr>
            <a:r>
              <a:rPr sz="39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10" name="node-0-post">
            <a:extLst xmlns:a="http://schemas.openxmlformats.org/drawingml/2006/main">
              <a:ext uri="{FF2B5EF4-FFF2-40B4-BE49-F238E27FC236}">
                <a16:creationId xmlns:a16="http://schemas.microsoft.com/office/drawing/2014/main" id="{75E52148-1F81-46A4-BEC4-D78F5774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1AFA-4A16-44F3-A7C8-81DB5914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Post</a:t>
            </a:r>
          </a:p>
        </p:txBody>
      </p:sp>
      <p:sp>
        <p:nvSpPr>
          <p:cNvPr id="12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9C148BBD-8235-4611-A6DB-42CC661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node-1-reaction">
            <a:extLst xmlns:a="http://schemas.openxmlformats.org/drawingml/2006/main">
              <a:ext uri="{FF2B5EF4-FFF2-40B4-BE49-F238E27FC236}">
                <a16:creationId xmlns:a16="http://schemas.microsoft.com/office/drawing/2014/main" id="{245ED37C-4D90-4FA2-81D1-2E84D4D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12A17-3035-49A0-945C-F4AE896C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Reaction</a:t>
            </a:r>
          </a:p>
        </p:txBody>
      </p:sp>
      <p:sp>
        <p:nvSpPr>
          <p:cNvPr id="15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EC4399D6-BB7E-4D17-8BBC-BD09C38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6" name="node-2-challenge">
            <a:extLst xmlns:a="http://schemas.openxmlformats.org/drawingml/2006/main">
              <a:ext uri="{FF2B5EF4-FFF2-40B4-BE49-F238E27FC236}">
                <a16:creationId xmlns:a16="http://schemas.microsoft.com/office/drawing/2014/main" id="{2D6D46B7-A5EC-41D7-9906-677B7E0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4A7F6-619F-4045-B0D5-08AF469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Challenge</a:t>
            </a:r>
          </a:p>
        </p:txBody>
      </p:sp>
      <p:sp>
        <p:nvSpPr>
          <p:cNvPr id="18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64F55F44-A314-4FE1-99D5-67E904A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node-3-progress">
            <a:extLst xmlns:a="http://schemas.openxmlformats.org/drawingml/2006/main">
              <a:ext uri="{FF2B5EF4-FFF2-40B4-BE49-F238E27FC236}">
                <a16:creationId xmlns:a16="http://schemas.microsoft.com/office/drawing/2014/main" id="{4290B2B9-0259-4177-A08B-E8671485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3A5CC-62ED-460C-8D70-2BDE2FC8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Progress</a:t>
            </a:r>
          </a:p>
        </p:txBody>
      </p:sp>
      <p:sp>
        <p:nvSpPr>
          <p:cNvPr id="21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9DEC6F93-9400-4636-8BCA-53A23DF0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node-4-retention">
            <a:extLst xmlns:a="http://schemas.openxmlformats.org/drawingml/2006/main">
              <a:ext uri="{FF2B5EF4-FFF2-40B4-BE49-F238E27FC236}">
                <a16:creationId xmlns:a16="http://schemas.microsoft.com/office/drawing/2014/main" id="{60232566-4861-4708-BD74-7995404D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233BE-D004-4538-8E89-0CB56B2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Retention</a:t>
            </a:r>
          </a:p>
        </p:txBody>
      </p:sp>
      <p:sp>
        <p:nvSpPr>
          <p:cNvPr id="24" name="future-creator-layer-trainers-students-athlet">
            <a:extLst xmlns:a="http://schemas.openxmlformats.org/drawingml/2006/main">
              <a:ext uri="{FF2B5EF4-FFF2-40B4-BE49-F238E27FC236}">
                <a16:creationId xmlns:a16="http://schemas.microsoft.com/office/drawing/2014/main" id="{A6AC8A1E-3764-4F27-AAA5-6ADA050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34200"/>
            <a:ext cx="7524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8C2B8"/>
                </a:solidFill>
              </a:defRPr>
            </a:pPr>
            <a:r>
              <a:rPr sz="2025" b="0" i="0">
                <a:solidFill>
                  <a:srgbClr val="C8C2B8"/>
                </a:solidFill>
              </a:rPr>
              <a:t>Future creator layer: trainers, students, athletes, and local gyms can publish challenges, plans, and transformation journeys.</a:t>
            </a:r>
          </a:p>
        </p:txBody>
      </p:sp>
      <p:sp>
        <p:nvSpPr>
          <p:cNvPr id="25" name="community-1">
            <a:extLst xmlns:a="http://schemas.openxmlformats.org/drawingml/2006/main">
              <a:ext uri="{FF2B5EF4-FFF2-40B4-BE49-F238E27FC236}">
                <a16:creationId xmlns:a16="http://schemas.microsoft.com/office/drawing/2014/main" id="{D079A1D7-2190-4E66-A1CF-87E4EE0D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317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AC18030-8EC4-4222-9221-E03ACC92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0">
            <a:extLst xmlns:a="http://schemas.openxmlformats.org/drawingml/2006/main">
              <a:ext uri="{FF2B5EF4-FFF2-40B4-BE49-F238E27FC236}">
                <a16:creationId xmlns:a16="http://schemas.microsoft.com/office/drawing/2014/main" id="{BD07FBEF-AC13-42E8-93F3-1FE72E04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71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 sharing</a:t>
            </a:r>
          </a:p>
        </p:txBody>
      </p:sp>
      <p:sp>
        <p:nvSpPr>
          <p:cNvPr id="2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15B0D25-22D9-4CCB-A3FF-9186EEF0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1">
            <a:extLst xmlns:a="http://schemas.openxmlformats.org/drawingml/2006/main">
              <a:ext uri="{FF2B5EF4-FFF2-40B4-BE49-F238E27FC236}">
                <a16:creationId xmlns:a16="http://schemas.microsoft.com/office/drawing/2014/main" id="{695D207C-04C9-4D14-92A8-D02B41C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Live accountability posts</a:t>
            </a:r>
          </a:p>
        </p:txBody>
      </p:sp>
      <p:sp>
        <p:nvSpPr>
          <p:cNvPr id="3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4772BD1-1B3B-4AD0-A727-1DEFC42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2">
            <a:extLst xmlns:a="http://schemas.openxmlformats.org/drawingml/2006/main">
              <a:ext uri="{FF2B5EF4-FFF2-40B4-BE49-F238E27FC236}">
                <a16:creationId xmlns:a16="http://schemas.microsoft.com/office/drawing/2014/main" id="{BDC7F739-BCAE-4026-91C2-98F208B4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862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AI-assisted encouragement</a:t>
            </a:r>
          </a:p>
        </p:txBody>
      </p:sp>
      <p:sp>
        <p:nvSpPr>
          <p:cNvPr id="3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646B840F-A5AC-4BDA-B66E-F6A9467F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3">
            <a:extLst xmlns:a="http://schemas.openxmlformats.org/drawingml/2006/main">
              <a:ext uri="{FF2B5EF4-FFF2-40B4-BE49-F238E27FC236}">
                <a16:creationId xmlns:a16="http://schemas.microsoft.com/office/drawing/2014/main" id="{B4ACA1F4-B991-4685-A1BD-1C929039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43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Group challenges</a:t>
            </a:r>
          </a:p>
        </p:txBody>
      </p:sp>
      <p:sp>
        <p:nvSpPr>
          <p:cNvPr id="34" name="community-2">
            <a:extLst xmlns:a="http://schemas.openxmlformats.org/drawingml/2006/main">
              <a:ext uri="{FF2B5EF4-FFF2-40B4-BE49-F238E27FC236}">
                <a16:creationId xmlns:a16="http://schemas.microsoft.com/office/drawing/2014/main" id="{320A6633-E50B-4ED2-A28C-A5CB58A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463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978AEDC-3B11-468C-9D2D-8A05D55E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0">
            <a:extLst xmlns:a="http://schemas.openxmlformats.org/drawingml/2006/main">
              <a:ext uri="{FF2B5EF4-FFF2-40B4-BE49-F238E27FC236}">
                <a16:creationId xmlns:a16="http://schemas.microsoft.com/office/drawing/2014/main" id="{7980B3D0-D7BA-4799-8DA6-EBFEF7FB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86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College fitness clubs</a:t>
            </a:r>
          </a:p>
        </p:txBody>
      </p:sp>
      <p:sp>
        <p:nvSpPr>
          <p:cNvPr id="3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BBD4D0BB-C798-4EF4-A553-B45C63EF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DCE0B660-8EAD-4B99-8C31-761A7A2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9436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 partnerships</a:t>
            </a:r>
          </a:p>
        </p:txBody>
      </p:sp>
      <p:sp>
        <p:nvSpPr>
          <p:cNvPr id="3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066A566-1590-4CB9-A9B6-AB3076F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0" name="bullet-2">
            <a:extLst xmlns:a="http://schemas.openxmlformats.org/drawingml/2006/main">
              <a:ext uri="{FF2B5EF4-FFF2-40B4-BE49-F238E27FC236}">
                <a16:creationId xmlns:a16="http://schemas.microsoft.com/office/drawing/2014/main" id="{D1054CA3-936E-4172-A1D7-49E686F8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00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Creator-led programs</a:t>
            </a:r>
          </a:p>
        </p:txBody>
      </p:sp>
      <p:sp>
        <p:nvSpPr>
          <p:cNvPr id="41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B419028-93AB-45CC-BF8A-608538B9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5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2" name="bullet-3">
            <a:extLst xmlns:a="http://schemas.openxmlformats.org/drawingml/2006/main">
              <a:ext uri="{FF2B5EF4-FFF2-40B4-BE49-F238E27FC236}">
                <a16:creationId xmlns:a16="http://schemas.microsoft.com/office/drawing/2014/main" id="{937D080F-9296-4BDF-852F-D04C9A52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858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Regional health communities</a:t>
            </a:r>
          </a:p>
        </p:txBody>
      </p:sp>
      <p:sp>
        <p:nvSpPr>
          <p:cNvPr id="43" name="community-3">
            <a:extLst xmlns:a="http://schemas.openxmlformats.org/drawingml/2006/main">
              <a:ext uri="{FF2B5EF4-FFF2-40B4-BE49-F238E27FC236}">
                <a16:creationId xmlns:a16="http://schemas.microsoft.com/office/drawing/2014/main" id="{63E150AB-5B9F-4F97-AFC7-BE4AEDC1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760970"/>
            <a:ext cx="8096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44" name="social-proof-can-become-the-growth-engine-use">
            <a:extLst xmlns:a="http://schemas.openxmlformats.org/drawingml/2006/main">
              <a:ext uri="{FF2B5EF4-FFF2-40B4-BE49-F238E27FC236}">
                <a16:creationId xmlns:a16="http://schemas.microsoft.com/office/drawing/2014/main" id="{2EF7E58C-862B-4C0C-8664-F726AB3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001000"/>
            <a:ext cx="7524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8F5EF"/>
                </a:solidFill>
              </a:defRPr>
            </a:pPr>
            <a:r>
              <a:rPr sz="2325" b="1" i="0">
                <a:solidFill>
                  <a:srgbClr val="F8F5EF"/>
                </a:solidFill>
              </a:rPr>
              <a:t>Social proof can become the growth engine: users invite friends because consistency is easier together.</a:t>
            </a:r>
          </a:p>
        </p:txBody>
      </p:sp>
    </p:spTree>
    <p:extLst>
      <p:ext uri="{BB962C8B-B14F-4D97-AF65-F5344CB8AC3E}">
        <p14:creationId xmlns:p14="http://schemas.microsoft.com/office/powerpoint/2010/main" val="85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43BD454-B904-4465-97BD-B762F808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DD8C8216-A9B9-49F9-BE8B-41962421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E04A1D3-4FE9-421E-B510-7DE41600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7016870B-6BB6-4D59-BC07-D66D761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270B0F1-0359-4A09-BA94-5F03F46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83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TECH STACK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7148F4-CA4B-4DCB-A284-C2F24A2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1539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Built like a scalable SaaS, evolving into an AI research platform.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2902D0-D655-4B20-ACF8-214FDC0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24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current architecture separates product, backend services, AI memory, and future model development.</a:t>
            </a:r>
          </a:p>
        </p:txBody>
      </p:sp>
      <p:sp>
        <p:nvSpPr>
          <p:cNvPr id="8" name="tech-front">
            <a:extLst xmlns:a="http://schemas.openxmlformats.org/drawingml/2006/main">
              <a:ext uri="{FF2B5EF4-FFF2-40B4-BE49-F238E27FC236}">
                <a16:creationId xmlns:a16="http://schemas.microsoft.com/office/drawing/2014/main" id="{DBEC848F-203A-4ECA-9687-CED30E68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ontend">
            <a:extLst xmlns:a="http://schemas.openxmlformats.org/drawingml/2006/main">
              <a:ext uri="{FF2B5EF4-FFF2-40B4-BE49-F238E27FC236}">
                <a16:creationId xmlns:a16="http://schemas.microsoft.com/office/drawing/2014/main" id="{B82A39F3-871C-4156-9E88-D1FC578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Frontend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FCFED78F-2504-4A15-A458-7FD18F34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BCA39E86-81DA-4DDA-B510-519A036A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React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8C3BC25-5816-4305-BDA6-E4505AE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7166DE4D-1A59-4805-ABF0-F8420C8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Framer Motion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B683D8B-1AE4-4C91-B338-C0913E4C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DF3C996C-F230-4C9F-9FD8-3C4BE58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Styled Components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383CDC4-4879-45DE-BDB2-4FA3EBB4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C1EA4975-B254-4E8D-B78A-A3468F54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Lenis smooth scroll</a:t>
            </a:r>
          </a:p>
        </p:txBody>
      </p:sp>
      <p:sp>
        <p:nvSpPr>
          <p:cNvPr id="18" name="tech-back">
            <a:extLst xmlns:a="http://schemas.openxmlformats.org/drawingml/2006/main">
              <a:ext uri="{FF2B5EF4-FFF2-40B4-BE49-F238E27FC236}">
                <a16:creationId xmlns:a16="http://schemas.microsoft.com/office/drawing/2014/main" id="{64ADBA73-66BF-4F29-BA44-BD1C4B97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ackend">
            <a:extLst xmlns:a="http://schemas.openxmlformats.org/drawingml/2006/main">
              <a:ext uri="{FF2B5EF4-FFF2-40B4-BE49-F238E27FC236}">
                <a16:creationId xmlns:a16="http://schemas.microsoft.com/office/drawing/2014/main" id="{417A533D-24E7-4D03-BE7E-E240DFD5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Backend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1E2F12C-3450-4DFC-84D3-B68A481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3FBCCF8C-5B08-4536-908D-D3FEA307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Node.js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BE9ECB7A-BED9-4CC5-92BA-86F61570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2FCEA7BA-5BC2-43E9-97C2-5622CA0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Express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FE9A270-8E20-4DED-BCA3-78A0C29C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0B6422A1-AD90-42B8-949E-E32CBCDC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JWT auth</a:t>
            </a:r>
          </a:p>
        </p:txBody>
      </p:sp>
      <p:sp>
        <p:nvSpPr>
          <p:cNvPr id="2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85CE13D-01B9-42B1-BB0D-2284458A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3">
            <a:extLst xmlns:a="http://schemas.openxmlformats.org/drawingml/2006/main">
              <a:ext uri="{FF2B5EF4-FFF2-40B4-BE49-F238E27FC236}">
                <a16:creationId xmlns:a16="http://schemas.microsoft.com/office/drawing/2014/main" id="{8249F7A9-2F45-422F-B0AA-489D9441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API v1 routes</a:t>
            </a:r>
          </a:p>
        </p:txBody>
      </p:sp>
      <p:sp>
        <p:nvSpPr>
          <p:cNvPr id="28" name="tech-ai">
            <a:extLst xmlns:a="http://schemas.openxmlformats.org/drawingml/2006/main">
              <a:ext uri="{FF2B5EF4-FFF2-40B4-BE49-F238E27FC236}">
                <a16:creationId xmlns:a16="http://schemas.microsoft.com/office/drawing/2014/main" id="{1D71AFCF-26A5-4147-A62B-B5A851D2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9" name="ai-layer">
            <a:extLst xmlns:a="http://schemas.openxmlformats.org/drawingml/2006/main">
              <a:ext uri="{FF2B5EF4-FFF2-40B4-BE49-F238E27FC236}">
                <a16:creationId xmlns:a16="http://schemas.microsoft.com/office/drawing/2014/main" id="{F80A933A-BBF4-4D3C-9621-39B88CE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AI Layer</a:t>
            </a:r>
          </a:p>
        </p:txBody>
      </p:sp>
      <p:sp>
        <p:nvSpPr>
          <p:cNvPr id="3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774CDE9-D9E1-4758-8AC1-87C094F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0">
            <a:extLst xmlns:a="http://schemas.openxmlformats.org/drawingml/2006/main">
              <a:ext uri="{FF2B5EF4-FFF2-40B4-BE49-F238E27FC236}">
                <a16:creationId xmlns:a16="http://schemas.microsoft.com/office/drawing/2014/main" id="{6BCD9AE7-8F30-4055-B048-355A9769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Memory service</a:t>
            </a:r>
          </a:p>
        </p:txBody>
      </p:sp>
      <p:sp>
        <p:nvSpPr>
          <p:cNvPr id="3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4CF8C84-4131-4BC2-8C64-359FFA7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1">
            <a:extLst xmlns:a="http://schemas.openxmlformats.org/drawingml/2006/main">
              <a:ext uri="{FF2B5EF4-FFF2-40B4-BE49-F238E27FC236}">
                <a16:creationId xmlns:a16="http://schemas.microsoft.com/office/drawing/2014/main" id="{D6FCEC99-3081-4ADF-878A-4EEB03DB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Routing engine</a:t>
            </a:r>
          </a:p>
        </p:txBody>
      </p:sp>
      <p:sp>
        <p:nvSpPr>
          <p:cNvPr id="3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CED1228-7A29-4C42-B86B-315345F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5" name="bullet-2">
            <a:extLst xmlns:a="http://schemas.openxmlformats.org/drawingml/2006/main">
              <a:ext uri="{FF2B5EF4-FFF2-40B4-BE49-F238E27FC236}">
                <a16:creationId xmlns:a16="http://schemas.microsoft.com/office/drawing/2014/main" id="{279187BA-F198-4A82-8A13-4BCE3D3B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Notification triggers</a:t>
            </a:r>
          </a:p>
        </p:txBody>
      </p:sp>
      <p:sp>
        <p:nvSpPr>
          <p:cNvPr id="3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D6F00C6-9582-4538-A5E8-7B763119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7" name="bullet-3">
            <a:extLst xmlns:a="http://schemas.openxmlformats.org/drawingml/2006/main">
              <a:ext uri="{FF2B5EF4-FFF2-40B4-BE49-F238E27FC236}">
                <a16:creationId xmlns:a16="http://schemas.microsoft.com/office/drawing/2014/main" id="{1ABC787A-ADA2-4F4A-981F-EE0E80FA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Custom transformer research</a:t>
            </a:r>
          </a:p>
        </p:txBody>
      </p:sp>
      <p:sp>
        <p:nvSpPr>
          <p:cNvPr id="38" name="tech-future">
            <a:extLst xmlns:a="http://schemas.openxmlformats.org/drawingml/2006/main">
              <a:ext uri="{FF2B5EF4-FFF2-40B4-BE49-F238E27FC236}">
                <a16:creationId xmlns:a16="http://schemas.microsoft.com/office/drawing/2014/main" id="{6A592DE4-F7CA-4601-A8A0-351E1CA3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9" name="future">
            <a:extLst xmlns:a="http://schemas.openxmlformats.org/drawingml/2006/main">
              <a:ext uri="{FF2B5EF4-FFF2-40B4-BE49-F238E27FC236}">
                <a16:creationId xmlns:a16="http://schemas.microsoft.com/office/drawing/2014/main" id="{62AA29C5-0C8E-44AA-A56D-87760655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Future</a:t>
            </a:r>
          </a:p>
        </p:txBody>
      </p:sp>
      <p:sp>
        <p:nvSpPr>
          <p:cNvPr id="4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702BE792-52EA-48C7-850D-6D4AB932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1" name="bullet-0">
            <a:extLst xmlns:a="http://schemas.openxmlformats.org/drawingml/2006/main">
              <a:ext uri="{FF2B5EF4-FFF2-40B4-BE49-F238E27FC236}">
                <a16:creationId xmlns:a16="http://schemas.microsoft.com/office/drawing/2014/main" id="{E79A618C-6365-435D-8125-3703427D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C++ inference</a:t>
            </a:r>
          </a:p>
        </p:txBody>
      </p:sp>
      <p:sp>
        <p:nvSpPr>
          <p:cNvPr id="4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FA85D7D-9FC1-4001-9BE6-F6A4609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3" name="bullet-1">
            <a:extLst xmlns:a="http://schemas.openxmlformats.org/drawingml/2006/main">
              <a:ext uri="{FF2B5EF4-FFF2-40B4-BE49-F238E27FC236}">
                <a16:creationId xmlns:a16="http://schemas.microsoft.com/office/drawing/2014/main" id="{44F46A63-E0FF-4DB4-AA9B-0010650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Wearables</a:t>
            </a:r>
          </a:p>
        </p:txBody>
      </p:sp>
      <p:sp>
        <p:nvSpPr>
          <p:cNvPr id="4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CCE14C5-38C0-4647-93E7-88C1DD7C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5" name="bullet-2">
            <a:extLst xmlns:a="http://schemas.openxmlformats.org/drawingml/2006/main">
              <a:ext uri="{FF2B5EF4-FFF2-40B4-BE49-F238E27FC236}">
                <a16:creationId xmlns:a16="http://schemas.microsoft.com/office/drawing/2014/main" id="{881A1B35-7180-4438-A7D9-BD0782EC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video generation</a:t>
            </a:r>
          </a:p>
        </p:txBody>
      </p:sp>
      <p:sp>
        <p:nvSpPr>
          <p:cNvPr id="4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1041F1F-4C56-4671-BEA6-6F77E34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7" name="bullet-3">
            <a:extLst xmlns:a="http://schemas.openxmlformats.org/drawingml/2006/main">
              <a:ext uri="{FF2B5EF4-FFF2-40B4-BE49-F238E27FC236}">
                <a16:creationId xmlns:a16="http://schemas.microsoft.com/office/drawing/2014/main" id="{D4D0F4B7-9C38-4FEA-BDFD-7C83DF5D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Institutional GPU training</a:t>
            </a:r>
          </a:p>
        </p:txBody>
      </p:sp>
    </p:spTree>
    <p:extLst>
      <p:ext uri="{BB962C8B-B14F-4D97-AF65-F5344CB8AC3E}">
        <p14:creationId xmlns:p14="http://schemas.microsoft.com/office/powerpoint/2010/main" val="11330356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6C96352-0EA4-469C-9D99-32D225DE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07A3FE1B-40E3-48E3-8570-D7FEAAE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80458B8-E240-4981-B805-C1A22787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0876352A-75FB-4041-B771-E3B8031B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72EF0C88-DBEF-472F-95AB-1CBE954D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95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MARKET OPPORTUNITY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C01EC-953C-4DF6-9781-4DDCBCFF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AI + digital health + fitness is converging now.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00AD9E-F1C9-4FC8-B299-40FA5E9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53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sits at the intersection of personalized AI, wellness apps, digital health, and youth fitness behavior.</a:t>
            </a:r>
          </a:p>
        </p:txBody>
      </p:sp>
      <p:sp>
        <p:nvSpPr>
          <p:cNvPr id="8" name="market-m1">
            <a:extLst xmlns:a="http://schemas.openxmlformats.org/drawingml/2006/main">
              <a:ext uri="{FF2B5EF4-FFF2-40B4-BE49-F238E27FC236}">
                <a16:creationId xmlns:a16="http://schemas.microsoft.com/office/drawing/2014/main" id="{0C1874C0-F4CE-41CB-B31E-99F6D83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42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-106-97b">
            <a:extLst xmlns:a="http://schemas.openxmlformats.org/drawingml/2006/main">
              <a:ext uri="{FF2B5EF4-FFF2-40B4-BE49-F238E27FC236}">
                <a16:creationId xmlns:a16="http://schemas.microsoft.com/office/drawing/2014/main" id="{839F1A6A-DC42-479C-99B6-6EBC5CE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286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$106.97B</a:t>
            </a:r>
          </a:p>
        </p:txBody>
      </p:sp>
      <p:sp>
        <p:nvSpPr>
          <p:cNvPr id="10" name="india-digital-health-market-by-2033">
            <a:extLst xmlns:a="http://schemas.openxmlformats.org/drawingml/2006/main">
              <a:ext uri="{FF2B5EF4-FFF2-40B4-BE49-F238E27FC236}">
                <a16:creationId xmlns:a16="http://schemas.microsoft.com/office/drawing/2014/main" id="{3BDDD732-9C35-4FA3-B6CE-52A0D67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028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 digital health market by 2033</a:t>
            </a:r>
          </a:p>
        </p:txBody>
      </p:sp>
      <p:sp>
        <p:nvSpPr>
          <p:cNvPr id="11" name="grand-view-research-projection">
            <a:extLst xmlns:a="http://schemas.openxmlformats.org/drawingml/2006/main">
              <a:ext uri="{FF2B5EF4-FFF2-40B4-BE49-F238E27FC236}">
                <a16:creationId xmlns:a16="http://schemas.microsoft.com/office/drawing/2014/main" id="{D8A7EAAE-9CC0-493B-8DE7-3282052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Grand View Research projection</a:t>
            </a:r>
          </a:p>
        </p:txBody>
      </p:sp>
      <p:sp>
        <p:nvSpPr>
          <p:cNvPr id="12" name="market-m2">
            <a:extLst xmlns:a="http://schemas.openxmlformats.org/drawingml/2006/main">
              <a:ext uri="{FF2B5EF4-FFF2-40B4-BE49-F238E27FC236}">
                <a16:creationId xmlns:a16="http://schemas.microsoft.com/office/drawing/2014/main" id="{5A38ED53-9C52-4FE4-B4CC-B9B6F3E3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54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14-1-">
            <a:extLst xmlns:a="http://schemas.openxmlformats.org/drawingml/2006/main">
              <a:ext uri="{FF2B5EF4-FFF2-40B4-BE49-F238E27FC236}">
                <a16:creationId xmlns:a16="http://schemas.microsoft.com/office/drawing/2014/main" id="{512BDA07-FE6F-4AA3-A13A-DFF798E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1485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14.1%</a:t>
            </a:r>
          </a:p>
        </p:txBody>
      </p:sp>
      <p:sp>
        <p:nvSpPr>
          <p:cNvPr id="14" name="fitness-mhealth-apps-cagr">
            <a:extLst xmlns:a="http://schemas.openxmlformats.org/drawingml/2006/main">
              <a:ext uri="{FF2B5EF4-FFF2-40B4-BE49-F238E27FC236}">
                <a16:creationId xmlns:a16="http://schemas.microsoft.com/office/drawing/2014/main" id="{2507CD53-41A2-4959-B6E1-EEFAD0B3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236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fitness mHealth apps CAGR</a:t>
            </a:r>
          </a:p>
        </p:txBody>
      </p:sp>
      <p:sp>
        <p:nvSpPr>
          <p:cNvPr id="15" name="global-2024-2030-estimate">
            <a:extLst xmlns:a="http://schemas.openxmlformats.org/drawingml/2006/main">
              <a:ext uri="{FF2B5EF4-FFF2-40B4-BE49-F238E27FC236}">
                <a16:creationId xmlns:a16="http://schemas.microsoft.com/office/drawing/2014/main" id="{63E9793F-1D40-4A22-B008-EE33357D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00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Global 2024-2030 estimate</a:t>
            </a:r>
          </a:p>
        </p:txBody>
      </p:sp>
      <p:sp>
        <p:nvSpPr>
          <p:cNvPr id="16" name="market-m3">
            <a:extLst xmlns:a="http://schemas.openxmlformats.org/drawingml/2006/main">
              <a:ext uri="{FF2B5EF4-FFF2-40B4-BE49-F238E27FC236}">
                <a16:creationId xmlns:a16="http://schemas.microsoft.com/office/drawing/2014/main" id="{A4B11996-CD57-4979-8DD3-BDFF66A5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66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-10-300cr-">
            <a:extLst xmlns:a="http://schemas.openxmlformats.org/drawingml/2006/main">
              <a:ext uri="{FF2B5EF4-FFF2-40B4-BE49-F238E27FC236}">
                <a16:creationId xmlns:a16="http://schemas.microsoft.com/office/drawing/2014/main" id="{11818AC9-4E74-4DBD-A499-A52AD2C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0"/>
            <a:ext cx="2762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₹10,300Cr+</a:t>
            </a:r>
          </a:p>
        </p:txBody>
      </p:sp>
      <p:sp>
        <p:nvSpPr>
          <p:cNvPr id="18" name="indiaai-mission-outlay">
            <a:extLst xmlns:a="http://schemas.openxmlformats.org/drawingml/2006/main">
              <a:ext uri="{FF2B5EF4-FFF2-40B4-BE49-F238E27FC236}">
                <a16:creationId xmlns:a16="http://schemas.microsoft.com/office/drawing/2014/main" id="{80D8516B-C8C6-4F10-B7D5-409CA42B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943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IndiaAI Mission outlay</a:t>
            </a:r>
          </a:p>
        </p:txBody>
      </p:sp>
      <p:sp>
        <p:nvSpPr>
          <p:cNvPr id="19" name="national-push-for-ai-compute-and-startups">
            <a:extLst xmlns:a="http://schemas.openxmlformats.org/drawingml/2006/main">
              <a:ext uri="{FF2B5EF4-FFF2-40B4-BE49-F238E27FC236}">
                <a16:creationId xmlns:a16="http://schemas.microsoft.com/office/drawing/2014/main" id="{E142A21F-0601-4B7A-88E3-27C6C847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821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National push for AI compute and startups</a:t>
            </a:r>
          </a:p>
        </p:txBody>
      </p:sp>
      <p:sp>
        <p:nvSpPr>
          <p:cNvPr id="20" name="market-chart-panel">
            <a:extLst xmlns:a="http://schemas.openxmlformats.org/drawingml/2006/main">
              <a:ext uri="{FF2B5EF4-FFF2-40B4-BE49-F238E27FC236}">
                <a16:creationId xmlns:a16="http://schemas.microsoft.com/office/drawing/2014/main" id="{638FACD1-0CB0-4EB6-A954-B1EA35A9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04260"/>
            <a:ext cx="8511064" cy="6015990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market-expansion-signals">
            <a:extLst xmlns:a="http://schemas.openxmlformats.org/drawingml/2006/main">
              <a:ext uri="{FF2B5EF4-FFF2-40B4-BE49-F238E27FC236}">
                <a16:creationId xmlns:a16="http://schemas.microsoft.com/office/drawing/2014/main" id="{C2B4B3D0-5427-49B9-A99C-6A202F35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7867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Market expansion signals</a:t>
            </a:r>
          </a:p>
        </p:txBody>
      </p:sp>
      <p:graphicFrame>
        <p:nvGraphicFramePr>
          <p:cNvPr id="22" name="market-chart-main"/>
          <p:cNvGraphicFramePr/>
          <p:nvPr/>
        </p:nvGraphicFramePr>
        <p:xfrm>
          <a:off xmlns:a="http://schemas.openxmlformats.org/drawingml/2006/main" x="9319736" y="4431030"/>
          <a:ext xmlns:a="http://schemas.openxmlformats.org/drawingml/2006/main" cx="7863364" cy="45796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637db10e554055"/>
          </a:graphicData>
        </a:graphic>
      </p:graphicFrame>
      <p:sp>
        <p:nvSpPr>
          <p:cNvPr id="23" name="sources-who-grand-view-research-pib-indiaai-m">
            <a:extLst xmlns:a="http://schemas.openxmlformats.org/drawingml/2006/main">
              <a:ext uri="{FF2B5EF4-FFF2-40B4-BE49-F238E27FC236}">
                <a16:creationId xmlns:a16="http://schemas.microsoft.com/office/drawing/2014/main" id="{0C1AF258-6EF8-4D75-8855-CFA53E1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163050"/>
            <a:ext cx="7867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D8990"/>
                </a:solidFill>
              </a:defRPr>
            </a:pPr>
            <a:r>
              <a:rPr sz="1125" b="0" i="0">
                <a:solidFill>
                  <a:srgbClr val="8D8990"/>
                </a:solidFill>
              </a:rPr>
              <a:t>Sources: WHO, Grand View Research, PIB IndiaAI Mission.</a:t>
            </a:r>
          </a:p>
        </p:txBody>
      </p:sp>
    </p:spTree>
    <p:extLst>
      <p:ext uri="{BB962C8B-B14F-4D97-AF65-F5344CB8AC3E}">
        <p14:creationId xmlns:p14="http://schemas.microsoft.com/office/powerpoint/2010/main" val="5455231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706B605-DBA8-4D2A-9C00-1CF701E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8A3334DB-18DA-4CF5-8E24-EAA8FA8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33B0531-973B-4FF4-91CF-4CE43641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92549733-7F4B-4A30-B742-71CBE692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74BE94C-6A54-46FD-AD8B-D14EB32D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NOW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20EC41-5CD7-4D48-BAD8-30C84B34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80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infrastructure finally exists for personal AI wellness.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93F5C-F422-4082-AD0E-91EE3120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60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next generation of health products will not be passive trackers. They will be active companions.</a:t>
            </a:r>
          </a:p>
        </p:txBody>
      </p:sp>
      <p:sp>
        <p:nvSpPr>
          <p:cNvPr id="8" name="why-ai">
            <a:extLst xmlns:a="http://schemas.openxmlformats.org/drawingml/2006/main">
              <a:ext uri="{FF2B5EF4-FFF2-40B4-BE49-F238E27FC236}">
                <a16:creationId xmlns:a16="http://schemas.microsoft.com/office/drawing/2014/main" id="{B0C34D2A-77F6-4154-A253-B4C625CB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ai-adoption">
            <a:extLst xmlns:a="http://schemas.openxmlformats.org/drawingml/2006/main">
              <a:ext uri="{FF2B5EF4-FFF2-40B4-BE49-F238E27FC236}">
                <a16:creationId xmlns:a16="http://schemas.microsoft.com/office/drawing/2014/main" id="{146F736C-3A9D-4F13-B927-3EC6B61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adoption</a:t>
            </a:r>
          </a:p>
        </p:txBody>
      </p:sp>
      <p:sp>
        <p:nvSpPr>
          <p:cNvPr id="10" name="users-now-understand-ai-assistants-and-expect">
            <a:extLst xmlns:a="http://schemas.openxmlformats.org/drawingml/2006/main">
              <a:ext uri="{FF2B5EF4-FFF2-40B4-BE49-F238E27FC236}">
                <a16:creationId xmlns:a16="http://schemas.microsoft.com/office/drawing/2014/main" id="{C8FF7144-8FD0-4149-8715-5EC0F3DC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Users now understand AI assistants and expect personalization.</a:t>
            </a:r>
          </a:p>
        </p:txBody>
      </p:sp>
      <p:sp>
        <p:nvSpPr>
          <p:cNvPr id="11" name="why-health">
            <a:extLst xmlns:a="http://schemas.openxmlformats.org/drawingml/2006/main">
              <a:ext uri="{FF2B5EF4-FFF2-40B4-BE49-F238E27FC236}">
                <a16:creationId xmlns:a16="http://schemas.microsoft.com/office/drawing/2014/main" id="{71DE7690-399F-4E5E-864C-32CEB2FA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health-urgency">
            <a:extLst xmlns:a="http://schemas.openxmlformats.org/drawingml/2006/main">
              <a:ext uri="{FF2B5EF4-FFF2-40B4-BE49-F238E27FC236}">
                <a16:creationId xmlns:a16="http://schemas.microsoft.com/office/drawing/2014/main" id="{CC4EE38A-22FE-4794-A147-B3D76BD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Health urgency</a:t>
            </a:r>
          </a:p>
        </p:txBody>
      </p:sp>
      <p:sp>
        <p:nvSpPr>
          <p:cNvPr id="13" name="physical-inactivity-and-lifestyle-diseases-cr">
            <a:extLst xmlns:a="http://schemas.openxmlformats.org/drawingml/2006/main">
              <a:ext uri="{FF2B5EF4-FFF2-40B4-BE49-F238E27FC236}">
                <a16:creationId xmlns:a16="http://schemas.microsoft.com/office/drawing/2014/main" id="{F2F749B3-BA45-429A-9EE6-E161D752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Physical inactivity and lifestyle diseases create public health pressure.</a:t>
            </a:r>
          </a:p>
        </p:txBody>
      </p:sp>
      <p:sp>
        <p:nvSpPr>
          <p:cNvPr id="14" name="why-wearables">
            <a:extLst xmlns:a="http://schemas.openxmlformats.org/drawingml/2006/main">
              <a:ext uri="{FF2B5EF4-FFF2-40B4-BE49-F238E27FC236}">
                <a16:creationId xmlns:a16="http://schemas.microsoft.com/office/drawing/2014/main" id="{3E915961-D260-45E9-990F-9958C9BF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wearable-data">
            <a:extLst xmlns:a="http://schemas.openxmlformats.org/drawingml/2006/main">
              <a:ext uri="{FF2B5EF4-FFF2-40B4-BE49-F238E27FC236}">
                <a16:creationId xmlns:a16="http://schemas.microsoft.com/office/drawing/2014/main" id="{4820AF05-E698-4742-8E4A-9626F33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Wearable data</a:t>
            </a:r>
          </a:p>
        </p:txBody>
      </p:sp>
      <p:sp>
        <p:nvSpPr>
          <p:cNvPr id="16" name="more-users-generate-signals-that-can-power-ad">
            <a:extLst xmlns:a="http://schemas.openxmlformats.org/drawingml/2006/main">
              <a:ext uri="{FF2B5EF4-FFF2-40B4-BE49-F238E27FC236}">
                <a16:creationId xmlns:a16="http://schemas.microsoft.com/office/drawing/2014/main" id="{91788B61-6952-40A9-AC6D-A72CB1E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More users generate signals that can power adaptive recommendations.</a:t>
            </a:r>
          </a:p>
        </p:txBody>
      </p:sp>
      <p:sp>
        <p:nvSpPr>
          <p:cNvPr id="17" name="why-india">
            <a:extLst xmlns:a="http://schemas.openxmlformats.org/drawingml/2006/main">
              <a:ext uri="{FF2B5EF4-FFF2-40B4-BE49-F238E27FC236}">
                <a16:creationId xmlns:a16="http://schemas.microsoft.com/office/drawing/2014/main" id="{FE544595-DF09-4596-AD84-92A8014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-ai-mission">
            <a:extLst xmlns:a="http://schemas.openxmlformats.org/drawingml/2006/main">
              <a:ext uri="{FF2B5EF4-FFF2-40B4-BE49-F238E27FC236}">
                <a16:creationId xmlns:a16="http://schemas.microsoft.com/office/drawing/2014/main" id="{DEB205D7-47FD-446F-AE33-67559E6B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India AI mission</a:t>
            </a:r>
          </a:p>
        </p:txBody>
      </p:sp>
      <p:sp>
        <p:nvSpPr>
          <p:cNvPr id="19" name="government-compute-datasets-skilling-and-star">
            <a:extLst xmlns:a="http://schemas.openxmlformats.org/drawingml/2006/main">
              <a:ext uri="{FF2B5EF4-FFF2-40B4-BE49-F238E27FC236}">
                <a16:creationId xmlns:a16="http://schemas.microsoft.com/office/drawing/2014/main" id="{382CF367-F852-4116-8CC0-5888B37A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Government compute, datasets, skilling, and startup financing align with this build.</a:t>
            </a:r>
          </a:p>
        </p:txBody>
      </p:sp>
    </p:spTree>
    <p:extLst>
      <p:ext uri="{BB962C8B-B14F-4D97-AF65-F5344CB8AC3E}">
        <p14:creationId xmlns:p14="http://schemas.microsoft.com/office/powerpoint/2010/main" val="1382919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E237D62-BE09-46AB-8FE5-8A271CFE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BAE86DF-A72C-477F-B615-57E4A700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8438AF6-50F5-49E1-8627-7FF3CA3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073947D7-BA56-403A-AF0B-1D3C9D5B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48AC36F6-A95A-4B31-AC22-AEEC2FC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COMPETITOR COMPARISON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55A07C-7A1C-4EFA-969E-9E341B41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64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gap is not content. The gap is adaptive intelligence.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0F79EA-BE30-450A-B237-B7072BC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combines specialization, memory, behavior, and ecosystem design.</a:t>
            </a:r>
          </a:p>
        </p:txBody>
      </p:sp>
      <p:sp>
        <p:nvSpPr>
          <p:cNvPr id="8" name="comparison-table">
            <a:extLst xmlns:a="http://schemas.openxmlformats.org/drawingml/2006/main">
              <a:ext uri="{FF2B5EF4-FFF2-40B4-BE49-F238E27FC236}">
                <a16:creationId xmlns:a16="http://schemas.microsoft.com/office/drawing/2014/main" id="{185199C1-A6BB-4A85-89EB-994C77D5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6620"/>
            <a:ext cx="16725900" cy="6183630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ell-0-0">
            <a:extLst xmlns:a="http://schemas.openxmlformats.org/drawingml/2006/main">
              <a:ext uri="{FF2B5EF4-FFF2-40B4-BE49-F238E27FC236}">
                <a16:creationId xmlns:a16="http://schemas.microsoft.com/office/drawing/2014/main" id="{5E42679E-4A79-4A40-AED6-210365B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3320"/>
            <a:ext cx="4252784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0" name="capability">
            <a:extLst xmlns:a="http://schemas.openxmlformats.org/drawingml/2006/main">
              <a:ext uri="{FF2B5EF4-FFF2-40B4-BE49-F238E27FC236}">
                <a16:creationId xmlns:a16="http://schemas.microsoft.com/office/drawing/2014/main" id="{C12C3BF3-0571-4B34-993F-5A93C11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94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Capability</a:t>
            </a:r>
          </a:p>
        </p:txBody>
      </p:sp>
      <p:sp>
        <p:nvSpPr>
          <p:cNvPr id="11" name="cell-0-1">
            <a:extLst xmlns:a="http://schemas.openxmlformats.org/drawingml/2006/main">
              <a:ext uri="{FF2B5EF4-FFF2-40B4-BE49-F238E27FC236}">
                <a16:creationId xmlns:a16="http://schemas.microsoft.com/office/drawing/2014/main" id="{8D5DF9D4-ABE5-4876-A312-AD2FF88D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2" name="fitness-apps">
            <a:extLst xmlns:a="http://schemas.openxmlformats.org/drawingml/2006/main">
              <a:ext uri="{FF2B5EF4-FFF2-40B4-BE49-F238E27FC236}">
                <a16:creationId xmlns:a16="http://schemas.microsoft.com/office/drawing/2014/main" id="{B0E1315A-5059-47AC-BECE-37BDADB8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Fitness Apps</a:t>
            </a:r>
          </a:p>
        </p:txBody>
      </p:sp>
      <p:sp>
        <p:nvSpPr>
          <p:cNvPr id="13" name="cell-0-2">
            <a:extLst xmlns:a="http://schemas.openxmlformats.org/drawingml/2006/main">
              <a:ext uri="{FF2B5EF4-FFF2-40B4-BE49-F238E27FC236}">
                <a16:creationId xmlns:a16="http://schemas.microsoft.com/office/drawing/2014/main" id="{FAB2957D-34F5-4436-A985-1724F03D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chatgpt">
            <a:extLst xmlns:a="http://schemas.openxmlformats.org/drawingml/2006/main">
              <a:ext uri="{FF2B5EF4-FFF2-40B4-BE49-F238E27FC236}">
                <a16:creationId xmlns:a16="http://schemas.microsoft.com/office/drawing/2014/main" id="{3515852F-8FD5-4831-B3ED-F4625C9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ChatGPT</a:t>
            </a:r>
          </a:p>
        </p:txBody>
      </p:sp>
      <p:sp>
        <p:nvSpPr>
          <p:cNvPr id="15" name="cell-0-3">
            <a:extLst xmlns:a="http://schemas.openxmlformats.org/drawingml/2006/main">
              <a:ext uri="{FF2B5EF4-FFF2-40B4-BE49-F238E27FC236}">
                <a16:creationId xmlns:a16="http://schemas.microsoft.com/office/drawing/2014/main" id="{B7DC0413-851F-4D55-8B7C-D140D05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6" name="generic-ai">
            <a:extLst xmlns:a="http://schemas.openxmlformats.org/drawingml/2006/main">
              <a:ext uri="{FF2B5EF4-FFF2-40B4-BE49-F238E27FC236}">
                <a16:creationId xmlns:a16="http://schemas.microsoft.com/office/drawing/2014/main" id="{D3461CBC-BACF-4C9C-9918-7BBAD32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Generic AI</a:t>
            </a:r>
          </a:p>
        </p:txBody>
      </p:sp>
      <p:sp>
        <p:nvSpPr>
          <p:cNvPr id="17" name="cell-0-4">
            <a:extLst xmlns:a="http://schemas.openxmlformats.org/drawingml/2006/main">
              <a:ext uri="{FF2B5EF4-FFF2-40B4-BE49-F238E27FC236}">
                <a16:creationId xmlns:a16="http://schemas.microsoft.com/office/drawing/2014/main" id="{6A425924-2F05-4BF9-9C8E-6403D1DF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3703320"/>
            <a:ext cx="297694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8" name="grindhaus-ai">
            <a:extLst xmlns:a="http://schemas.openxmlformats.org/drawingml/2006/main">
              <a:ext uri="{FF2B5EF4-FFF2-40B4-BE49-F238E27FC236}">
                <a16:creationId xmlns:a16="http://schemas.microsoft.com/office/drawing/2014/main" id="{9E5ADBC6-A573-467B-BBD6-6DA9B077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8290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EE6B83C9-81DB-4B66-86A7-BBA54EB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882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0" name="fitness-specialization">
            <a:extLst xmlns:a="http://schemas.openxmlformats.org/drawingml/2006/main">
              <a:ext uri="{FF2B5EF4-FFF2-40B4-BE49-F238E27FC236}">
                <a16:creationId xmlns:a16="http://schemas.microsoft.com/office/drawing/2014/main" id="{EFC031E6-9770-4C69-8A29-CB54C54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Fitness specialization</a:t>
            </a:r>
          </a:p>
        </p:txBody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EA086469-9058-4A53-9A1C-78FF31B4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2" name="medium">
            <a:extLst xmlns:a="http://schemas.openxmlformats.org/drawingml/2006/main">
              <a:ext uri="{FF2B5EF4-FFF2-40B4-BE49-F238E27FC236}">
                <a16:creationId xmlns:a16="http://schemas.microsoft.com/office/drawing/2014/main" id="{5E3F76B9-50D4-4F61-A210-733EB8D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55483F8D-96FA-499E-B832-9B2AFD0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4" name="low">
            <a:extLst xmlns:a="http://schemas.openxmlformats.org/drawingml/2006/main">
              <a:ext uri="{FF2B5EF4-FFF2-40B4-BE49-F238E27FC236}">
                <a16:creationId xmlns:a16="http://schemas.microsoft.com/office/drawing/2014/main" id="{3112871C-41F4-4FF3-80E4-61A92E46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5" name="cell-1-3">
            <a:extLst xmlns:a="http://schemas.openxmlformats.org/drawingml/2006/main">
              <a:ext uri="{FF2B5EF4-FFF2-40B4-BE49-F238E27FC236}">
                <a16:creationId xmlns:a16="http://schemas.microsoft.com/office/drawing/2014/main" id="{5CE0D5DB-A227-4247-8766-DADAED89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6" name="low">
            <a:extLst xmlns:a="http://schemas.openxmlformats.org/drawingml/2006/main">
              <a:ext uri="{FF2B5EF4-FFF2-40B4-BE49-F238E27FC236}">
                <a16:creationId xmlns:a16="http://schemas.microsoft.com/office/drawing/2014/main" id="{2AB4C789-8973-4A86-BBA2-6CE882D9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7" name="cell-1-4">
            <a:extLst xmlns:a="http://schemas.openxmlformats.org/drawingml/2006/main">
              <a:ext uri="{FF2B5EF4-FFF2-40B4-BE49-F238E27FC236}">
                <a16:creationId xmlns:a16="http://schemas.microsoft.com/office/drawing/2014/main" id="{959A2879-EF41-49FA-8241-D120C8F6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456882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28" name="high">
            <a:extLst xmlns:a="http://schemas.openxmlformats.org/drawingml/2006/main">
              <a:ext uri="{FF2B5EF4-FFF2-40B4-BE49-F238E27FC236}">
                <a16:creationId xmlns:a16="http://schemas.microsoft.com/office/drawing/2014/main" id="{64129039-F33E-4FA0-B9F3-C6809ED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6863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220058D4-B692-4B5E-8CF3-18107F60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863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0" name="persistent-fitness-memory">
            <a:extLst xmlns:a="http://schemas.openxmlformats.org/drawingml/2006/main">
              <a:ext uri="{FF2B5EF4-FFF2-40B4-BE49-F238E27FC236}">
                <a16:creationId xmlns:a16="http://schemas.microsoft.com/office/drawing/2014/main" id="{FABEA13D-6D3F-4BB4-8DD8-466F0B8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Persistent fitness memory</a:t>
            </a:r>
          </a:p>
        </p:txBody>
      </p:sp>
      <p:sp>
        <p:nvSpPr>
          <p:cNvPr id="31" name="cell-2-1">
            <a:extLst xmlns:a="http://schemas.openxmlformats.org/drawingml/2006/main">
              <a:ext uri="{FF2B5EF4-FFF2-40B4-BE49-F238E27FC236}">
                <a16:creationId xmlns:a16="http://schemas.microsoft.com/office/drawing/2014/main" id="{CFEC6A4C-3341-4B44-B18E-3B6F41D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2" name="low">
            <a:extLst xmlns:a="http://schemas.openxmlformats.org/drawingml/2006/main">
              <a:ext uri="{FF2B5EF4-FFF2-40B4-BE49-F238E27FC236}">
                <a16:creationId xmlns:a16="http://schemas.microsoft.com/office/drawing/2014/main" id="{8369B130-7FF2-4712-B077-A5AF45D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2180DA2A-E83F-4535-82A3-77B475AE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4" name="low">
            <a:extLst xmlns:a="http://schemas.openxmlformats.org/drawingml/2006/main">
              <a:ext uri="{FF2B5EF4-FFF2-40B4-BE49-F238E27FC236}">
                <a16:creationId xmlns:a16="http://schemas.microsoft.com/office/drawing/2014/main" id="{CEC8C6A6-139F-48DD-BE3D-7802CF4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5" name="cell-2-3">
            <a:extLst xmlns:a="http://schemas.openxmlformats.org/drawingml/2006/main">
              <a:ext uri="{FF2B5EF4-FFF2-40B4-BE49-F238E27FC236}">
                <a16:creationId xmlns:a16="http://schemas.microsoft.com/office/drawing/2014/main" id="{4322809E-A7CE-41D3-AC1A-A6623DFF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6" name="medium">
            <a:extLst xmlns:a="http://schemas.openxmlformats.org/drawingml/2006/main">
              <a:ext uri="{FF2B5EF4-FFF2-40B4-BE49-F238E27FC236}">
                <a16:creationId xmlns:a16="http://schemas.microsoft.com/office/drawing/2014/main" id="{F1173022-CB8A-4D47-ABFA-6336DDCA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37" name="cell-2-4">
            <a:extLst xmlns:a="http://schemas.openxmlformats.org/drawingml/2006/main">
              <a:ext uri="{FF2B5EF4-FFF2-40B4-BE49-F238E27FC236}">
                <a16:creationId xmlns:a16="http://schemas.microsoft.com/office/drawing/2014/main" id="{9A809E5E-AAD5-431B-8373-C2C3419A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554863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38" name="high">
            <a:extLst xmlns:a="http://schemas.openxmlformats.org/drawingml/2006/main">
              <a:ext uri="{FF2B5EF4-FFF2-40B4-BE49-F238E27FC236}">
                <a16:creationId xmlns:a16="http://schemas.microsoft.com/office/drawing/2014/main" id="{6AA6B69D-30FA-4D99-B8CB-612359EF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676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31163BF4-678A-4B73-A527-E751BB1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2843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0" name="emotional-accountability">
            <a:extLst xmlns:a="http://schemas.openxmlformats.org/drawingml/2006/main">
              <a:ext uri="{FF2B5EF4-FFF2-40B4-BE49-F238E27FC236}">
                <a16:creationId xmlns:a16="http://schemas.microsoft.com/office/drawing/2014/main" id="{FBE05903-7803-419C-B5B0-F3ACF9CE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Emotional accountability</a:t>
            </a:r>
          </a:p>
        </p:txBody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84C13528-31C2-443D-A779-2EA6125D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2" name="low">
            <a:extLst xmlns:a="http://schemas.openxmlformats.org/drawingml/2006/main">
              <a:ext uri="{FF2B5EF4-FFF2-40B4-BE49-F238E27FC236}">
                <a16:creationId xmlns:a16="http://schemas.microsoft.com/office/drawing/2014/main" id="{AF312CF3-386A-464D-A2C9-3E34DCE1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DD725DC3-2B55-48BE-8BBC-47D4B7C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4" name="medium">
            <a:extLst xmlns:a="http://schemas.openxmlformats.org/drawingml/2006/main">
              <a:ext uri="{FF2B5EF4-FFF2-40B4-BE49-F238E27FC236}">
                <a16:creationId xmlns:a16="http://schemas.microsoft.com/office/drawing/2014/main" id="{7CD76734-559E-46AE-AFCA-BB92581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1C300EFB-A0FD-4688-8F0A-B6407B0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6" name="medium">
            <a:extLst xmlns:a="http://schemas.openxmlformats.org/drawingml/2006/main">
              <a:ext uri="{FF2B5EF4-FFF2-40B4-BE49-F238E27FC236}">
                <a16:creationId xmlns:a16="http://schemas.microsoft.com/office/drawing/2014/main" id="{6A1608E5-5DE2-4B85-A6F5-70746A6D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7" name="cell-3-4">
            <a:extLst xmlns:a="http://schemas.openxmlformats.org/drawingml/2006/main">
              <a:ext uri="{FF2B5EF4-FFF2-40B4-BE49-F238E27FC236}">
                <a16:creationId xmlns:a16="http://schemas.microsoft.com/office/drawing/2014/main" id="{F9568B3B-619C-400D-AA24-0E43FFB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652843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48" name="high">
            <a:extLst xmlns:a="http://schemas.openxmlformats.org/drawingml/2006/main">
              <a:ext uri="{FF2B5EF4-FFF2-40B4-BE49-F238E27FC236}">
                <a16:creationId xmlns:a16="http://schemas.microsoft.com/office/drawing/2014/main" id="{6F49E81A-095B-43C5-95A3-90C689B8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6484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49" name="cell-4-0">
            <a:extLst xmlns:a="http://schemas.openxmlformats.org/drawingml/2006/main">
              <a:ext uri="{FF2B5EF4-FFF2-40B4-BE49-F238E27FC236}">
                <a16:creationId xmlns:a16="http://schemas.microsoft.com/office/drawing/2014/main" id="{E68F79BB-81B4-4DBF-8B97-2E148325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0824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0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CDB22638-51A0-41EA-89F6-B894A1E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390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51" name="cell-4-1">
            <a:extLst xmlns:a="http://schemas.openxmlformats.org/drawingml/2006/main">
              <a:ext uri="{FF2B5EF4-FFF2-40B4-BE49-F238E27FC236}">
                <a16:creationId xmlns:a16="http://schemas.microsoft.com/office/drawing/2014/main" id="{5A16D6A5-40D9-4E56-940E-F248431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2" name="medium">
            <a:extLst xmlns:a="http://schemas.openxmlformats.org/drawingml/2006/main">
              <a:ext uri="{FF2B5EF4-FFF2-40B4-BE49-F238E27FC236}">
                <a16:creationId xmlns:a16="http://schemas.microsoft.com/office/drawing/2014/main" id="{3C9FB69D-CCA9-4FA3-A9B0-FB98579B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53" name="cell-4-2">
            <a:extLst xmlns:a="http://schemas.openxmlformats.org/drawingml/2006/main">
              <a:ext uri="{FF2B5EF4-FFF2-40B4-BE49-F238E27FC236}">
                <a16:creationId xmlns:a16="http://schemas.microsoft.com/office/drawing/2014/main" id="{5AE20953-1566-4907-B0EE-0C94FE9D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4" name="none">
            <a:extLst xmlns:a="http://schemas.openxmlformats.org/drawingml/2006/main">
              <a:ext uri="{FF2B5EF4-FFF2-40B4-BE49-F238E27FC236}">
                <a16:creationId xmlns:a16="http://schemas.microsoft.com/office/drawing/2014/main" id="{1AF142FC-F56C-45BA-AAA2-72BDE5D5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5346F195-F0E2-47D1-BD0B-576D139F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6" name="low">
            <a:extLst xmlns:a="http://schemas.openxmlformats.org/drawingml/2006/main">
              <a:ext uri="{FF2B5EF4-FFF2-40B4-BE49-F238E27FC236}">
                <a16:creationId xmlns:a16="http://schemas.microsoft.com/office/drawing/2014/main" id="{8607A5F0-F068-4595-B28C-43A664E7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57" name="cell-4-4">
            <a:extLst xmlns:a="http://schemas.openxmlformats.org/drawingml/2006/main">
              <a:ext uri="{FF2B5EF4-FFF2-40B4-BE49-F238E27FC236}">
                <a16:creationId xmlns:a16="http://schemas.microsoft.com/office/drawing/2014/main" id="{4796A2D7-8062-48B4-99FA-873DB70E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750824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58" name="high">
            <a:extLst xmlns:a="http://schemas.openxmlformats.org/drawingml/2006/main">
              <a:ext uri="{FF2B5EF4-FFF2-40B4-BE49-F238E27FC236}">
                <a16:creationId xmlns:a16="http://schemas.microsoft.com/office/drawing/2014/main" id="{0528DE0A-CD00-4C9C-AB43-DFAD2621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76390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59" name="cell-5-0">
            <a:extLst xmlns:a="http://schemas.openxmlformats.org/drawingml/2006/main">
              <a:ext uri="{FF2B5EF4-FFF2-40B4-BE49-F238E27FC236}">
                <a16:creationId xmlns:a16="http://schemas.microsoft.com/office/drawing/2014/main" id="{72BB2BEA-963C-4356-8B3C-6B7D6BBB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8804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0" name="custom-ai-roadmap">
            <a:extLst xmlns:a="http://schemas.openxmlformats.org/drawingml/2006/main">
              <a:ext uri="{FF2B5EF4-FFF2-40B4-BE49-F238E27FC236}">
                <a16:creationId xmlns:a16="http://schemas.microsoft.com/office/drawing/2014/main" id="{3302B118-848D-4737-ACB3-F3F83EBD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106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Custom AI roadmap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C15AADDD-0339-4D13-9A44-218E20FD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2" name="low">
            <a:extLst xmlns:a="http://schemas.openxmlformats.org/drawingml/2006/main">
              <a:ext uri="{FF2B5EF4-FFF2-40B4-BE49-F238E27FC236}">
                <a16:creationId xmlns:a16="http://schemas.microsoft.com/office/drawing/2014/main" id="{F0795222-66AF-45A9-9020-2F87955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63" name="cell-5-2">
            <a:extLst xmlns:a="http://schemas.openxmlformats.org/drawingml/2006/main">
              <a:ext uri="{FF2B5EF4-FFF2-40B4-BE49-F238E27FC236}">
                <a16:creationId xmlns:a16="http://schemas.microsoft.com/office/drawing/2014/main" id="{2839567B-3C79-489E-A5B7-C447182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4" name="none">
            <a:extLst xmlns:a="http://schemas.openxmlformats.org/drawingml/2006/main">
              <a:ext uri="{FF2B5EF4-FFF2-40B4-BE49-F238E27FC236}">
                <a16:creationId xmlns:a16="http://schemas.microsoft.com/office/drawing/2014/main" id="{26816CF5-5909-4A15-B114-F84672EA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65" name="cell-5-3">
            <a:extLst xmlns:a="http://schemas.openxmlformats.org/drawingml/2006/main">
              <a:ext uri="{FF2B5EF4-FFF2-40B4-BE49-F238E27FC236}">
                <a16:creationId xmlns:a16="http://schemas.microsoft.com/office/drawing/2014/main" id="{A8427261-7A59-48B8-9CD4-60937E0C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6" name="medium">
            <a:extLst xmlns:a="http://schemas.openxmlformats.org/drawingml/2006/main">
              <a:ext uri="{FF2B5EF4-FFF2-40B4-BE49-F238E27FC236}">
                <a16:creationId xmlns:a16="http://schemas.microsoft.com/office/drawing/2014/main" id="{515BB4F8-8889-48E0-B86A-9824CF46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67" name="cell-5-4">
            <a:extLst xmlns:a="http://schemas.openxmlformats.org/drawingml/2006/main">
              <a:ext uri="{FF2B5EF4-FFF2-40B4-BE49-F238E27FC236}">
                <a16:creationId xmlns:a16="http://schemas.microsoft.com/office/drawing/2014/main" id="{6C976BC5-5680-4810-B6F6-06B3B70F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848804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68" name="high">
            <a:extLst xmlns:a="http://schemas.openxmlformats.org/drawingml/2006/main">
              <a:ext uri="{FF2B5EF4-FFF2-40B4-BE49-F238E27FC236}">
                <a16:creationId xmlns:a16="http://schemas.microsoft.com/office/drawing/2014/main" id="{3CF79606-D2B9-464B-807A-01ED5B0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6106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868361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97CA8C5-E7A1-436E-9870-8352895D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999E6748-7B55-451F-893D-4F12A87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CE4A095-1D87-46AA-914F-A879703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E39D8A3F-56FD-4BAD-B4DC-6741677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3BA885A-E42E-4A45-BE93-CA943B91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BUSINESS MODEL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81FAED-30ED-4CA3-BB1D-0A683180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496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Accessible core guidance. Scalable ecosystem revenue.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1EF472-49E7-4888-8411-2CF8AC8B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202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model avoids aggressive paywalls while still creating durable revenue through premium, partner, and institutional layers.</a:t>
            </a:r>
          </a:p>
        </p:txBody>
      </p:sp>
      <p:sp>
        <p:nvSpPr>
          <p:cNvPr id="8" name="biz-free">
            <a:extLst xmlns:a="http://schemas.openxmlformats.org/drawingml/2006/main">
              <a:ext uri="{FF2B5EF4-FFF2-40B4-BE49-F238E27FC236}">
                <a16:creationId xmlns:a16="http://schemas.microsoft.com/office/drawing/2014/main" id="{C1E27DC3-D98C-4B02-909D-9F422B4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ee-core">
            <a:extLst xmlns:a="http://schemas.openxmlformats.org/drawingml/2006/main">
              <a:ext uri="{FF2B5EF4-FFF2-40B4-BE49-F238E27FC236}">
                <a16:creationId xmlns:a16="http://schemas.microsoft.com/office/drawing/2014/main" id="{8D84D9EF-806B-453B-B6EE-A341235B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8BFFB8"/>
                </a:solidFill>
              </a:defRPr>
            </a:pPr>
            <a:r>
              <a:rPr sz="2700" b="1" i="0">
                <a:solidFill>
                  <a:srgbClr val="8BFFB8"/>
                </a:solidFill>
              </a:rPr>
              <a:t>Free Core</a:t>
            </a:r>
          </a:p>
        </p:txBody>
      </p:sp>
      <p:sp>
        <p:nvSpPr>
          <p:cNvPr id="10" name="basic-workouts-health-guidance-community-acce">
            <a:extLst xmlns:a="http://schemas.openxmlformats.org/drawingml/2006/main">
              <a:ext uri="{FF2B5EF4-FFF2-40B4-BE49-F238E27FC236}">
                <a16:creationId xmlns:a16="http://schemas.microsoft.com/office/drawing/2014/main" id="{2DBBD4D3-0A2B-485B-8C35-950DB2F7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Basic workouts, health guidance, community access, and lightweight AI support.</a:t>
            </a:r>
          </a:p>
        </p:txBody>
      </p:sp>
      <p:sp>
        <p:nvSpPr>
          <p:cNvPr id="11" name="biz-premium">
            <a:extLst xmlns:a="http://schemas.openxmlformats.org/drawingml/2006/main">
              <a:ext uri="{FF2B5EF4-FFF2-40B4-BE49-F238E27FC236}">
                <a16:creationId xmlns:a16="http://schemas.microsoft.com/office/drawing/2014/main" id="{D3021F47-01D9-429B-B7AA-70E6828B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premium-ai">
            <a:extLst xmlns:a="http://schemas.openxmlformats.org/drawingml/2006/main">
              <a:ext uri="{FF2B5EF4-FFF2-40B4-BE49-F238E27FC236}">
                <a16:creationId xmlns:a16="http://schemas.microsoft.com/office/drawing/2014/main" id="{039AD6BF-4204-4B67-8F09-38801923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Premium AI</a:t>
            </a:r>
          </a:p>
        </p:txBody>
      </p:sp>
      <p:sp>
        <p:nvSpPr>
          <p:cNvPr id="13" name="advanced-coaching-personalization-plan-genera">
            <a:extLst xmlns:a="http://schemas.openxmlformats.org/drawingml/2006/main">
              <a:ext uri="{FF2B5EF4-FFF2-40B4-BE49-F238E27FC236}">
                <a16:creationId xmlns:a16="http://schemas.microsoft.com/office/drawing/2014/main" id="{9E2320A8-8218-491C-876C-78D8F28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Advanced coaching, personalization, plan generation, habit analytics, and deeper memory.</a:t>
            </a:r>
          </a:p>
        </p:txBody>
      </p:sp>
      <p:sp>
        <p:nvSpPr>
          <p:cNvPr id="14" name="biz-b2b">
            <a:extLst xmlns:a="http://schemas.openxmlformats.org/drawingml/2006/main">
              <a:ext uri="{FF2B5EF4-FFF2-40B4-BE49-F238E27FC236}">
                <a16:creationId xmlns:a16="http://schemas.microsoft.com/office/drawing/2014/main" id="{D576BB13-17AD-4C93-83D9-BBC0BCD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b2b-gyms">
            <a:extLst xmlns:a="http://schemas.openxmlformats.org/drawingml/2006/main">
              <a:ext uri="{FF2B5EF4-FFF2-40B4-BE49-F238E27FC236}">
                <a16:creationId xmlns:a16="http://schemas.microsoft.com/office/drawing/2014/main" id="{5AF981E5-DE51-40C3-9F9D-22B0E4E7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54E4FF"/>
                </a:solidFill>
              </a:defRPr>
            </a:pPr>
            <a:r>
              <a:rPr sz="2700" b="1" i="0">
                <a:solidFill>
                  <a:srgbClr val="54E4FF"/>
                </a:solidFill>
              </a:rPr>
              <a:t>B2B / Gyms</a:t>
            </a:r>
          </a:p>
        </p:txBody>
      </p:sp>
      <p:sp>
        <p:nvSpPr>
          <p:cNvPr id="16" name="gym-dashboards-trainer-tools-student-fitness-">
            <a:extLst xmlns:a="http://schemas.openxmlformats.org/drawingml/2006/main">
              <a:ext uri="{FF2B5EF4-FFF2-40B4-BE49-F238E27FC236}">
                <a16:creationId xmlns:a16="http://schemas.microsoft.com/office/drawing/2014/main" id="{3F8C5C64-F1AB-4670-A074-A512BF52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Gym dashboards, trainer tools, student fitness programs, and institutional wellness.</a:t>
            </a:r>
          </a:p>
        </p:txBody>
      </p:sp>
      <p:sp>
        <p:nvSpPr>
          <p:cNvPr id="17" name="biz-ecosystem">
            <a:extLst xmlns:a="http://schemas.openxmlformats.org/drawingml/2006/main">
              <a:ext uri="{FF2B5EF4-FFF2-40B4-BE49-F238E27FC236}">
                <a16:creationId xmlns:a16="http://schemas.microsoft.com/office/drawing/2014/main" id="{487FB9F9-0608-45D4-A5CE-D4AF21C2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ai-ecosystem">
            <a:extLst xmlns:a="http://schemas.openxmlformats.org/drawingml/2006/main">
              <a:ext uri="{FF2B5EF4-FFF2-40B4-BE49-F238E27FC236}">
                <a16:creationId xmlns:a16="http://schemas.microsoft.com/office/drawing/2014/main" id="{78A3F682-B699-4308-BDE6-967BDB9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CE73"/>
                </a:solidFill>
              </a:defRPr>
            </a:pPr>
            <a:r>
              <a:rPr sz="2700" b="1" i="0">
                <a:solidFill>
                  <a:srgbClr val="FFCE73"/>
                </a:solidFill>
              </a:rPr>
              <a:t>AI Ecosystem</a:t>
            </a:r>
          </a:p>
        </p:txBody>
      </p:sp>
      <p:sp>
        <p:nvSpPr>
          <p:cNvPr id="19" name="creator-programs-wearable-integrations-ai-gen">
            <a:extLst xmlns:a="http://schemas.openxmlformats.org/drawingml/2006/main">
              <a:ext uri="{FF2B5EF4-FFF2-40B4-BE49-F238E27FC236}">
                <a16:creationId xmlns:a16="http://schemas.microsoft.com/office/drawing/2014/main" id="{D63A3DB1-8A42-404B-ACCB-BFD7C4C8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programs, wearable integrations, AI-generated content, and technical licensing.</a:t>
            </a:r>
          </a:p>
        </p:txBody>
      </p:sp>
    </p:spTree>
    <p:extLst>
      <p:ext uri="{BB962C8B-B14F-4D97-AF65-F5344CB8AC3E}">
        <p14:creationId xmlns:p14="http://schemas.microsoft.com/office/powerpoint/2010/main" val="15402002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56D2D12-2726-4E9D-9546-5DEFFDCF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4E0332F-3D04-4993-87D6-8999BEEB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D2EAE3E-93A3-4F9A-A3DD-FFE952D8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dedicated-philosophy">
            <a:extLst xmlns:a="http://schemas.openxmlformats.org/drawingml/2006/main">
              <a:ext uri="{FF2B5EF4-FFF2-40B4-BE49-F238E27FC236}">
                <a16:creationId xmlns:a16="http://schemas.microsoft.com/office/drawing/2014/main" id="{324A8273-EAA6-401B-B1FE-B36A3B3C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5945"/>
            <a:ext cx="32194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D863E-B38C-4210-92EB-D01B3E81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280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2E3A"/>
                </a:solidFill>
              </a:defRPr>
            </a:pPr>
            <a:r>
              <a:rPr sz="1350" b="1">
                <a:solidFill>
                  <a:srgbClr val="FF2E3A"/>
                </a:solidFill>
              </a:rPr>
              <a:t>Dedicated Philosophy</a:t>
            </a:r>
          </a:p>
        </p:txBody>
      </p:sp>
      <p:sp>
        <p:nvSpPr>
          <p:cNvPr id="6" name="accessible-ai-philosophy">
            <a:extLst xmlns:a="http://schemas.openxmlformats.org/drawingml/2006/main">
              <a:ext uri="{FF2B5EF4-FFF2-40B4-BE49-F238E27FC236}">
                <a16:creationId xmlns:a16="http://schemas.microsoft.com/office/drawing/2014/main" id="{F61EC7BA-14BE-4961-97A9-AE5B02D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75438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8F5EF"/>
                </a:solidFill>
              </a:defRPr>
            </a:pPr>
            <a:r>
              <a:rPr sz="5850" b="1" i="0">
                <a:solidFill>
                  <a:srgbClr val="F8F5EF"/>
                </a:solidFill>
              </a:rPr>
              <a:t>Accessible AI Philosophy</a:t>
            </a:r>
          </a:p>
        </p:txBody>
      </p:sp>
      <p:sp>
        <p:nvSpPr>
          <p:cNvPr id="7" name="ai-for-human-improvement-not-ai-for-exploitat">
            <a:extLst xmlns:a="http://schemas.openxmlformats.org/drawingml/2006/main">
              <a:ext uri="{FF2B5EF4-FFF2-40B4-BE49-F238E27FC236}">
                <a16:creationId xmlns:a16="http://schemas.microsoft.com/office/drawing/2014/main" id="{4214D891-92D9-4DEA-A7F7-502E60DA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049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2E3A"/>
                </a:solidFill>
              </a:defRPr>
            </a:pPr>
            <a:r>
              <a:rPr sz="3900" b="1" i="0">
                <a:solidFill>
                  <a:srgbClr val="FF2E3A"/>
                </a:solidFill>
              </a:rPr>
              <a:t>AI for human improvement, not AI for exploitation.</a:t>
            </a:r>
          </a:p>
        </p:txBody>
      </p:sp>
      <p:sp>
        <p:nvSpPr>
          <p:cNvPr id="8" name="access-1">
            <a:extLst xmlns:a="http://schemas.openxmlformats.org/drawingml/2006/main">
              <a:ext uri="{FF2B5EF4-FFF2-40B4-BE49-F238E27FC236}">
                <a16:creationId xmlns:a16="http://schemas.microsoft.com/office/drawing/2014/main" id="{4651342C-67F4-4A1E-8BE3-2AB09962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832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re-health-guidance-should-remain-accessible">
            <a:extLst xmlns:a="http://schemas.openxmlformats.org/drawingml/2006/main">
              <a:ext uri="{FF2B5EF4-FFF2-40B4-BE49-F238E27FC236}">
                <a16:creationId xmlns:a16="http://schemas.microsoft.com/office/drawing/2014/main" id="{FF3E082C-423E-4171-AC2C-21983148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47434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Core health guidance should remain accessible.</a:t>
            </a:r>
          </a:p>
        </p:txBody>
      </p:sp>
      <p:sp>
        <p:nvSpPr>
          <p:cNvPr id="10" name="access-2">
            <a:extLst xmlns:a="http://schemas.openxmlformats.org/drawingml/2006/main">
              <a:ext uri="{FF2B5EF4-FFF2-40B4-BE49-F238E27FC236}">
                <a16:creationId xmlns:a16="http://schemas.microsoft.com/office/drawing/2014/main" id="{89EE37C8-8171-43E0-8A42-D746673C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564832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-wellness-systems-should-not-be-hidden-behi">
            <a:extLst xmlns:a="http://schemas.openxmlformats.org/drawingml/2006/main">
              <a:ext uri="{FF2B5EF4-FFF2-40B4-BE49-F238E27FC236}">
                <a16:creationId xmlns:a16="http://schemas.microsoft.com/office/drawing/2014/main" id="{A55CFE83-0CD0-4B8E-8679-72A09F76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05500"/>
            <a:ext cx="4743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AI wellness systems should not be hidden behind aggressive subscriptions.</a:t>
            </a:r>
          </a:p>
        </p:txBody>
      </p:sp>
      <p:sp>
        <p:nvSpPr>
          <p:cNvPr id="12" name="access-3">
            <a:extLst xmlns:a="http://schemas.openxmlformats.org/drawingml/2006/main">
              <a:ext uri="{FF2B5EF4-FFF2-40B4-BE49-F238E27FC236}">
                <a16:creationId xmlns:a16="http://schemas.microsoft.com/office/drawing/2014/main" id="{0B5B9CE9-C766-4397-8B21-E1FF8E7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564832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scale-should-come-from-partnerships-innovatio">
            <a:extLst xmlns:a="http://schemas.openxmlformats.org/drawingml/2006/main">
              <a:ext uri="{FF2B5EF4-FFF2-40B4-BE49-F238E27FC236}">
                <a16:creationId xmlns:a16="http://schemas.microsoft.com/office/drawing/2014/main" id="{C4975485-4662-4CD0-80E3-202EA5A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905500"/>
            <a:ext cx="4743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Scale should come from partnerships, innovation, infrastructure, and institutions.</a:t>
            </a:r>
          </a:p>
        </p:txBody>
      </p:sp>
      <p:sp>
        <p:nvSpPr>
          <p:cNvPr id="14" name="grindhaus-ai-aims-to-grow-through-ecosystem-p">
            <a:extLst xmlns:a="http://schemas.openxmlformats.org/drawingml/2006/main">
              <a:ext uri="{FF2B5EF4-FFF2-40B4-BE49-F238E27FC236}">
                <a16:creationId xmlns:a16="http://schemas.microsoft.com/office/drawing/2014/main" id="{52DB24BC-F9C8-4FB0-BAB3-E6A96977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0"/>
            <a:ext cx="1381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8C2B8"/>
                </a:solidFill>
              </a:defRPr>
            </a:pPr>
            <a:r>
              <a:rPr sz="2100" b="0" i="0">
                <a:solidFill>
                  <a:srgbClr val="C8C2B8"/>
                </a:solidFill>
              </a:rPr>
              <a:t>GrindHaus AI aims to grow through ecosystem partnerships, technical infrastructure, institutional collaboration, and responsible innovation.</a:t>
            </a:r>
          </a:p>
        </p:txBody>
      </p:sp>
    </p:spTree>
    <p:extLst>
      <p:ext uri="{BB962C8B-B14F-4D97-AF65-F5344CB8AC3E}">
        <p14:creationId xmlns:p14="http://schemas.microsoft.com/office/powerpoint/2010/main" val="14295153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3A82A5D-D04D-48A1-9340-D1AB8F99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8BF9A4C-80A9-4D13-999F-E3278C0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439F70D-0C63-4B7D-82BA-7FB80378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62EE642B-0D27-4A9E-9EAA-C561BD65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C6B2F220-584E-485B-B76D-F3D0BA7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ROADMAP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A60B18-6001-42BE-89A1-B05167C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772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realistic path from MVP to AI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37A5B3-226F-49C2-BDE2-A99F324C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248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Each phase increases technical depth, user value, and institutional research potential.</a:t>
            </a:r>
          </a:p>
        </p:txBody>
      </p:sp>
      <p:sp>
        <p:nvSpPr>
          <p:cNvPr id="8" name="phase-chip-0">
            <a:extLst xmlns:a="http://schemas.openxmlformats.org/drawingml/2006/main">
              <a:ext uri="{FF2B5EF4-FFF2-40B4-BE49-F238E27FC236}">
                <a16:creationId xmlns:a16="http://schemas.microsoft.com/office/drawing/2014/main" id="{3BB84E11-CB1A-45AA-8F0F-EDB7AF65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4ECC823C-0160-4B1D-A030-014D668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1</a:t>
            </a:r>
          </a:p>
        </p:txBody>
      </p:sp>
      <p:sp>
        <p:nvSpPr>
          <p:cNvPr id="10" name="phase-card-0">
            <a:extLst xmlns:a="http://schemas.openxmlformats.org/drawingml/2006/main">
              <a:ext uri="{FF2B5EF4-FFF2-40B4-BE49-F238E27FC236}">
                <a16:creationId xmlns:a16="http://schemas.microsoft.com/office/drawing/2014/main" id="{3EF94B1B-DAEA-419F-B2F1-8CE659BA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1" name="frontend-platform">
            <a:extLst xmlns:a="http://schemas.openxmlformats.org/drawingml/2006/main">
              <a:ext uri="{FF2B5EF4-FFF2-40B4-BE49-F238E27FC236}">
                <a16:creationId xmlns:a16="http://schemas.microsoft.com/office/drawing/2014/main" id="{8B621817-6D3C-4762-A8E2-98C90D5B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Frontend Platform</a:t>
            </a:r>
          </a:p>
        </p:txBody>
      </p:sp>
      <p:sp>
        <p:nvSpPr>
          <p:cNvPr id="12" name="landing-routes-workout-nutrition-community-ui">
            <a:extLst xmlns:a="http://schemas.openxmlformats.org/drawingml/2006/main">
              <a:ext uri="{FF2B5EF4-FFF2-40B4-BE49-F238E27FC236}">
                <a16:creationId xmlns:a16="http://schemas.microsoft.com/office/drawing/2014/main" id="{7FB82D9C-7255-40E8-8DA0-050D0215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659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Landing, routes, workout/nutrition/community UI, auth-ready product.</a:t>
            </a:r>
          </a:p>
        </p:txBody>
      </p:sp>
      <p:sp>
        <p:nvSpPr>
          <p:cNvPr id="13" name="phase-chip-1">
            <a:extLst xmlns:a="http://schemas.openxmlformats.org/drawingml/2006/main">
              <a:ext uri="{FF2B5EF4-FFF2-40B4-BE49-F238E27FC236}">
                <a16:creationId xmlns:a16="http://schemas.microsoft.com/office/drawing/2014/main" id="{E75593EF-201A-4013-BC6C-ABD62B8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phase-2">
            <a:extLst xmlns:a="http://schemas.openxmlformats.org/drawingml/2006/main">
              <a:ext uri="{FF2B5EF4-FFF2-40B4-BE49-F238E27FC236}">
                <a16:creationId xmlns:a16="http://schemas.microsoft.com/office/drawing/2014/main" id="{9673CC76-F65F-4A60-B56C-348D8F6D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2</a:t>
            </a:r>
          </a:p>
        </p:txBody>
      </p:sp>
      <p:sp>
        <p:nvSpPr>
          <p:cNvPr id="15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210F9E8C-A568-4C91-8751-389903AF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6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A1FD038B-DFA6-4208-B14F-AFC5703A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006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AI Companion</a:t>
            </a:r>
          </a:p>
        </p:txBody>
      </p:sp>
      <p:sp>
        <p:nvSpPr>
          <p:cNvPr id="17" name="memory-chat-habit-tracking-reminders-dashboar">
            <a:extLst xmlns:a="http://schemas.openxmlformats.org/drawingml/2006/main">
              <a:ext uri="{FF2B5EF4-FFF2-40B4-BE49-F238E27FC236}">
                <a16:creationId xmlns:a16="http://schemas.microsoft.com/office/drawing/2014/main" id="{A8A30E87-7EED-467B-8692-84C93287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634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Memory, chat, habit tracking, reminders, dashboard personalization.</a:t>
            </a:r>
          </a:p>
        </p:txBody>
      </p:sp>
      <p:sp>
        <p:nvSpPr>
          <p:cNvPr id="18" name="phase-chip-2">
            <a:extLst xmlns:a="http://schemas.openxmlformats.org/drawingml/2006/main">
              <a:ext uri="{FF2B5EF4-FFF2-40B4-BE49-F238E27FC236}">
                <a16:creationId xmlns:a16="http://schemas.microsoft.com/office/drawing/2014/main" id="{EF230800-7013-436F-BFE7-AE4E25D2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9" name="phase-3">
            <a:extLst xmlns:a="http://schemas.openxmlformats.org/drawingml/2006/main">
              <a:ext uri="{FF2B5EF4-FFF2-40B4-BE49-F238E27FC236}">
                <a16:creationId xmlns:a16="http://schemas.microsoft.com/office/drawing/2014/main" id="{35F16014-0C08-4D43-B291-ACA09C6A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436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3</a:t>
            </a:r>
          </a:p>
        </p:txBody>
      </p:sp>
      <p:sp>
        <p:nvSpPr>
          <p:cNvPr id="20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B981D39D-FCA4-4276-93F2-B847620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stom-model-research">
            <a:extLst xmlns:a="http://schemas.openxmlformats.org/drawingml/2006/main">
              <a:ext uri="{FF2B5EF4-FFF2-40B4-BE49-F238E27FC236}">
                <a16:creationId xmlns:a16="http://schemas.microsoft.com/office/drawing/2014/main" id="{84178D39-5E0B-4A7C-B256-4D6657BA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3627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Custom Model Research</a:t>
            </a:r>
          </a:p>
        </p:txBody>
      </p:sp>
      <p:sp>
        <p:nvSpPr>
          <p:cNvPr id="22" name="dataset-generation-dual-mode-routing-transfor">
            <a:extLst xmlns:a="http://schemas.openxmlformats.org/drawingml/2006/main">
              <a:ext uri="{FF2B5EF4-FFF2-40B4-BE49-F238E27FC236}">
                <a16:creationId xmlns:a16="http://schemas.microsoft.com/office/drawing/2014/main" id="{575F0A96-4FD8-45D6-85D8-0863120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2865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Dataset generation, dual-mode routing, transformer training experiments.</a:t>
            </a:r>
          </a:p>
        </p:txBody>
      </p:sp>
      <p:sp>
        <p:nvSpPr>
          <p:cNvPr id="23" name="phase-chip-3">
            <a:extLst xmlns:a="http://schemas.openxmlformats.org/drawingml/2006/main">
              <a:ext uri="{FF2B5EF4-FFF2-40B4-BE49-F238E27FC236}">
                <a16:creationId xmlns:a16="http://schemas.microsoft.com/office/drawing/2014/main" id="{FB1C96E5-6475-49FF-85AC-73F16A0C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4" name="phase-4">
            <a:extLst xmlns:a="http://schemas.openxmlformats.org/drawingml/2006/main">
              <a:ext uri="{FF2B5EF4-FFF2-40B4-BE49-F238E27FC236}">
                <a16:creationId xmlns:a16="http://schemas.microsoft.com/office/drawing/2014/main" id="{6524962F-FD0D-45AF-AA94-60270E1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057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4</a:t>
            </a:r>
          </a:p>
        </p:txBody>
      </p:sp>
      <p:sp>
        <p:nvSpPr>
          <p:cNvPr id="25" name="phase-card-3">
            <a:extLst xmlns:a="http://schemas.openxmlformats.org/drawingml/2006/main">
              <a:ext uri="{FF2B5EF4-FFF2-40B4-BE49-F238E27FC236}">
                <a16:creationId xmlns:a16="http://schemas.microsoft.com/office/drawing/2014/main" id="{E5C70933-F329-4A1A-ADF0-89357B7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771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video-ai-wearables">
            <a:extLst xmlns:a="http://schemas.openxmlformats.org/drawingml/2006/main">
              <a:ext uri="{FF2B5EF4-FFF2-40B4-BE49-F238E27FC236}">
                <a16:creationId xmlns:a16="http://schemas.microsoft.com/office/drawing/2014/main" id="{3945641F-B561-4129-A35A-962173B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5247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Video AI + Wearables</a:t>
            </a:r>
          </a:p>
        </p:txBody>
      </p:sp>
      <p:sp>
        <p:nvSpPr>
          <p:cNvPr id="27" name="form-analysis-generated-coaching-content-wear">
            <a:extLst xmlns:a="http://schemas.openxmlformats.org/drawingml/2006/main">
              <a:ext uri="{FF2B5EF4-FFF2-40B4-BE49-F238E27FC236}">
                <a16:creationId xmlns:a16="http://schemas.microsoft.com/office/drawing/2014/main" id="{FD0D1DB2-D09B-4F56-8DB8-2E41C827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5819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Form analysis, generated coaching content, wearable notification loops.</a:t>
            </a:r>
          </a:p>
        </p:txBody>
      </p:sp>
      <p:sp>
        <p:nvSpPr>
          <p:cNvPr id="28" name="phase-chip-4">
            <a:extLst xmlns:a="http://schemas.openxmlformats.org/drawingml/2006/main">
              <a:ext uri="{FF2B5EF4-FFF2-40B4-BE49-F238E27FC236}">
                <a16:creationId xmlns:a16="http://schemas.microsoft.com/office/drawing/2014/main" id="{37B41381-E210-4DCA-A79C-D639B499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9" name="phase-5">
            <a:extLst xmlns:a="http://schemas.openxmlformats.org/drawingml/2006/main">
              <a:ext uri="{FF2B5EF4-FFF2-40B4-BE49-F238E27FC236}">
                <a16:creationId xmlns:a16="http://schemas.microsoft.com/office/drawing/2014/main" id="{94FBA0B9-E85C-41D2-88B1-EFCE3073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677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5</a:t>
            </a:r>
          </a:p>
        </p:txBody>
      </p:sp>
      <p:sp>
        <p:nvSpPr>
          <p:cNvPr id="30" name="phase-card-4">
            <a:extLst xmlns:a="http://schemas.openxmlformats.org/drawingml/2006/main">
              <a:ext uri="{FF2B5EF4-FFF2-40B4-BE49-F238E27FC236}">
                <a16:creationId xmlns:a16="http://schemas.microsoft.com/office/drawing/2014/main" id="{91D40E6F-8796-4A22-9E1E-D4F7D485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391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global-ecosystem">
            <a:extLst xmlns:a="http://schemas.openxmlformats.org/drawingml/2006/main">
              <a:ext uri="{FF2B5EF4-FFF2-40B4-BE49-F238E27FC236}">
                <a16:creationId xmlns:a16="http://schemas.microsoft.com/office/drawing/2014/main" id="{27512DC5-1C4A-4352-8861-7ACEFD89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6868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Global Ecosystem</a:t>
            </a:r>
          </a:p>
        </p:txBody>
      </p:sp>
      <p:sp>
        <p:nvSpPr>
          <p:cNvPr id="32" name="creator-marketplace-gym-partnerships-multilin">
            <a:extLst xmlns:a="http://schemas.openxmlformats.org/drawingml/2006/main">
              <a:ext uri="{FF2B5EF4-FFF2-40B4-BE49-F238E27FC236}">
                <a16:creationId xmlns:a16="http://schemas.microsoft.com/office/drawing/2014/main" id="{4D33A94B-4A1A-4CAC-A528-4C12A403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610600"/>
            <a:ext cx="670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marketplace, gym partnerships, multilingual AI, Indian AI export.</a:t>
            </a:r>
          </a:p>
        </p:txBody>
      </p:sp>
    </p:spTree>
    <p:extLst>
      <p:ext uri="{BB962C8B-B14F-4D97-AF65-F5344CB8AC3E}">
        <p14:creationId xmlns:p14="http://schemas.microsoft.com/office/powerpoint/2010/main" val="15322374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BE312DF-5B9F-4A1E-BE79-E847341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89766EC-4C7A-422A-869D-7C2F90FD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E8294DD-5DD2-4D0F-A829-7BBE408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3BAD4C7C-773D-47F8-98F4-E0298FC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69C99785-B075-4672-AE9D-A3C7508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CIIIT SHOULD SUPPORT THIS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23CC03-4223-445A-9DC0-12048FCF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4015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national-level AI product can start from Chandrapur.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C7EF95-5104-4571-8641-F40A5B2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1487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AI aligns with innovation, incubation, skill development, applied AI, and emerging technology infrastructure.</a:t>
            </a:r>
          </a:p>
        </p:txBody>
      </p:sp>
      <p:sp>
        <p:nvSpPr>
          <p:cNvPr id="8" name="ciiit-left">
            <a:extLst xmlns:a="http://schemas.openxmlformats.org/drawingml/2006/main">
              <a:ext uri="{FF2B5EF4-FFF2-40B4-BE49-F238E27FC236}">
                <a16:creationId xmlns:a16="http://schemas.microsoft.com/office/drawing/2014/main" id="{D96FD710-DF4D-431E-886B-295A43C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institutional-fit">
            <a:extLst xmlns:a="http://schemas.openxmlformats.org/drawingml/2006/main">
              <a:ext uri="{FF2B5EF4-FFF2-40B4-BE49-F238E27FC236}">
                <a16:creationId xmlns:a16="http://schemas.microsoft.com/office/drawing/2014/main" id="{BE5CDEA1-C2A0-4E41-ABAA-BA60D7FE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8F5EF"/>
                </a:solidFill>
              </a:defRPr>
            </a:pPr>
            <a:r>
              <a:rPr sz="3750" b="1" i="0">
                <a:solidFill>
                  <a:srgbClr val="F8F5EF"/>
                </a:solidFill>
              </a:rPr>
              <a:t>Institutional Fit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505C32A-FE99-4101-926D-C032408A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361D7EA1-0399-47B6-AA70-4F1498A6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Student-led innovation with startup potential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A3A1233-1688-4EEA-885C-91CC0266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18434A43-D714-421E-8957-4EB5C31F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research and model development pathway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EEEB22E-F465-4162-963C-5E3A9AC0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99CDBA0C-D79C-4F1A-9200-5E64DEBF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Hands-on full-stack engineering project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3E13EB7B-00D4-4CD6-B8FD-E2B52938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CD2414EE-3263-4568-B85D-407A2444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Public-private innovation alignment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82A048F8-D189-4913-A2EE-E5355778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bullet-4">
            <a:extLst xmlns:a="http://schemas.openxmlformats.org/drawingml/2006/main">
              <a:ext uri="{FF2B5EF4-FFF2-40B4-BE49-F238E27FC236}">
                <a16:creationId xmlns:a16="http://schemas.microsoft.com/office/drawing/2014/main" id="{495A715D-7A96-406F-A317-552A75D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Potential for internships, training, and student participation</a:t>
            </a:r>
          </a:p>
        </p:txBody>
      </p:sp>
      <p:sp>
        <p:nvSpPr>
          <p:cNvPr id="20" name="ciiit-right">
            <a:extLst xmlns:a="http://schemas.openxmlformats.org/drawingml/2006/main">
              <a:ext uri="{FF2B5EF4-FFF2-40B4-BE49-F238E27FC236}">
                <a16:creationId xmlns:a16="http://schemas.microsoft.com/office/drawing/2014/main" id="{C4C44CD1-4A71-45C0-8E19-AAF7AF9B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21" name="ciiit-value-creation">
            <a:extLst xmlns:a="http://schemas.openxmlformats.org/drawingml/2006/main">
              <a:ext uri="{FF2B5EF4-FFF2-40B4-BE49-F238E27FC236}">
                <a16:creationId xmlns:a16="http://schemas.microsoft.com/office/drawing/2014/main" id="{4058E431-F157-434C-BC81-81B2B4F0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2E3A"/>
                </a:solidFill>
              </a:defRPr>
            </a:pPr>
            <a:r>
              <a:rPr sz="3750" b="1" i="0">
                <a:solidFill>
                  <a:srgbClr val="FF2E3A"/>
                </a:solidFill>
              </a:rPr>
              <a:t>CIIIT Value Creation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DA03492B-0FF7-4FE4-A909-0A695100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5D009611-77AC-4367-809D-40DDDF7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Showcase AI incubation from GCOE Chandrapur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C342FE6-2611-49D4-BD5A-DE07D22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545B3B4C-607A-4DCF-B80B-5505F07D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Create a local technical talent pipeline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3C408AF-76AB-4551-AB7E-83FAE2B6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35259984-D1C4-42E3-AC75-207767AA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 GPU/infrastructure for applied AI research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1B02C796-1AB9-417E-B439-4CC4670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D17F3DB0-2E83-45C9-BCD2-AE9A2E0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Build a product that can represent regional innovation nationally</a:t>
            </a:r>
          </a:p>
        </p:txBody>
      </p:sp>
      <p:sp>
        <p:nvSpPr>
          <p:cNvPr id="30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F9038F63-509C-49F7-90BC-7A2AC915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4">
            <a:extLst xmlns:a="http://schemas.openxmlformats.org/drawingml/2006/main">
              <a:ext uri="{FF2B5EF4-FFF2-40B4-BE49-F238E27FC236}">
                <a16:creationId xmlns:a16="http://schemas.microsoft.com/office/drawing/2014/main" id="{C3AADD0B-AE3E-4E96-9712-B563DBB0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Connect academia, government, and startup execution</a:t>
            </a:r>
          </a:p>
        </p:txBody>
      </p:sp>
    </p:spTree>
    <p:extLst>
      <p:ext uri="{BB962C8B-B14F-4D97-AF65-F5344CB8AC3E}">
        <p14:creationId xmlns:p14="http://schemas.microsoft.com/office/powerpoint/2010/main" val="605021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2FC537B-DAFC-485F-9F35-E9FFCAC4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5BD8DF2-C647-41EA-99C6-0DEA2269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FFBD364-6BE8-46BB-8983-BDEB1E48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BF8C364C-6AA0-4514-844C-4EB1B5A9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4099A4A8-50AC-42A9-8E7C-C32AC8A5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WHAT WE NEED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36D5B5-6706-4E03-90BA-5BAF069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192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Support that converts a strong MVP into a scalable AI venture.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EA49B1-E346-4649-A822-7D5B6F9F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00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ask is practical: infrastructure, mentorship, incubation, and technical guidance.</a:t>
            </a:r>
          </a:p>
        </p:txBody>
      </p:sp>
      <p:sp>
        <p:nvSpPr>
          <p:cNvPr id="8" name="need-gpu">
            <a:extLst xmlns:a="http://schemas.openxmlformats.org/drawingml/2006/main">
              <a:ext uri="{FF2B5EF4-FFF2-40B4-BE49-F238E27FC236}">
                <a16:creationId xmlns:a16="http://schemas.microsoft.com/office/drawing/2014/main" id="{46E5EDEA-B6D6-4CA4-A643-4BA2538F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gpu-systems">
            <a:extLst xmlns:a="http://schemas.openxmlformats.org/drawingml/2006/main">
              <a:ext uri="{FF2B5EF4-FFF2-40B4-BE49-F238E27FC236}">
                <a16:creationId xmlns:a16="http://schemas.microsoft.com/office/drawing/2014/main" id="{A842FB58-ACA1-4457-9980-2D8DE0F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GPU Systems</a:t>
            </a:r>
          </a:p>
        </p:txBody>
      </p:sp>
      <p:sp>
        <p:nvSpPr>
          <p:cNvPr id="10" name="high-end-gpu-access-for-model-training-local-">
            <a:extLst xmlns:a="http://schemas.openxmlformats.org/drawingml/2006/main">
              <a:ext uri="{FF2B5EF4-FFF2-40B4-BE49-F238E27FC236}">
                <a16:creationId xmlns:a16="http://schemas.microsoft.com/office/drawing/2014/main" id="{C268C738-77DA-4F51-A498-7AED8B8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High-end GPU access for model training, local inference tests, and AI video experiments.</a:t>
            </a:r>
          </a:p>
        </p:txBody>
      </p:sp>
      <p:sp>
        <p:nvSpPr>
          <p:cNvPr id="11" name="need-incubation">
            <a:extLst xmlns:a="http://schemas.openxmlformats.org/drawingml/2006/main">
              <a:ext uri="{FF2B5EF4-FFF2-40B4-BE49-F238E27FC236}">
                <a16:creationId xmlns:a16="http://schemas.microsoft.com/office/drawing/2014/main" id="{9CD00ED1-CDF8-41B0-B861-4516119B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incubation">
            <a:extLst xmlns:a="http://schemas.openxmlformats.org/drawingml/2006/main">
              <a:ext uri="{FF2B5EF4-FFF2-40B4-BE49-F238E27FC236}">
                <a16:creationId xmlns:a16="http://schemas.microsoft.com/office/drawing/2014/main" id="{AE7BE73B-8A5A-44DE-A1DE-AE63F1EC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Incubation</a:t>
            </a:r>
          </a:p>
        </p:txBody>
      </p:sp>
      <p:sp>
        <p:nvSpPr>
          <p:cNvPr id="13" name="workspace-structure-founder-guidance-product-">
            <a:extLst xmlns:a="http://schemas.openxmlformats.org/drawingml/2006/main">
              <a:ext uri="{FF2B5EF4-FFF2-40B4-BE49-F238E27FC236}">
                <a16:creationId xmlns:a16="http://schemas.microsoft.com/office/drawing/2014/main" id="{1982FB39-950F-4A40-A08D-F51E4AC3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Workspace, structure, founder guidance, product reviews, and investor readiness.</a:t>
            </a:r>
          </a:p>
        </p:txBody>
      </p:sp>
      <p:sp>
        <p:nvSpPr>
          <p:cNvPr id="14" name="need-mentors">
            <a:extLst xmlns:a="http://schemas.openxmlformats.org/drawingml/2006/main">
              <a:ext uri="{FF2B5EF4-FFF2-40B4-BE49-F238E27FC236}">
                <a16:creationId xmlns:a16="http://schemas.microsoft.com/office/drawing/2014/main" id="{A2C2A1DE-7BCC-40FD-912C-1A6DDEF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mentorship">
            <a:extLst xmlns:a="http://schemas.openxmlformats.org/drawingml/2006/main">
              <a:ext uri="{FF2B5EF4-FFF2-40B4-BE49-F238E27FC236}">
                <a16:creationId xmlns:a16="http://schemas.microsoft.com/office/drawing/2014/main" id="{7E160A9E-F2C2-4DA6-A23E-5588D0F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Mentorship</a:t>
            </a:r>
          </a:p>
        </p:txBody>
      </p:sp>
      <p:sp>
        <p:nvSpPr>
          <p:cNvPr id="16" name="ai-healthcare-fitness-startup-legal-and-busin">
            <a:extLst xmlns:a="http://schemas.openxmlformats.org/drawingml/2006/main">
              <a:ext uri="{FF2B5EF4-FFF2-40B4-BE49-F238E27FC236}">
                <a16:creationId xmlns:a16="http://schemas.microsoft.com/office/drawing/2014/main" id="{81FD96CF-D7FD-46AB-8E96-81C5737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AI, healthcare, fitness, startup, legal, and business model mentorship.</a:t>
            </a:r>
          </a:p>
        </p:txBody>
      </p:sp>
      <p:sp>
        <p:nvSpPr>
          <p:cNvPr id="17" name="need-research">
            <a:extLst xmlns:a="http://schemas.openxmlformats.org/drawingml/2006/main">
              <a:ext uri="{FF2B5EF4-FFF2-40B4-BE49-F238E27FC236}">
                <a16:creationId xmlns:a16="http://schemas.microsoft.com/office/drawing/2014/main" id="{703E3909-B009-4F33-9636-BEC2EDC4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research-ecosystem">
            <a:extLst xmlns:a="http://schemas.openxmlformats.org/drawingml/2006/main">
              <a:ext uri="{FF2B5EF4-FFF2-40B4-BE49-F238E27FC236}">
                <a16:creationId xmlns:a16="http://schemas.microsoft.com/office/drawing/2014/main" id="{78BA7ADF-EBDF-4E91-B941-0431A52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Research Ecosystem</a:t>
            </a:r>
          </a:p>
        </p:txBody>
      </p:sp>
      <p:sp>
        <p:nvSpPr>
          <p:cNvPr id="19" name="faculty-guidance-student-research-groups-data">
            <a:extLst xmlns:a="http://schemas.openxmlformats.org/drawingml/2006/main">
              <a:ext uri="{FF2B5EF4-FFF2-40B4-BE49-F238E27FC236}">
                <a16:creationId xmlns:a16="http://schemas.microsoft.com/office/drawing/2014/main" id="{2511A28D-68B8-4680-8956-DEE86A3A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Faculty guidance, student research groups, dataset work, and responsible AI validation.</a:t>
            </a:r>
          </a:p>
        </p:txBody>
      </p:sp>
      <p:sp>
        <p:nvSpPr>
          <p:cNvPr id="20" name="need-cloud">
            <a:extLst xmlns:a="http://schemas.openxmlformats.org/drawingml/2006/main">
              <a:ext uri="{FF2B5EF4-FFF2-40B4-BE49-F238E27FC236}">
                <a16:creationId xmlns:a16="http://schemas.microsoft.com/office/drawing/2014/main" id="{ADECEAF3-D439-494B-BF09-227DC8DB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infrastructure">
            <a:extLst xmlns:a="http://schemas.openxmlformats.org/drawingml/2006/main">
              <a:ext uri="{FF2B5EF4-FFF2-40B4-BE49-F238E27FC236}">
                <a16:creationId xmlns:a16="http://schemas.microsoft.com/office/drawing/2014/main" id="{D70AF088-99CE-43DC-AF66-F847074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Infrastructure</a:t>
            </a:r>
          </a:p>
        </p:txBody>
      </p:sp>
      <p:sp>
        <p:nvSpPr>
          <p:cNvPr id="22" name="deployment-support-testing-monitoring-databas">
            <a:extLst xmlns:a="http://schemas.openxmlformats.org/drawingml/2006/main">
              <a:ext uri="{FF2B5EF4-FFF2-40B4-BE49-F238E27FC236}">
                <a16:creationId xmlns:a16="http://schemas.microsoft.com/office/drawing/2014/main" id="{50ED7EE1-22F4-4A6B-BCA4-EF12F89A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Deployment support, testing, monitoring, databases, security, and scaling architecture.</a:t>
            </a:r>
          </a:p>
        </p:txBody>
      </p:sp>
      <p:sp>
        <p:nvSpPr>
          <p:cNvPr id="23" name="need-network">
            <a:extLst xmlns:a="http://schemas.openxmlformats.org/drawingml/2006/main">
              <a:ext uri="{FF2B5EF4-FFF2-40B4-BE49-F238E27FC236}">
                <a16:creationId xmlns:a16="http://schemas.microsoft.com/office/drawing/2014/main" id="{0E5046C0-8D2D-4F82-993E-2A8B9AC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partnerships">
            <a:extLst xmlns:a="http://schemas.openxmlformats.org/drawingml/2006/main">
              <a:ext uri="{FF2B5EF4-FFF2-40B4-BE49-F238E27FC236}">
                <a16:creationId xmlns:a16="http://schemas.microsoft.com/office/drawing/2014/main" id="{5FE5C672-2E9D-4037-B64D-1D3A26C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Partnerships</a:t>
            </a:r>
          </a:p>
        </p:txBody>
      </p:sp>
      <p:sp>
        <p:nvSpPr>
          <p:cNvPr id="25" name="gyms-colleges-sports-clubs-health-programs-an">
            <a:extLst xmlns:a="http://schemas.openxmlformats.org/drawingml/2006/main">
              <a:ext uri="{FF2B5EF4-FFF2-40B4-BE49-F238E27FC236}">
                <a16:creationId xmlns:a16="http://schemas.microsoft.com/office/drawing/2014/main" id="{A3F925EE-36A6-44D5-B0FC-E1992D9A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Gyms, colleges, sports clubs, health programs, and early user pilots.</a:t>
            </a:r>
          </a:p>
        </p:txBody>
      </p:sp>
    </p:spTree>
    <p:extLst>
      <p:ext uri="{BB962C8B-B14F-4D97-AF65-F5344CB8AC3E}">
        <p14:creationId xmlns:p14="http://schemas.microsoft.com/office/powerpoint/2010/main" val="11002606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ECFA24E-9298-439E-97B8-68CA4790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9C78AB8F-EE96-461A-9F28-CEAAEEA6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4AD031A-AFB3-4D55-A07B-C0AE457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ED87F00E-8B74-4FD3-A3AA-3CE57BB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0CC13F96-0318-4849-AE61-3B06827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LONG-TERM IMPACT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E0C1C1-8621-4F4C-89B4-76AE4DC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303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platform that improves people and builds AI capability.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5768D9-2B60-4A07-81E7-B4DE8F20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744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impact extends beyond users into students, institutions, local innovation, and India's AI product ecosystem.</a:t>
            </a:r>
          </a:p>
        </p:txBody>
      </p:sp>
      <p:sp>
        <p:nvSpPr>
          <p:cNvPr id="8" name="impact-health">
            <a:extLst xmlns:a="http://schemas.openxmlformats.org/drawingml/2006/main">
              <a:ext uri="{FF2B5EF4-FFF2-40B4-BE49-F238E27FC236}">
                <a16:creationId xmlns:a16="http://schemas.microsoft.com/office/drawing/2014/main" id="{7A013B62-C46F-4780-83EF-9C9999F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health-transformation">
            <a:extLst xmlns:a="http://schemas.openxmlformats.org/drawingml/2006/main">
              <a:ext uri="{FF2B5EF4-FFF2-40B4-BE49-F238E27FC236}">
                <a16:creationId xmlns:a16="http://schemas.microsoft.com/office/drawing/2014/main" id="{57F891F1-BFF3-4D60-AD32-1A40A3D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Health Transformation</a:t>
            </a:r>
          </a:p>
        </p:txBody>
      </p:sp>
      <p:sp>
        <p:nvSpPr>
          <p:cNvPr id="10" name="better-consistency-habits-strength-nutrition-">
            <a:extLst xmlns:a="http://schemas.openxmlformats.org/drawingml/2006/main">
              <a:ext uri="{FF2B5EF4-FFF2-40B4-BE49-F238E27FC236}">
                <a16:creationId xmlns:a16="http://schemas.microsoft.com/office/drawing/2014/main" id="{E36B4353-1CAC-427D-B246-D0B2ED03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Better consistency, habits, strength, nutrition, and self-belief.</a:t>
            </a:r>
          </a:p>
        </p:txBody>
      </p:sp>
      <p:sp>
        <p:nvSpPr>
          <p:cNvPr id="11" name="impact-ai">
            <a:extLst xmlns:a="http://schemas.openxmlformats.org/drawingml/2006/main">
              <a:ext uri="{FF2B5EF4-FFF2-40B4-BE49-F238E27FC236}">
                <a16:creationId xmlns:a16="http://schemas.microsoft.com/office/drawing/2014/main" id="{AEE0081F-4EBB-43EB-BBEA-C55BE79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ai-research">
            <a:extLst xmlns:a="http://schemas.openxmlformats.org/drawingml/2006/main">
              <a:ext uri="{FF2B5EF4-FFF2-40B4-BE49-F238E27FC236}">
                <a16:creationId xmlns:a16="http://schemas.microsoft.com/office/drawing/2014/main" id="{24984EA7-A269-447E-B346-BC4E767A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AI Research</a:t>
            </a:r>
          </a:p>
        </p:txBody>
      </p:sp>
      <p:sp>
        <p:nvSpPr>
          <p:cNvPr id="13" name="applied-model-training-routing-memory-systems">
            <a:extLst xmlns:a="http://schemas.openxmlformats.org/drawingml/2006/main">
              <a:ext uri="{FF2B5EF4-FFF2-40B4-BE49-F238E27FC236}">
                <a16:creationId xmlns:a16="http://schemas.microsoft.com/office/drawing/2014/main" id="{3879F15F-4638-4206-B102-3A5B02F7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Applied model training, routing, memory systems, and local inference research.</a:t>
            </a:r>
          </a:p>
        </p:txBody>
      </p:sp>
      <p:sp>
        <p:nvSpPr>
          <p:cNvPr id="14" name="impact-students">
            <a:extLst xmlns:a="http://schemas.openxmlformats.org/drawingml/2006/main">
              <a:ext uri="{FF2B5EF4-FFF2-40B4-BE49-F238E27FC236}">
                <a16:creationId xmlns:a16="http://schemas.microsoft.com/office/drawing/2014/main" id="{245CAA71-9DCB-438E-986C-65AD1EE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student-opportunities">
            <a:extLst xmlns:a="http://schemas.openxmlformats.org/drawingml/2006/main">
              <a:ext uri="{FF2B5EF4-FFF2-40B4-BE49-F238E27FC236}">
                <a16:creationId xmlns:a16="http://schemas.microsoft.com/office/drawing/2014/main" id="{3FA1600A-F007-4B5F-9FD6-A6FF6B6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Student Opportunities</a:t>
            </a:r>
          </a:p>
        </p:txBody>
      </p:sp>
      <p:sp>
        <p:nvSpPr>
          <p:cNvPr id="16" name="internships-open-projects-startup-learning-an">
            <a:extLst xmlns:a="http://schemas.openxmlformats.org/drawingml/2006/main">
              <a:ext uri="{FF2B5EF4-FFF2-40B4-BE49-F238E27FC236}">
                <a16:creationId xmlns:a16="http://schemas.microsoft.com/office/drawing/2014/main" id="{FF27485A-CEB5-4C05-BA85-00034A16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Internships, open projects, startup learning, and technical upskilling.</a:t>
            </a:r>
          </a:p>
        </p:txBody>
      </p:sp>
      <p:sp>
        <p:nvSpPr>
          <p:cNvPr id="17" name="impact-india">
            <a:extLst xmlns:a="http://schemas.openxmlformats.org/drawingml/2006/main">
              <a:ext uri="{FF2B5EF4-FFF2-40B4-BE49-F238E27FC236}">
                <a16:creationId xmlns:a16="http://schemas.microsoft.com/office/drawing/2014/main" id="{3F4494E0-3D5E-4BE1-A513-CCCC7A2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n-ai-product">
            <a:extLst xmlns:a="http://schemas.openxmlformats.org/drawingml/2006/main">
              <a:ext uri="{FF2B5EF4-FFF2-40B4-BE49-F238E27FC236}">
                <a16:creationId xmlns:a16="http://schemas.microsoft.com/office/drawing/2014/main" id="{3932C19E-C3D4-4AE9-AE53-DDB553CD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Indian AI Product</a:t>
            </a:r>
          </a:p>
        </p:txBody>
      </p:sp>
      <p:sp>
        <p:nvSpPr>
          <p:cNvPr id="19" name="a-global-product-narrative-built-from-a-regio">
            <a:extLst xmlns:a="http://schemas.openxmlformats.org/drawingml/2006/main">
              <a:ext uri="{FF2B5EF4-FFF2-40B4-BE49-F238E27FC236}">
                <a16:creationId xmlns:a16="http://schemas.microsoft.com/office/drawing/2014/main" id="{456D0F32-CB4B-4A6C-A6FF-B1D1006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global product narrative built from a regional innovation ecosystem.</a:t>
            </a:r>
          </a:p>
        </p:txBody>
      </p:sp>
    </p:spTree>
    <p:extLst>
      <p:ext uri="{BB962C8B-B14F-4D97-AF65-F5344CB8AC3E}">
        <p14:creationId xmlns:p14="http://schemas.microsoft.com/office/powerpoint/2010/main" val="21267188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B448A09-1AA8-4DD1-AC90-E76058C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A3FB009E-6414-46D1-80A3-CBBEA2D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A995B17-9395-46CF-8CD7-23DA1D4B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F305445E-4AE3-4AA9-BFF6-33FB9AE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8387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8F5EF"/>
                </a:solidFill>
              </a:defRPr>
            </a:pPr>
            <a:r>
              <a:rPr sz="615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5" name="closing-sub">
            <a:extLst xmlns:a="http://schemas.openxmlformats.org/drawingml/2006/main">
              <a:ext uri="{FF2B5EF4-FFF2-40B4-BE49-F238E27FC236}">
                <a16:creationId xmlns:a16="http://schemas.microsoft.com/office/drawing/2014/main" id="{A679A2A5-0D15-4602-8B53-3AD9F803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741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6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95A6E1D4-1B8E-4BE7-B39E-4A03A3B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8C2B8"/>
                </a:solidFill>
              </a:defRPr>
            </a:pPr>
            <a:r>
              <a:rPr sz="2175" b="0" i="0">
                <a:solidFill>
                  <a:srgbClr val="C8C2B8"/>
                </a:solidFill>
              </a:rPr>
              <a:t>We are building AI that helps people become stronger, healthier, more consistent, and more capable.</a:t>
            </a:r>
          </a:p>
        </p:txBody>
      </p:sp>
      <p:sp>
        <p:nvSpPr>
          <p:cNvPr id="7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9BFE4971-808A-45E1-8591-42E4FD5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25590"/>
            <a:ext cx="9906000" cy="830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8" name="built-in-chandrapur-designed-for-the-world-">
            <a:extLst xmlns:a="http://schemas.openxmlformats.org/drawingml/2006/main">
              <a:ext uri="{FF2B5EF4-FFF2-40B4-BE49-F238E27FC236}">
                <a16:creationId xmlns:a16="http://schemas.microsoft.com/office/drawing/2014/main" id="{8E1F173D-DEF6-4CCD-94E9-8EFAC178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838950"/>
            <a:ext cx="904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8F5EF"/>
                </a:solidFill>
              </a:defRPr>
            </a:pPr>
            <a:r>
              <a:rPr sz="2700" b="1" i="0">
                <a:solidFill>
                  <a:srgbClr val="F8F5EF"/>
                </a:solidFill>
              </a:rPr>
              <a:t>Built in Chandrapur. Designed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1040012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2026-05-20T17:47:10.6830000Z</dcterms:created>
  <dcterms:modified xsi:type="dcterms:W3CDTF">2026-05-20T17:47:10.6830000Z</dcterms:modified>
</coreProperties>
</file>